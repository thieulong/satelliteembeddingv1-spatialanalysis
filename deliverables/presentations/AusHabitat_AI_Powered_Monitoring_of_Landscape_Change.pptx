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6.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7.xml" ContentType="application/vnd.openxmlformats-officedocument.drawingml.chart+xml"/>
  <Override PartName="/ppt/notesSlides/notesSlide22.xml" ContentType="application/vnd.openxmlformats-officedocument.presentationml.notesSlide+xml"/>
  <Override PartName="/ppt/charts/chart8.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88"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045"/>
    <p:restoredTop sz="95624"/>
  </p:normalViewPr>
  <p:slideViewPr>
    <p:cSldViewPr snapToGrid="0">
      <p:cViewPr varScale="1">
        <p:scale>
          <a:sx n="83" d="100"/>
          <a:sy n="83" d="100"/>
        </p:scale>
        <p:origin x="208"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Annual embedding distance</c:v>
          </c:tx>
          <c:spPr>
            <a:ln w="28575">
              <a:solidFill>
                <a:srgbClr val="D48728"/>
              </a:solidFill>
              <a:prstDash val="solid"/>
            </a:ln>
          </c:spPr>
          <c:marker>
            <c:symbol val="circle"/>
            <c:size val="8"/>
            <c:spPr>
              <a:solidFill>
                <a:srgbClr val="D48728"/>
              </a:solidFill>
            </c:spPr>
          </c:marker>
          <c:cat>
            <c:strLit>
              <c:ptCount val="7"/>
              <c:pt idx="0">
                <c:v>17→18</c:v>
              </c:pt>
              <c:pt idx="1">
                <c:v>18→19</c:v>
              </c:pt>
              <c:pt idx="2">
                <c:v>19→20</c:v>
              </c:pt>
              <c:pt idx="3">
                <c:v>20→21</c:v>
              </c:pt>
              <c:pt idx="4">
                <c:v>21→22</c:v>
              </c:pt>
              <c:pt idx="5">
                <c:v>22→23</c:v>
              </c:pt>
              <c:pt idx="6">
                <c:v>23→24</c:v>
              </c:pt>
            </c:strLit>
          </c:cat>
          <c:val>
            <c:numLit>
              <c:formatCode>General</c:formatCode>
              <c:ptCount val="7"/>
              <c:pt idx="0">
                <c:v>0.12</c:v>
              </c:pt>
              <c:pt idx="1">
                <c:v>0.5</c:v>
              </c:pt>
              <c:pt idx="2">
                <c:v>0.3</c:v>
              </c:pt>
              <c:pt idx="3">
                <c:v>0.6</c:v>
              </c:pt>
              <c:pt idx="4">
                <c:v>0.1</c:v>
              </c:pt>
              <c:pt idx="5">
                <c:v>0.55000000000000004</c:v>
              </c:pt>
              <c:pt idx="6">
                <c:v>0.2</c:v>
              </c:pt>
            </c:numLit>
          </c:val>
          <c:smooth val="1"/>
          <c:extLst>
            <c:ext xmlns:c16="http://schemas.microsoft.com/office/drawing/2014/chart" uri="{C3380CC4-5D6E-409C-BE32-E72D297353CC}">
              <c16:uniqueId val="{00000000-0E17-9B48-ACF9-7ACB8C0398F9}"/>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75">
                <a:solidFill>
                  <a:srgbClr val="5E6B75"/>
                </a:solidFill>
              </a:defRPr>
            </a:pPr>
            <a:endParaRPr lang="en-US"/>
          </a:p>
        </c:txPr>
        <c:crossAx val="48672768"/>
        <c:crosses val="autoZero"/>
        <c:auto val="1"/>
        <c:lblAlgn val="ctr"/>
        <c:lblOffset val="100"/>
        <c:noMultiLvlLbl val="1"/>
      </c:catAx>
      <c:valAx>
        <c:axId val="48672768"/>
        <c:scaling>
          <c:orientation val="minMax"/>
          <c:max val="0.7"/>
          <c:min val="0"/>
        </c:scaling>
        <c:delete val="0"/>
        <c:axPos val="l"/>
        <c:majorGridlines>
          <c:spPr>
            <a:ln w="9525">
              <a:solidFill>
                <a:srgbClr val="D4DDE2"/>
              </a:solidFill>
              <a:prstDash val="solid"/>
            </a:ln>
          </c:spPr>
        </c:majorGridlines>
        <c:title>
          <c:tx>
            <c:rich>
              <a:bodyPr/>
              <a:lstStyle/>
              <a:p>
                <a:r>
                  <a:rPr lang="en-US"/>
                  <a:t>Embedding distance</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E6B75"/>
                </a:solidFill>
              </a:defRPr>
            </a:pPr>
            <a:endParaRPr lang="en-US"/>
          </a:p>
        </c:txPr>
        <c:crossAx val="48650112"/>
        <c:crosses val="autoZero"/>
        <c:crossBetween val="between"/>
        <c:majorUnit val="0.1"/>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Mostly stable</c:v>
          </c:tx>
          <c:spPr>
            <a:ln w="28575">
              <a:solidFill>
                <a:srgbClr val="234E8A"/>
              </a:solidFill>
              <a:prstDash val="solid"/>
            </a:ln>
          </c:spPr>
          <c:marker>
            <c:symbol val="circle"/>
            <c:size val="5"/>
            <c:spPr>
              <a:solidFill>
                <a:srgbClr val="234E8A"/>
              </a:solidFill>
            </c:spPr>
          </c:marker>
          <c:cat>
            <c:numLit>
              <c:formatCode>General</c:formatCode>
              <c:ptCount val="7"/>
              <c:pt idx="0">
                <c:v>1</c:v>
              </c:pt>
              <c:pt idx="1">
                <c:v>2</c:v>
              </c:pt>
              <c:pt idx="2">
                <c:v>3</c:v>
              </c:pt>
              <c:pt idx="3">
                <c:v>4</c:v>
              </c:pt>
              <c:pt idx="4">
                <c:v>5</c:v>
              </c:pt>
              <c:pt idx="5">
                <c:v>6</c:v>
              </c:pt>
              <c:pt idx="6">
                <c:v>7</c:v>
              </c:pt>
            </c:numLit>
          </c:cat>
          <c:val>
            <c:numLit>
              <c:formatCode>General</c:formatCode>
              <c:ptCount val="7"/>
              <c:pt idx="0">
                <c:v>0.12</c:v>
              </c:pt>
              <c:pt idx="1">
                <c:v>0.15</c:v>
              </c:pt>
              <c:pt idx="2">
                <c:v>0.13</c:v>
              </c:pt>
              <c:pt idx="3">
                <c:v>0.14000000000000001</c:v>
              </c:pt>
              <c:pt idx="4">
                <c:v>0.12</c:v>
              </c:pt>
              <c:pt idx="5">
                <c:v>0.16</c:v>
              </c:pt>
              <c:pt idx="6">
                <c:v>0.13</c:v>
              </c:pt>
            </c:numLit>
          </c:val>
          <c:smooth val="1"/>
          <c:extLst>
            <c:ext xmlns:c16="http://schemas.microsoft.com/office/drawing/2014/chart" uri="{C3380CC4-5D6E-409C-BE32-E72D297353CC}">
              <c16:uniqueId val="{00000000-FBD7-014F-BA39-DB648B2FB637}"/>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max val="0.7"/>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9525">
      <a:solidFill>
        <a:srgbClr val="D4DDE2"/>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Sudden candidate</c:v>
          </c:tx>
          <c:spPr>
            <a:ln w="28575">
              <a:solidFill>
                <a:srgbClr val="D48728"/>
              </a:solidFill>
              <a:prstDash val="solid"/>
            </a:ln>
          </c:spPr>
          <c:marker>
            <c:symbol val="circle"/>
            <c:size val="5"/>
            <c:spPr>
              <a:solidFill>
                <a:srgbClr val="D48728"/>
              </a:solidFill>
            </c:spPr>
          </c:marker>
          <c:cat>
            <c:numLit>
              <c:formatCode>General</c:formatCode>
              <c:ptCount val="7"/>
              <c:pt idx="0">
                <c:v>1</c:v>
              </c:pt>
              <c:pt idx="1">
                <c:v>2</c:v>
              </c:pt>
              <c:pt idx="2">
                <c:v>3</c:v>
              </c:pt>
              <c:pt idx="3">
                <c:v>4</c:v>
              </c:pt>
              <c:pt idx="4">
                <c:v>5</c:v>
              </c:pt>
              <c:pt idx="5">
                <c:v>6</c:v>
              </c:pt>
              <c:pt idx="6">
                <c:v>7</c:v>
              </c:pt>
            </c:numLit>
          </c:cat>
          <c:val>
            <c:numLit>
              <c:formatCode>General</c:formatCode>
              <c:ptCount val="7"/>
              <c:pt idx="0">
                <c:v>0.12</c:v>
              </c:pt>
              <c:pt idx="1">
                <c:v>0.14000000000000001</c:v>
              </c:pt>
              <c:pt idx="2">
                <c:v>0.15</c:v>
              </c:pt>
              <c:pt idx="3">
                <c:v>0.62</c:v>
              </c:pt>
              <c:pt idx="4">
                <c:v>0.18</c:v>
              </c:pt>
              <c:pt idx="5">
                <c:v>0.16</c:v>
              </c:pt>
              <c:pt idx="6">
                <c:v>0.14000000000000001</c:v>
              </c:pt>
            </c:numLit>
          </c:val>
          <c:smooth val="1"/>
          <c:extLst>
            <c:ext xmlns:c16="http://schemas.microsoft.com/office/drawing/2014/chart" uri="{C3380CC4-5D6E-409C-BE32-E72D297353CC}">
              <c16:uniqueId val="{00000000-A80E-C54B-9FD0-C6542B4E92D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max val="0.7"/>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9525">
      <a:solidFill>
        <a:srgbClr val="D4DDE2"/>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Repeated change</c:v>
          </c:tx>
          <c:spPr>
            <a:ln w="28575">
              <a:solidFill>
                <a:srgbClr val="AD354A"/>
              </a:solidFill>
              <a:prstDash val="solid"/>
            </a:ln>
          </c:spPr>
          <c:marker>
            <c:symbol val="circle"/>
            <c:size val="5"/>
            <c:spPr>
              <a:solidFill>
                <a:srgbClr val="AD354A"/>
              </a:solidFill>
            </c:spPr>
          </c:marker>
          <c:cat>
            <c:numLit>
              <c:formatCode>General</c:formatCode>
              <c:ptCount val="7"/>
              <c:pt idx="0">
                <c:v>1</c:v>
              </c:pt>
              <c:pt idx="1">
                <c:v>2</c:v>
              </c:pt>
              <c:pt idx="2">
                <c:v>3</c:v>
              </c:pt>
              <c:pt idx="3">
                <c:v>4</c:v>
              </c:pt>
              <c:pt idx="4">
                <c:v>5</c:v>
              </c:pt>
              <c:pt idx="5">
                <c:v>6</c:v>
              </c:pt>
              <c:pt idx="6">
                <c:v>7</c:v>
              </c:pt>
            </c:numLit>
          </c:cat>
          <c:val>
            <c:numLit>
              <c:formatCode>General</c:formatCode>
              <c:ptCount val="7"/>
              <c:pt idx="0">
                <c:v>0.5</c:v>
              </c:pt>
              <c:pt idx="1">
                <c:v>0.18</c:v>
              </c:pt>
              <c:pt idx="2">
                <c:v>0.55000000000000004</c:v>
              </c:pt>
              <c:pt idx="3">
                <c:v>0.2</c:v>
              </c:pt>
              <c:pt idx="4">
                <c:v>0.57999999999999996</c:v>
              </c:pt>
              <c:pt idx="5">
                <c:v>0.52</c:v>
              </c:pt>
              <c:pt idx="6">
                <c:v>0.22</c:v>
              </c:pt>
            </c:numLit>
          </c:val>
          <c:smooth val="1"/>
          <c:extLst>
            <c:ext xmlns:c16="http://schemas.microsoft.com/office/drawing/2014/chart" uri="{C3380CC4-5D6E-409C-BE32-E72D297353CC}">
              <c16:uniqueId val="{00000000-C419-9045-847E-2A38AB570D4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max val="0.7"/>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9525">
      <a:solidFill>
        <a:srgbClr val="D4DDE2"/>
      </a:solid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Variable / recovery</c:v>
          </c:tx>
          <c:spPr>
            <a:ln w="28575">
              <a:solidFill>
                <a:srgbClr val="147D70"/>
              </a:solidFill>
              <a:prstDash val="solid"/>
            </a:ln>
          </c:spPr>
          <c:marker>
            <c:symbol val="circle"/>
            <c:size val="5"/>
            <c:spPr>
              <a:solidFill>
                <a:srgbClr val="147D70"/>
              </a:solidFill>
            </c:spPr>
          </c:marker>
          <c:cat>
            <c:numLit>
              <c:formatCode>General</c:formatCode>
              <c:ptCount val="7"/>
              <c:pt idx="0">
                <c:v>1</c:v>
              </c:pt>
              <c:pt idx="1">
                <c:v>2</c:v>
              </c:pt>
              <c:pt idx="2">
                <c:v>3</c:v>
              </c:pt>
              <c:pt idx="3">
                <c:v>4</c:v>
              </c:pt>
              <c:pt idx="4">
                <c:v>5</c:v>
              </c:pt>
              <c:pt idx="5">
                <c:v>6</c:v>
              </c:pt>
              <c:pt idx="6">
                <c:v>7</c:v>
              </c:pt>
            </c:numLit>
          </c:cat>
          <c:val>
            <c:numLit>
              <c:formatCode>General</c:formatCode>
              <c:ptCount val="7"/>
              <c:pt idx="0">
                <c:v>0.12</c:v>
              </c:pt>
              <c:pt idx="1">
                <c:v>0.5</c:v>
              </c:pt>
              <c:pt idx="2">
                <c:v>0.18</c:v>
              </c:pt>
              <c:pt idx="3">
                <c:v>0.6</c:v>
              </c:pt>
              <c:pt idx="4">
                <c:v>0.15</c:v>
              </c:pt>
              <c:pt idx="5">
                <c:v>0.48</c:v>
              </c:pt>
              <c:pt idx="6">
                <c:v>0.14000000000000001</c:v>
              </c:pt>
            </c:numLit>
          </c:val>
          <c:smooth val="1"/>
          <c:extLst>
            <c:ext xmlns:c16="http://schemas.microsoft.com/office/drawing/2014/chart" uri="{C3380CC4-5D6E-409C-BE32-E72D297353CC}">
              <c16:uniqueId val="{00000000-66EF-6A48-9298-A62A2A20C5B5}"/>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max val="0.7"/>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9525">
      <a:solidFill>
        <a:srgbClr val="D4DDE2"/>
      </a:solid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Embedding distance</c:v>
          </c:tx>
          <c:spPr>
            <a:ln w="28575">
              <a:solidFill>
                <a:srgbClr val="D48728"/>
              </a:solidFill>
              <a:prstDash val="solid"/>
            </a:ln>
          </c:spPr>
          <c:marker>
            <c:symbol val="circle"/>
            <c:size val="6"/>
            <c:spPr>
              <a:solidFill>
                <a:srgbClr val="D48728"/>
              </a:solidFill>
            </c:spPr>
          </c:marker>
          <c:cat>
            <c:strLit>
              <c:ptCount val="7"/>
              <c:pt idx="0">
                <c:v>17–18</c:v>
              </c:pt>
              <c:pt idx="1">
                <c:v>18–19</c:v>
              </c:pt>
              <c:pt idx="2">
                <c:v>19–20</c:v>
              </c:pt>
              <c:pt idx="3">
                <c:v>20–21</c:v>
              </c:pt>
              <c:pt idx="4">
                <c:v>21–22</c:v>
              </c:pt>
              <c:pt idx="5">
                <c:v>22–23</c:v>
              </c:pt>
              <c:pt idx="6">
                <c:v>23–24</c:v>
              </c:pt>
            </c:strLit>
          </c:cat>
          <c:val>
            <c:numLit>
              <c:formatCode>General</c:formatCode>
              <c:ptCount val="7"/>
              <c:pt idx="0">
                <c:v>0.54700000000000004</c:v>
              </c:pt>
              <c:pt idx="1">
                <c:v>0.83399999999999996</c:v>
              </c:pt>
              <c:pt idx="2">
                <c:v>0.40799999999999997</c:v>
              </c:pt>
              <c:pt idx="3">
                <c:v>0.122</c:v>
              </c:pt>
              <c:pt idx="4">
                <c:v>0.29199999999999998</c:v>
              </c:pt>
              <c:pt idx="5">
                <c:v>0.11</c:v>
              </c:pt>
              <c:pt idx="6">
                <c:v>0.14099999999999999</c:v>
              </c:pt>
            </c:numLit>
          </c:val>
          <c:smooth val="1"/>
          <c:extLst>
            <c:ext xmlns:c16="http://schemas.microsoft.com/office/drawing/2014/chart" uri="{C3380CC4-5D6E-409C-BE32-E72D297353CC}">
              <c16:uniqueId val="{00000000-F418-8D4A-AA7E-3429E7B9E5ED}"/>
            </c:ext>
          </c:extLst>
        </c:ser>
        <c:ser>
          <c:idx val="1"/>
          <c:order val="1"/>
          <c:tx>
            <c:v>Strong-change threshold</c:v>
          </c:tx>
          <c:spPr>
            <a:ln w="19050">
              <a:solidFill>
                <a:srgbClr val="5E6B75"/>
              </a:solidFill>
              <a:prstDash val="dash"/>
            </a:ln>
          </c:spPr>
          <c:marker>
            <c:symbol val="none"/>
          </c:marker>
          <c:cat>
            <c:strLit>
              <c:ptCount val="7"/>
              <c:pt idx="0">
                <c:v>17–18</c:v>
              </c:pt>
              <c:pt idx="1">
                <c:v>18–19</c:v>
              </c:pt>
              <c:pt idx="2">
                <c:v>19–20</c:v>
              </c:pt>
              <c:pt idx="3">
                <c:v>20–21</c:v>
              </c:pt>
              <c:pt idx="4">
                <c:v>21–22</c:v>
              </c:pt>
              <c:pt idx="5">
                <c:v>22–23</c:v>
              </c:pt>
              <c:pt idx="6">
                <c:v>23–24</c:v>
              </c:pt>
            </c:strLit>
          </c:cat>
          <c:val>
            <c:numLit>
              <c:formatCode>General</c:formatCode>
              <c:ptCount val="7"/>
              <c:pt idx="0">
                <c:v>0.45</c:v>
              </c:pt>
              <c:pt idx="1">
                <c:v>0.45</c:v>
              </c:pt>
              <c:pt idx="2">
                <c:v>0.45</c:v>
              </c:pt>
              <c:pt idx="3">
                <c:v>0.45</c:v>
              </c:pt>
              <c:pt idx="4">
                <c:v>0.45</c:v>
              </c:pt>
              <c:pt idx="5">
                <c:v>0.45</c:v>
              </c:pt>
              <c:pt idx="6">
                <c:v>0.45</c:v>
              </c:pt>
            </c:numLit>
          </c:val>
          <c:smooth val="1"/>
          <c:extLst>
            <c:ext xmlns:c16="http://schemas.microsoft.com/office/drawing/2014/chart" uri="{C3380CC4-5D6E-409C-BE32-E72D297353CC}">
              <c16:uniqueId val="{00000001-F418-8D4A-AA7E-3429E7B9E5ED}"/>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675">
                <a:solidFill>
                  <a:srgbClr val="5E6B75"/>
                </a:solidFill>
              </a:defRPr>
            </a:pPr>
            <a:endParaRPr lang="en-US"/>
          </a:p>
        </c:txPr>
        <c:crossAx val="48672768"/>
        <c:crosses val="autoZero"/>
        <c:auto val="1"/>
        <c:lblAlgn val="ctr"/>
        <c:lblOffset val="100"/>
        <c:noMultiLvlLbl val="1"/>
      </c:catAx>
      <c:valAx>
        <c:axId val="48672768"/>
        <c:scaling>
          <c:orientation val="minMax"/>
          <c:max val="0.9"/>
          <c:min val="0"/>
        </c:scaling>
        <c:delete val="0"/>
        <c:axPos val="l"/>
        <c:majorGridlines>
          <c:spPr>
            <a:ln w="9525">
              <a:solidFill>
                <a:srgbClr val="D4DDE2"/>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750">
                <a:solidFill>
                  <a:srgbClr val="5E6B75"/>
                </a:solidFill>
              </a:defRPr>
            </a:pPr>
            <a:endParaRPr lang="en-US"/>
          </a:p>
        </c:txPr>
        <c:crossAx val="48650112"/>
        <c:crosses val="autoZero"/>
        <c:crossBetween val="between"/>
        <c:majorUnit val="0.3"/>
      </c:valAx>
      <c:spPr>
        <a:solidFill>
          <a:srgbClr val="FFFFFF"/>
        </a:solidFill>
        <a:ln w="0">
          <a:noFill/>
          <a:prstDash val="solid"/>
        </a:ln>
      </c:spPr>
    </c:plotArea>
    <c:legend>
      <c:legendPos val="b"/>
      <c:overlay val="0"/>
      <c:txPr>
        <a:bodyPr anchorCtr="1"/>
        <a:lstStyle/>
        <a:p>
          <a:pPr>
            <a:defRPr sz="750">
              <a:solidFill>
                <a:srgbClr val="5E6B75"/>
              </a:solidFill>
            </a:defRPr>
          </a:pPr>
          <a:endParaRPr lang="en-US"/>
        </a:p>
      </c:txPr>
    </c:legend>
    <c:plotVisOnly val="1"/>
    <c:dispBlanksAs val="zero"/>
    <c:showDLblsOverMax val="1"/>
  </c:chart>
  <c:spPr>
    <a:solidFill>
      <a:srgbClr val="FFFFFF"/>
    </a:solidFill>
    <a:ln w="9525">
      <a:solidFill>
        <a:srgbClr val="D4DDE2"/>
      </a:solidFill>
      <a:prstDash val="solid"/>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DEA Level 3 changed share</c:v>
          </c:tx>
          <c:spPr>
            <a:solidFill>
              <a:srgbClr val="147D70"/>
            </a:solidFill>
          </c:spPr>
          <c:invertIfNegative val="1"/>
          <c:dPt>
            <c:idx val="0"/>
            <c:invertIfNegative val="0"/>
            <c:bubble3D val="0"/>
            <c:spPr>
              <a:solidFill>
                <a:srgbClr val="AD354A"/>
              </a:solidFill>
            </c:spPr>
            <c:extLst>
              <c:ext xmlns:c16="http://schemas.microsoft.com/office/drawing/2014/chart" uri="{C3380CC4-5D6E-409C-BE32-E72D297353CC}">
                <c16:uniqueId val="{00000001-28B7-1140-8113-46B1D328E78A}"/>
              </c:ext>
            </c:extLst>
          </c:dPt>
          <c:dPt>
            <c:idx val="1"/>
            <c:invertIfNegative val="0"/>
            <c:bubble3D val="0"/>
            <c:spPr>
              <a:solidFill>
                <a:srgbClr val="AD354A"/>
              </a:solidFill>
            </c:spPr>
            <c:extLst>
              <c:ext xmlns:c16="http://schemas.microsoft.com/office/drawing/2014/chart" uri="{C3380CC4-5D6E-409C-BE32-E72D297353CC}">
                <c16:uniqueId val="{00000003-28B7-1140-8113-46B1D328E78A}"/>
              </c:ext>
            </c:extLst>
          </c:dPt>
          <c:dPt>
            <c:idx val="2"/>
            <c:invertIfNegative val="0"/>
            <c:bubble3D val="0"/>
            <c:spPr>
              <a:solidFill>
                <a:srgbClr val="D48728"/>
              </a:solidFill>
            </c:spPr>
            <c:extLst>
              <c:ext xmlns:c16="http://schemas.microsoft.com/office/drawing/2014/chart" uri="{C3380CC4-5D6E-409C-BE32-E72D297353CC}">
                <c16:uniqueId val="{00000005-28B7-1140-8113-46B1D328E78A}"/>
              </c:ext>
            </c:extLst>
          </c:dPt>
          <c:dPt>
            <c:idx val="3"/>
            <c:invertIfNegative val="0"/>
            <c:bubble3D val="0"/>
            <c:spPr>
              <a:solidFill>
                <a:srgbClr val="D48728"/>
              </a:solidFill>
            </c:spPr>
            <c:extLst>
              <c:ext xmlns:c16="http://schemas.microsoft.com/office/drawing/2014/chart" uri="{C3380CC4-5D6E-409C-BE32-E72D297353CC}">
                <c16:uniqueId val="{00000007-28B7-1140-8113-46B1D328E78A}"/>
              </c:ext>
            </c:extLst>
          </c:dPt>
          <c:dPt>
            <c:idx val="4"/>
            <c:invertIfNegative val="0"/>
            <c:bubble3D val="0"/>
            <c:spPr>
              <a:solidFill>
                <a:srgbClr val="234E8A"/>
              </a:solidFill>
            </c:spPr>
            <c:extLst>
              <c:ext xmlns:c16="http://schemas.microsoft.com/office/drawing/2014/chart" uri="{C3380CC4-5D6E-409C-BE32-E72D297353CC}">
                <c16:uniqueId val="{00000009-28B7-1140-8113-46B1D328E78A}"/>
              </c:ext>
            </c:extLst>
          </c:dPt>
          <c:dLbls>
            <c:spPr>
              <a:noFill/>
              <a:ln>
                <a:noFill/>
              </a:ln>
              <a:effectLst/>
            </c:spPr>
            <c:txPr>
              <a:bodyPr anchorCtr="1"/>
              <a:lstStyle/>
              <a:p>
                <a:pPr>
                  <a:defRPr sz="1125">
                    <a:solidFill>
                      <a:srgbClr val="18232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Positive slope</c:v>
              </c:pt>
              <c:pt idx="1">
                <c:v>Persistent ≥3</c:v>
              </c:pt>
              <c:pt idx="2">
                <c:v>Endpoint hotspot</c:v>
              </c:pt>
              <c:pt idx="3">
                <c:v>Sudden candidate</c:v>
              </c:pt>
              <c:pt idx="4">
                <c:v>Stable control</c:v>
              </c:pt>
            </c:strLit>
          </c:cat>
          <c:val>
            <c:numLit>
              <c:formatCode>General</c:formatCode>
              <c:ptCount val="5"/>
              <c:pt idx="0">
                <c:v>75.3</c:v>
              </c:pt>
              <c:pt idx="1">
                <c:v>74</c:v>
              </c:pt>
              <c:pt idx="2">
                <c:v>64.7</c:v>
              </c:pt>
              <c:pt idx="3">
                <c:v>60.8</c:v>
              </c:pt>
              <c:pt idx="4">
                <c:v>30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28B7-1140-8113-46B1D328E78A}"/>
            </c:ext>
          </c:extLst>
        </c:ser>
        <c:dLbls>
          <c:dLblPos val="outEnd"/>
          <c:showLegendKey val="0"/>
          <c:showVal val="1"/>
          <c:showCatName val="0"/>
          <c:showSerName val="0"/>
          <c:showPercent val="0"/>
          <c:showBubbleSize val="0"/>
        </c:dLbls>
        <c:gapWidth val="58"/>
        <c:axId val="48650112"/>
        <c:axId val="48672768"/>
      </c:barChart>
      <c:catAx>
        <c:axId val="48650112"/>
        <c:scaling>
          <c:orientation val="minMax"/>
        </c:scaling>
        <c:delete val="0"/>
        <c:axPos val="l"/>
        <c:majorGridlines>
          <c:spPr>
            <a:ln w="9525">
              <a:solidFill>
                <a:srgbClr val="D4DDE2"/>
              </a:solidFill>
              <a:prstDash val="solid"/>
            </a:ln>
          </c:spPr>
        </c:majorGridlines>
        <c:title>
          <c:tx>
            <c:rich>
              <a:bodyPr/>
              <a:lstStyle/>
              <a:p>
                <a:r>
                  <a:rPr lang="en-US"/>
                  <a:t>Share with at least one DEA Level 3 class change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E6B75"/>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00">
                <a:solidFill>
                  <a:srgbClr val="18232B"/>
                </a:solidFil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89,707-point sample</c:v>
          </c:tx>
          <c:spPr>
            <a:solidFill>
              <a:srgbClr val="234E8A"/>
            </a:solidFill>
          </c:spPr>
          <c:invertIfNegative val="1"/>
          <c:cat>
            <c:strLit>
              <c:ptCount val="5"/>
              <c:pt idx="0">
                <c:v>Positive slope</c:v>
              </c:pt>
              <c:pt idx="1">
                <c:v>Persistent ≥3</c:v>
              </c:pt>
              <c:pt idx="2">
                <c:v>Endpoint hotspot</c:v>
              </c:pt>
              <c:pt idx="3">
                <c:v>Sudden candidate</c:v>
              </c:pt>
              <c:pt idx="4">
                <c:v>Stable control</c:v>
              </c:pt>
            </c:strLit>
          </c:cat>
          <c:val>
            <c:numLit>
              <c:formatCode>General</c:formatCode>
              <c:ptCount val="5"/>
              <c:pt idx="0">
                <c:v>75.5</c:v>
              </c:pt>
              <c:pt idx="1">
                <c:v>74.400000000000006</c:v>
              </c:pt>
              <c:pt idx="2">
                <c:v>64.8</c:v>
              </c:pt>
              <c:pt idx="3">
                <c:v>61.6</c:v>
              </c:pt>
              <c:pt idx="4">
                <c:v>29.9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C01-1549-A796-A655A3F056B9}"/>
            </c:ext>
          </c:extLst>
        </c:ser>
        <c:ser>
          <c:idx val="1"/>
          <c:order val="1"/>
          <c:tx>
            <c:v>Wall-to-wall</c:v>
          </c:tx>
          <c:spPr>
            <a:solidFill>
              <a:srgbClr val="147D70"/>
            </a:solidFill>
          </c:spPr>
          <c:invertIfNegative val="1"/>
          <c:cat>
            <c:strLit>
              <c:ptCount val="5"/>
              <c:pt idx="0">
                <c:v>Positive slope</c:v>
              </c:pt>
              <c:pt idx="1">
                <c:v>Persistent ≥3</c:v>
              </c:pt>
              <c:pt idx="2">
                <c:v>Endpoint hotspot</c:v>
              </c:pt>
              <c:pt idx="3">
                <c:v>Sudden candidate</c:v>
              </c:pt>
              <c:pt idx="4">
                <c:v>Stable control</c:v>
              </c:pt>
            </c:strLit>
          </c:cat>
          <c:val>
            <c:numLit>
              <c:formatCode>General</c:formatCode>
              <c:ptCount val="5"/>
              <c:pt idx="0">
                <c:v>75.3</c:v>
              </c:pt>
              <c:pt idx="1">
                <c:v>74</c:v>
              </c:pt>
              <c:pt idx="2">
                <c:v>64.7</c:v>
              </c:pt>
              <c:pt idx="3">
                <c:v>60.8</c:v>
              </c:pt>
              <c:pt idx="4">
                <c:v>30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C01-1549-A796-A655A3F056B9}"/>
            </c:ext>
          </c:extLst>
        </c:ser>
        <c:dLbls>
          <c:showLegendKey val="0"/>
          <c:showVal val="0"/>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D4DDE2"/>
              </a:solidFill>
              <a:prstDash val="solid"/>
            </a:ln>
          </c:spPr>
        </c:majorGridlines>
        <c:title>
          <c:tx>
            <c:rich>
              <a:bodyPr/>
              <a:lstStyle/>
              <a:p>
                <a:r>
                  <a:rPr lang="en-US"/>
                  <a:t>DEA Level 3 changed share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E6B75"/>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125">
                <a:solidFill>
                  <a:srgbClr val="18232B"/>
                </a:solidFill>
              </a:defRPr>
            </a:pPr>
            <a:endParaRPr lang="en-US"/>
          </a:p>
        </c:txPr>
        <c:crossAx val="48650112"/>
        <c:crosses val="autoZero"/>
        <c:crossBetween val="between"/>
      </c:valAx>
      <c:spPr>
        <a:solidFill>
          <a:srgbClr val="FFFFFF"/>
        </a:solidFill>
        <a:ln w="0">
          <a:noFill/>
          <a:prstDash val="solid"/>
        </a:ln>
      </c:spPr>
    </c:plotArea>
    <c:legend>
      <c:legendPos val="b"/>
      <c:overlay val="0"/>
      <c:txPr>
        <a:bodyPr anchorCtr="1"/>
        <a:lstStyle/>
        <a:p>
          <a:pPr>
            <a:defRPr sz="1050">
              <a:solidFill>
                <a:srgbClr val="18232B"/>
              </a:solidFill>
            </a:defRPr>
          </a:pPr>
          <a:endParaRPr lang="en-US"/>
        </a:p>
      </c:txPr>
    </c:legend>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Open with the project in one sentence: AusHabitat is a workflow that turns annual AI-derived satellite signals into locations people can investigate with land-cover, vegetation and map-based evidence.</a:t>
            </a:r>
          </a:p>
          <a:p>
            <a:r>
              <a:t>HOW TO PRESENT</a:t>
            </a:r>
          </a:p>
          <a:p>
            <a:r>
              <a:t>Introduce yourself as Paul Phan. Explain that the current demonstration covers the Bass Coast study rectangle from 2017 to 2024. Tell the audience that the presentation follows a simple journey: detect unusual landscape-signal change, describe how it unfolded, add independent context, and make the result explorable.</a:t>
            </a:r>
          </a:p>
          <a:p>
            <a:r>
              <a:t>Set the interpretation boundary immediately: this is not an automated system that declares why a place changed. It is an evidence and prioritisation system that helps people find and inspect candidate changes consistently.</a:t>
            </a:r>
          </a:p>
          <a:p>
            <a:r>
              <a:t>TRANSITION</a:t>
            </a:r>
          </a:p>
          <a:p>
            <a:r>
              <a:t>Ask: why is a new workflow needed when satellite maps already exist?</a:t>
            </a:r>
          </a:p>
          <a:p>
            <a:r>
              <a:t>SUGGESTED TIME: 45-60 seconds.</a:t>
            </a:r>
          </a:p>
          <a:p>
            <a:endParaRPr/>
          </a:p>
          <a:p>
            <a:r>
              <a:t>[Sources]</a:t>
            </a:r>
          </a:p>
          <a:p>
            <a:r>
              <a:t>- Local: AusHabitat_Latex/fig8.png</a:t>
            </a:r>
          </a:p>
          <a:p>
            <a:r>
              <a:t>- Local: bass-coast-change-map/public/assets/cnps-logo.jpeg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Create the monitoring problem that the rest of the deck solves.</a:t>
            </a:r>
          </a:p>
          <a:p>
            <a:r>
              <a:t>HOW TO PRESENT</a:t>
            </a:r>
          </a:p>
          <a:p>
            <a:r>
              <a:t>Start with the map, then move to the four challenges. Landscape change is not one pattern: it can be abrupt, gradual, repeated, or temporary. Across a large map grid, the strongest signals are scattered and difficult to review manually. Even when a numerical method identifies a strong change, that number does not explain whether vegetation, land cover, or a built surface changed. Finally, a workflow that depends on manually checking every location cannot scale to Australia.</a:t>
            </a:r>
          </a:p>
          <a:p>
            <a:r>
              <a:t>KEY TAKEAWAY</a:t>
            </a:r>
          </a:p>
          <a:p>
            <a:r>
              <a:t>The problem is not simply detecting change. The problem is connecting detection, interpretation and communication in a repeatable workflow.</a:t>
            </a:r>
          </a:p>
          <a:p>
            <a:r>
              <a:t>TRANSITION</a:t>
            </a:r>
          </a:p>
          <a:p>
            <a:r>
              <a:t>The next slide explains why one type of map cannot answer all three needs.</a:t>
            </a:r>
          </a:p>
          <a:p>
            <a:r>
              <a:t>SUGGESTED TIME: 60-75 seconds.</a:t>
            </a:r>
          </a:p>
          <a:p>
            <a:endParaRPr/>
          </a:p>
          <a:p>
            <a:r>
              <a:t>[Sources]</a:t>
            </a:r>
          </a:p>
          <a:p>
            <a:r>
              <a:t>- Local: BassCoast_Phase9_Map_Data_Preparation_outputs</a:t>
            </a:r>
          </a:p>
          <a:p>
            <a:r>
              <a:t>- Basemap: © OpenStreetMap contributors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why the project combines complementary evidence rather than searching for one perfect dataset.</a:t>
            </a:r>
          </a:p>
          <a:p>
            <a:r>
              <a:t>HOW TO PRESENT</a:t>
            </a:r>
          </a:p>
          <a:p>
            <a:r>
              <a:t>Walk from left to right. Traditional imagery is visually rich but expensive to compare consistently over many years. The AI embedding gives a sensitive numerical change signal, but its 64 dimensions do not have human-readable class names. Context layers such as DEA Land Cover and NDVI provide interpretable labels or vegetation direction, but they may not capture every structural or textural change that the embedding detects.</a:t>
            </a:r>
          </a:p>
          <a:p>
            <a:r>
              <a:t>Do not describe one source as ground truth and the others as predictions. Each observes a different property of the landscape.</a:t>
            </a:r>
          </a:p>
          <a:p>
            <a:r>
              <a:t>KEY TAKEAWAY</a:t>
            </a:r>
          </a:p>
          <a:p>
            <a:r>
              <a:t>AusHabitat becomes useful by combining complementary clues while keeping their meanings separate.</a:t>
            </a:r>
          </a:p>
          <a:p>
            <a:r>
              <a:t>TRANSITION</a:t>
            </a:r>
          </a:p>
          <a:p>
            <a:r>
              <a:t>Those complementary roles lead directly to four practical questions.</a:t>
            </a:r>
          </a:p>
          <a:p>
            <a:r>
              <a:t>SUGGESTED TIME: 75 seconds.</a:t>
            </a:r>
          </a:p>
          <a:p>
            <a:endParaRPr/>
          </a:p>
          <a:p>
            <a:r>
              <a:t>[Sources]</a:t>
            </a:r>
          </a:p>
          <a:p>
            <a:r>
              <a:t>- Local project methodology and AusHabitat_Latex/main.tex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State the overarching aim without turning the presentation into a formal hypothesis lecture.</a:t>
            </a:r>
          </a:p>
          <a:p>
            <a:r>
              <a:t>HOW TO PRESENT</a:t>
            </a:r>
          </a:p>
          <a:p>
            <a:r>
              <a:t>Read the four questions as a progression. First, detect where the landscape signal is strongest. Second, characterise whether the change was sudden, repeated, increasing or temporary. Third, contextualise it with independent land-cover and vegetation evidence. Fourth, communicate it through an interface that non-specialists can explore.</a:t>
            </a:r>
          </a:p>
          <a:p>
            <a:r>
              <a:t>Explain that these questions became the architecture of the project. Every major output should answer one of them.</a:t>
            </a:r>
          </a:p>
          <a:p>
            <a:r>
              <a:t>KEY TAKEAWAY</a:t>
            </a:r>
          </a:p>
          <a:p>
            <a:r>
              <a:t>The project aim is not only to produce a hotspot map. It is to move from a difficult-to-interpret signal to an auditable evidence package.</a:t>
            </a:r>
          </a:p>
          <a:p>
            <a:r>
              <a:t>TRANSITION</a:t>
            </a:r>
          </a:p>
          <a:p>
            <a:r>
              <a:t>Before explaining the datasets, establish where and when the prototype was developed.</a:t>
            </a:r>
          </a:p>
          <a:p>
            <a:r>
              <a:t>SUGGESTED TIME: 60 seconds.</a:t>
            </a:r>
          </a:p>
          <a:p>
            <a:endParaRPr/>
          </a:p>
          <a:p>
            <a:r>
              <a:t>[Sources]</a:t>
            </a:r>
          </a:p>
          <a:p>
            <a:r>
              <a:t>- Local project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Ground the audience in the study area, period and spatial scale.</a:t>
            </a:r>
          </a:p>
          <a:p>
            <a:r>
              <a:t>HOW TO PRESENT</a:t>
            </a:r>
          </a:p>
          <a:p>
            <a:r>
              <a:t>Explain that Bass Coast is the proving ground, using a rectangular study extent that also reaches some surrounding areas. The analysis uses eight annual snapshots from 2017 through 2024. The original Google embedding grid has approximately 10 metre cells. Water was masked during the Earth Engine stage so that the analysis focuses on land.</a:t>
            </a:r>
          </a:p>
          <a:p>
            <a:r>
              <a:t>Point out that the map already contains a range of low-change, episodic and persistent signals, making it useful for method development. Be clear that the current numerical results refer to this study extent, not all of Australia.</a:t>
            </a:r>
          </a:p>
          <a:p>
            <a:r>
              <a:t>KEY TAKEAWAY</a:t>
            </a:r>
          </a:p>
          <a:p>
            <a:r>
              <a:t>Bass Coast is a prototype scale, but the processing choices were designed with national expansion in mind.</a:t>
            </a:r>
          </a:p>
          <a:p>
            <a:r>
              <a:t>TRANSITION</a:t>
            </a:r>
          </a:p>
          <a:p>
            <a:r>
              <a:t>Now introduce the three evidence sources used over this landscape.</a:t>
            </a:r>
          </a:p>
          <a:p>
            <a:r>
              <a:t>SUGGESTED TIME: 60-75 seconds.</a:t>
            </a:r>
          </a:p>
          <a:p>
            <a:endParaRPr/>
          </a:p>
          <a:p>
            <a:r>
              <a:t>[Sources]</a:t>
            </a:r>
          </a:p>
          <a:p>
            <a:r>
              <a:t>- Local: BassCoast_Phase9_Map_Data_Preparation_outputs/figures/phase9_hot_cold_surface.png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Give the audience a simple mental model for the three datasets before discussing technical details.</a:t>
            </a:r>
          </a:p>
          <a:p>
            <a:r>
              <a:t>HOW TO PRESENT</a:t>
            </a:r>
          </a:p>
          <a:p>
            <a:r>
              <a:t>Use one question for each source. Google Satellite Embedding asks where and how strongly the encoded landscape signal changed. DEA Land Cover asks what broad land-cover classes and transitions were recorded. DEA GeoMAD NDVI asks whether the vegetation signal became greener, browner or stayed similar.</a:t>
            </a:r>
          </a:p>
          <a:p>
            <a:r>
              <a:t>Stress the division of labour: embedding defines the change signal; DEA and NDVI provide supporting context. They are not merged into one accuracy score.</a:t>
            </a:r>
          </a:p>
          <a:p>
            <a:r>
              <a:t>KEY TAKEAWAY</a:t>
            </a:r>
          </a:p>
          <a:p>
            <a:r>
              <a:t>Detection, land context and vegetation response are separate but connected evidence layers.</a:t>
            </a:r>
          </a:p>
          <a:p>
            <a:r>
              <a:t>TRANSITION</a:t>
            </a:r>
          </a:p>
          <a:p>
            <a:r>
              <a:t>The next three slides explain each source in the same order.</a:t>
            </a:r>
          </a:p>
          <a:p>
            <a:r>
              <a:t>SUGGESTED TIME: 75-90 seconds.</a:t>
            </a:r>
          </a:p>
          <a:p>
            <a:endParaRPr/>
          </a:p>
          <a:p>
            <a:r>
              <a:t>[Sources]</a:t>
            </a:r>
          </a:p>
          <a:p>
            <a:r>
              <a:t>- https://developers.google.com/earth-engine/datasets/catalog/GOOGLE_SATELLITE_EMBEDDING_V1_ANNUAL</a:t>
            </a:r>
          </a:p>
          <a:p>
            <a:r>
              <a:t>- https://knowledge.dea.ga.gov.au/data/product/dea-land-cover-landsat/</a:t>
            </a:r>
          </a:p>
          <a:p>
            <a:r>
              <a:t>- https://knowledge.dea.ga.gov.au/data/product/dea-geometric-median-and-median-absolute-deviation-landsat/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PURPOSE</a:t>
            </a:r>
          </a:p>
          <a:p>
            <a:r>
              <a:rPr dirty="0"/>
              <a:t>Make a 64-dimensional satellite embedding understandable to a first-time audience.</a:t>
            </a:r>
          </a:p>
          <a:p>
            <a:r>
              <a:rPr dirty="0"/>
              <a:t>HOW TO PRESENT</a:t>
            </a:r>
          </a:p>
          <a:p>
            <a:r>
              <a:rPr dirty="0"/>
              <a:t>Point to the example vector and explain that one location in one year is represented by 64 decimal values. These are learned features derived from satellite observations; they are not random values, but individual dimensions do not have simple labels such as trees or buildings. The full vector works as a compact fingerprint of the observed landscape signal.</a:t>
            </a:r>
          </a:p>
          <a:p>
            <a:r>
              <a:rPr dirty="0"/>
              <a:t>The important property is consistency: the vector at the same coordinate can be compared from one year to another. Avoid trying to interpret any individual number in the example.</a:t>
            </a:r>
          </a:p>
          <a:p>
            <a:r>
              <a:rPr dirty="0"/>
              <a:t>KEY TAKEAWAY</a:t>
            </a:r>
          </a:p>
          <a:p>
            <a:r>
              <a:rPr dirty="0"/>
              <a:t>The embedding is useful because annual landscape fingerprints are directly comparable, not because one dimension has a known physical meaning.</a:t>
            </a:r>
          </a:p>
          <a:p>
            <a:r>
              <a:rPr dirty="0"/>
              <a:t>TRANSITION</a:t>
            </a:r>
          </a:p>
          <a:p>
            <a:r>
              <a:rPr dirty="0"/>
              <a:t>The embedding finds magnitude; DEA supplies the human-readable land-cover vocabulary.</a:t>
            </a:r>
          </a:p>
          <a:p>
            <a:r>
              <a:rPr dirty="0"/>
              <a:t>SUGGESTED TIME: 90 seconds.</a:t>
            </a:r>
          </a:p>
          <a:p>
            <a:endParaRPr dirty="0"/>
          </a:p>
          <a:p>
            <a:r>
              <a:rPr dirty="0"/>
              <a:t>[Sources]</a:t>
            </a:r>
          </a:p>
          <a:p>
            <a:r>
              <a:rPr dirty="0"/>
              <a:t>- https://</a:t>
            </a:r>
            <a:r>
              <a:rPr dirty="0" err="1"/>
              <a:t>developers.google.com</a:t>
            </a:r>
            <a:r>
              <a:rPr dirty="0"/>
              <a:t>/earth-engine/datasets/catalog/GOOGLE_SATELLITE_EMBEDDING_V1_ANNUAL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DEA Land Cover Level 3 and Level 4 in plain language.</a:t>
            </a:r>
          </a:p>
          <a:p>
            <a:r>
              <a:t>HOW TO PRESENT</a:t>
            </a:r>
          </a:p>
          <a:p>
            <a:r>
              <a:t>Start with Level 3. It uses broad classes such as natural terrestrial vegetation, cultivated vegetation, artificial surface, bare surface and water. These broad classes are stable enough for summaries and transitions. Level 4 provides more structural detail, for example whether vegetation is woody or herbaceous and whether its cover is open or closed.</a:t>
            </a:r>
          </a:p>
          <a:p>
            <a:r>
              <a:t>Use the 2017 and 2024 maps only to show that the same annual classification framework is available across the study area. Explain that DEA is an annual 30 metre Landsat-derived product for Australia.</a:t>
            </a:r>
          </a:p>
          <a:p>
            <a:r>
              <a:t>INTERPRETATION BOUNDARY</a:t>
            </a:r>
          </a:p>
          <a:p>
            <a:r>
              <a:t>DEA adds descriptive context. A class transition does not, by itself, prove the cause or quality of change.</a:t>
            </a:r>
          </a:p>
          <a:p>
            <a:r>
              <a:t>TRANSITION</a:t>
            </a:r>
          </a:p>
          <a:p>
            <a:r>
              <a:t>Land-cover classes describe what type of surface is dominant; NDVI adds vegetation direction.</a:t>
            </a:r>
          </a:p>
          <a:p>
            <a:r>
              <a:t>SUGGESTED TIME: 90 seconds.</a:t>
            </a:r>
          </a:p>
          <a:p>
            <a:endParaRPr/>
          </a:p>
          <a:p>
            <a:r>
              <a:t>[Sources]</a:t>
            </a:r>
          </a:p>
          <a:p>
            <a:r>
              <a:t>- https://knowledge.dea.ga.gov.au/data/product/dea-land-cover-landsat/</a:t>
            </a:r>
          </a:p>
          <a:p>
            <a:r>
              <a:t>- Local: AusHabitat_Latex/fig12.png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NDVI without letting the formula dominate the slide.</a:t>
            </a:r>
          </a:p>
          <a:p>
            <a:r>
              <a:t>HOW TO PRESENT</a:t>
            </a:r>
          </a:p>
          <a:p>
            <a:r>
              <a:t>Briefly say that NDVI compares near-infrared and red reflectance. Healthy green vegetation usually reflects more near-infrared light and absorbs more red light, producing a higher NDVI. Values range from minus one to plus one, but they should be interpreted relatively rather than as a universal label for every land-cover type.</a:t>
            </a:r>
          </a:p>
          <a:p>
            <a:r>
              <a:t>The project calculates annual NDVI from the DEA GeoMAD Landsat composite. GeoMAD is a representative, largely cloud-free annual image, not one photograph taken on a single day. NDVI gives a signed direction: greening or browning. Euclidean embedding distance only gives magnitude.</a:t>
            </a:r>
          </a:p>
          <a:p>
            <a:r>
              <a:t>KEY TAKEAWAY</a:t>
            </a:r>
          </a:p>
          <a:p>
            <a:r>
              <a:t>NDVI complements the AI signal; it does not replace it and it is not a land-cover classification.</a:t>
            </a:r>
          </a:p>
          <a:p>
            <a:r>
              <a:t>TRANSITION</a:t>
            </a:r>
          </a:p>
          <a:p>
            <a:r>
              <a:t>With the three sources defined, show how they enter one pipeline.</a:t>
            </a:r>
          </a:p>
          <a:p>
            <a:r>
              <a:t>SUGGESTED TIME: 90 seconds.</a:t>
            </a:r>
          </a:p>
          <a:p>
            <a:endParaRPr/>
          </a:p>
          <a:p>
            <a:r>
              <a:t>[Sources]</a:t>
            </a:r>
          </a:p>
          <a:p>
            <a:r>
              <a:t>- https://knowledge.dea.ga.gov.au/data/product/dea-geometric-median-and-median-absolute-deviation-landsat/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Provide the roadmap for all remaining method and result slides.</a:t>
            </a:r>
          </a:p>
          <a:p>
            <a:r>
              <a:t>HOW TO PRESENT</a:t>
            </a:r>
          </a:p>
          <a:p>
            <a:r>
              <a:t>Follow the arrows. Annual embeddings and a land mask are prepared in Google Earth Engine. Change rasters are created from endpoint, annual and temporal metrics. Quality checks and sampling verify the data and test category logic. DEA and NDVI then add annual context. The evidence is aligned to a common 30 metre delivery grid and neighbouring cells become regions. AusHabitat exposes the final histories and filters.</a:t>
            </a:r>
          </a:p>
          <a:p>
            <a:r>
              <a:t>Emphasise that each stage leaves an auditable output: rasters, tables, thresholds, region summaries or application data. This is not one opaque end-to-end model.</a:t>
            </a:r>
          </a:p>
          <a:p>
            <a:r>
              <a:t>KEY TAKEAWAY</a:t>
            </a:r>
          </a:p>
          <a:p>
            <a:r>
              <a:t>The pipeline progressively converts an AI signal into evidence people can inspect.</a:t>
            </a:r>
          </a:p>
          <a:p>
            <a:r>
              <a:t>TRANSITION</a:t>
            </a:r>
          </a:p>
          <a:p>
            <a:r>
              <a:t>Begin the method detail with the basic change calculation.</a:t>
            </a:r>
          </a:p>
          <a:p>
            <a:r>
              <a:t>SUGGESTED TIME: 90 seconds.</a:t>
            </a:r>
          </a:p>
          <a:p>
            <a:endParaRPr/>
          </a:p>
          <a:p>
            <a:r>
              <a:t>[Sources]</a:t>
            </a:r>
          </a:p>
          <a:p>
            <a:r>
              <a:t>- Local project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exactly what the Euclidean-distance change score means.</a:t>
            </a:r>
          </a:p>
          <a:p>
            <a:r>
              <a:t>HOW TO PRESENT</a:t>
            </a:r>
          </a:p>
          <a:p>
            <a:r>
              <a:t>Point to the 2019 and 2020 vectors. They refer to the same coordinate in two years. Euclidean distance combines the differences across all 64 dimensions into one non-negative number. A larger value means the encoded landscape fingerprint moved further in embedding space.</a:t>
            </a:r>
          </a:p>
          <a:p>
            <a:r>
              <a:t>You do not need to derive the equation line by line. Explain its role: it compresses a 64-dimensional comparison into one change-magnitude score. The annual comparisons use consecutive years, while endpoint change compares 2017 directly with 2024.</a:t>
            </a:r>
          </a:p>
          <a:p>
            <a:r>
              <a:t>INTERPRETATION BOUNDARY</a:t>
            </a:r>
          </a:p>
          <a:p>
            <a:r>
              <a:t>Distance has no ecological sign or cause. It cannot say beneficial, harmful, construction, clearing or restoration without supporting evidence.</a:t>
            </a:r>
          </a:p>
          <a:p>
            <a:r>
              <a:t>TRANSITION</a:t>
            </a:r>
          </a:p>
          <a:p>
            <a:r>
              <a:t>One distance tells how much; seven annual distances show how change unfolded.</a:t>
            </a:r>
          </a:p>
          <a:p>
            <a:r>
              <a:t>SUGGESTED TIME: 90-120 seconds.</a:t>
            </a:r>
          </a:p>
          <a:p>
            <a:endParaRPr/>
          </a:p>
          <a:p>
            <a:r>
              <a:t>[Sources]</a:t>
            </a:r>
          </a:p>
          <a:p>
            <a:r>
              <a:t>- https://developers.google.com/earth-engine/datasets/catalog/GOOGLE_SATELLITE_EMBEDDING_V1_ANNUAL</a:t>
            </a:r>
          </a:p>
          <a:p>
            <a:r>
              <a:t>- Local: AusHabitat_Latex/main.tex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Introduce the temporal metrics that distinguish one-off change from repeated or changing activity.</a:t>
            </a:r>
          </a:p>
          <a:p>
            <a:r>
              <a:t>HOW TO PRESENT</a:t>
            </a:r>
          </a:p>
          <a:p>
            <a:r>
              <a:t>Use the illustrative line from left to right. Persistence counts how many of the seven annual distances exceed the strong-change threshold; the intervals do not need to be consecutive. Variance measures how uneven the seven values are: high variance means some years stand out strongly. Slope is the fitted linear trend through the annual distances: positive means change magnitude generally increases, negative means it generally decreases. Maximum year records the interval with the highest distance.</a:t>
            </a:r>
          </a:p>
          <a:p>
            <a:r>
              <a:t>Also mention cumulative change as the sum of all seven annual distances, although it is not shown in the four callouts.</a:t>
            </a:r>
          </a:p>
          <a:p>
            <a:r>
              <a:t>KEY TAKEAWAY</a:t>
            </a:r>
          </a:p>
          <a:p>
            <a:r>
              <a:t>The same endpoint distance can result from very different annual histories, so temporal metrics add necessary structure.</a:t>
            </a:r>
          </a:p>
          <a:p>
            <a:r>
              <a:t>TRANSITION</a:t>
            </a:r>
          </a:p>
          <a:p>
            <a:r>
              <a:t>Calculating these metrics over very large rasters required a memory-safe workflow.</a:t>
            </a:r>
          </a:p>
          <a:p>
            <a:r>
              <a:t>SUGGESTED TIME: 2 minutes.</a:t>
            </a:r>
          </a:p>
          <a:p>
            <a:endParaRPr/>
          </a:p>
          <a:p>
            <a:r>
              <a:t>[Sources]</a:t>
            </a:r>
          </a:p>
          <a:p>
            <a:r>
              <a:t>- Local: AusHabitat_Latex/main.tex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the practical processing strategy and why sampling was introduced.</a:t>
            </a:r>
          </a:p>
          <a:p>
            <a:r>
              <a:t>HOW TO PRESENT</a:t>
            </a:r>
          </a:p>
          <a:p>
            <a:r>
              <a:t>Explain the small highlighted block. Instead of loading an entire raster into memory, the code reads one block, calculates summaries, releases it and continues. This still covers the whole raster; windowing is not sampling. The quality check confirmed that all 24 expected rasters shared the same coordinate reference system, transform, dimensions and shape.</a:t>
            </a:r>
          </a:p>
          <a:p>
            <a:r>
              <a:t>Then explain sampling separately. Up to 10,000 points were selected within each of nine behavioural categories using a fixed random seed, producing 89,707 sampled rows. This balanced table was useful for testing methods and detailed point histories.</a:t>
            </a:r>
          </a:p>
          <a:p>
            <a:r>
              <a:t>INTERPRETATION BOUNDARY</a:t>
            </a:r>
          </a:p>
          <a:p>
            <a:r>
              <a:t>Because the sample was stratified by category, it is not a direct estimate of Bass Coast area proportions.</a:t>
            </a:r>
          </a:p>
          <a:p>
            <a:r>
              <a:t>TRANSITION</a:t>
            </a:r>
          </a:p>
          <a:p>
            <a:r>
              <a:t>The next slide shows what those behavioural categories mean.</a:t>
            </a:r>
          </a:p>
          <a:p>
            <a:r>
              <a:t>SUGGESTED TIME: 2 minutes.</a:t>
            </a:r>
          </a:p>
          <a:p>
            <a:endParaRPr/>
          </a:p>
          <a:p>
            <a:r>
              <a:t>[Sources]</a:t>
            </a:r>
          </a:p>
          <a:p>
            <a:r>
              <a:t>- Local: BassCoast_Phase1_Raster_Inspection_outputs</a:t>
            </a:r>
          </a:p>
          <a:p>
            <a:r>
              <a:t>- Local: BassCoast_Phase2_Pixel_Sampling_outputs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Make the rule-based behavioural categories intuitive and prevent causal over-interpretation.</a:t>
            </a:r>
          </a:p>
          <a:p>
            <a:r>
              <a:t>HOW TO PRESENT</a:t>
            </a:r>
          </a:p>
          <a:p>
            <a:r>
              <a:t>Use the four miniature trajectories as archetypes. Mostly stable stays low. A sudden candidate has one large spike but low persistence. Repeated change contains several strong annual periods. Variable or recovery candidates have large swings but a smaller endpoint difference, suggesting that the final state may be closer to the starting state than the intermediate years were.</a:t>
            </a:r>
          </a:p>
          <a:p>
            <a:r>
              <a:t>Explain that the full analysis used nine potentially overlapping categories, including endpoint hotspot, high variance, positive and negative slope, persistence thresholds, sudden candidates and stable controls. A pixel can satisfy more than one rule.</a:t>
            </a:r>
          </a:p>
          <a:p>
            <a:r>
              <a:t>INTERPRETATION BOUNDARY</a:t>
            </a:r>
          </a:p>
          <a:p>
            <a:r>
              <a:t>These labels describe the numerical trajectory. They do not automatically mean urbanisation, degradation, agriculture or restoration.</a:t>
            </a:r>
          </a:p>
          <a:p>
            <a:r>
              <a:t>TRANSITION</a:t>
            </a:r>
          </a:p>
          <a:p>
            <a:r>
              <a:t>Coordinates allow these abstract trajectories to be connected to annual external evidence.</a:t>
            </a:r>
          </a:p>
          <a:p>
            <a:r>
              <a:t>SUGGESTED TIME: 90 seconds.</a:t>
            </a:r>
          </a:p>
          <a:p>
            <a:endParaRPr/>
          </a:p>
          <a:p>
            <a:r>
              <a:t>[Sources]</a:t>
            </a:r>
          </a:p>
          <a:p>
            <a:r>
              <a:t>- Local: BassCoast_Phase2_Pixel_Sampling_outputs</a:t>
            </a:r>
          </a:p>
          <a:p>
            <a:r>
              <a:t>- Local: AusHabitat_Latex/main.tex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how latitude and longitude connect embedding signals to annual DEA and NDVI histories.</a:t>
            </a:r>
          </a:p>
          <a:p>
            <a:r>
              <a:t>HOW TO PRESENT</a:t>
            </a:r>
          </a:p>
          <a:p>
            <a:r>
              <a:t>Start at the coordinate and move right. The same location is queried or aligned for each year. The coloured sequence represents annual DEA Level 3 classes, while the decimal sequence represents annual NDVI. From these histories, the pipeline derives a broad land-cover transition, vegetation direction, first class-change year and a complete annual record.</a:t>
            </a:r>
          </a:p>
          <a:p>
            <a:r>
              <a:t>Clarify that early exploratory work sampled individual coordinates. The wall-to-wall implementation later used aligned rasters and region summaries, which is more efficient than making millions of separate remote requests.</a:t>
            </a:r>
          </a:p>
          <a:p>
            <a:r>
              <a:t>KEY TAKEAWAY</a:t>
            </a:r>
          </a:p>
          <a:p>
            <a:r>
              <a:t>Coordinates are the join key that connects three independent annual evidence streams.</a:t>
            </a:r>
          </a:p>
          <a:p>
            <a:r>
              <a:t>TRANSITION</a:t>
            </a:r>
          </a:p>
          <a:p>
            <a:r>
              <a:t>Before the evidence can be compared spatially, the 10 metre and 30 metre grids must be reconciled.</a:t>
            </a:r>
          </a:p>
          <a:p>
            <a:r>
              <a:t>SUGGESTED TIME: 90 seconds.</a:t>
            </a:r>
          </a:p>
          <a:p>
            <a:endParaRPr/>
          </a:p>
          <a:p>
            <a:r>
              <a:t>[Sources]</a:t>
            </a:r>
          </a:p>
          <a:p>
            <a:r>
              <a:t>- Local: phase3_dea_landcover_pipeline.py</a:t>
            </a:r>
          </a:p>
          <a:p>
            <a:r>
              <a:t>- Local: phase10_wall_to_wall_context.py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Resolve the 10 metre embedding versus 30 metre DEA and NDVI scale difference.</a:t>
            </a:r>
          </a:p>
          <a:p>
            <a:r>
              <a:t>HOW TO PRESENT</a:t>
            </a:r>
          </a:p>
          <a:p>
            <a:r>
              <a:t>Explain that a 30 metre context cell covers approximately a 3 by 3 group of 10 metre embedding cells. The project creates a common-support layer that summarises the nine smaller cells using metrics appropriate to the question: mean change distance, the share classified as hot, and maximum persistence.</a:t>
            </a:r>
          </a:p>
          <a:p>
            <a:r>
              <a:t>Be explicit that the original 10 metre rasters are preserved and remain authoritative. The 30 metre grid is an additional comparison and delivery layer; it does not pretend that the embedding was originally measured at 30 metres.</a:t>
            </a:r>
          </a:p>
          <a:p>
            <a:r>
              <a:t>Mention the sensitivity result if asked: the 3 by 3 mean produced essentially the same NDVI association as direct 10 metre point sampling, supporting the alignment choice.</a:t>
            </a:r>
          </a:p>
          <a:p>
            <a:r>
              <a:t>TRANSITION</a:t>
            </a:r>
          </a:p>
          <a:p>
            <a:r>
              <a:t>The common grid is then converted from millions of cells into usable landscape regions.</a:t>
            </a:r>
          </a:p>
          <a:p>
            <a:r>
              <a:t>SUGGESTED TIME: 2 minutes.</a:t>
            </a:r>
          </a:p>
          <a:p>
            <a:endParaRPr/>
          </a:p>
          <a:p>
            <a:r>
              <a:t>[Sources]</a:t>
            </a:r>
          </a:p>
          <a:p>
            <a:r>
              <a:t>- Local: BassCoast_Phase9_Map_Data_Preparation_outputs</a:t>
            </a:r>
          </a:p>
          <a:p>
            <a:r>
              <a:t>- Local: bass-coast-change-map/docs/DATA_BOUNDARIES.md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why the application displays connected regions instead of millions of individual squares.</a:t>
            </a:r>
          </a:p>
          <a:p>
            <a:r>
              <a:t>HOW TO PRESENT</a:t>
            </a:r>
          </a:p>
          <a:p>
            <a:r>
              <a:t>Begin with the grid. Cells that touch and have the same broad hot or cold state are connected into one region boundary. They do not need identical annual histories. That internal diversity is retained through area shares, such as repeated-change coverage and strong endpoint coverage, plus annual mean change, DEA history and NDVI history.</a:t>
            </a:r>
          </a:p>
          <a:p>
            <a:r>
              <a:t>Explain the trade-off. Grouping greatly reduces rendering and interaction load and presents a landscape feature rather than many adjacent squares. The representative coordinate is less specific than a single 10 metre pixel, but the underlying raster values are not discarded.</a:t>
            </a:r>
          </a:p>
          <a:p>
            <a:r>
              <a:t>KEY TAKEAWAY</a:t>
            </a:r>
          </a:p>
          <a:p>
            <a:r>
              <a:t>Regions are a delivery and interpretation unit, not a claim that every cell behaved identically.</a:t>
            </a:r>
          </a:p>
          <a:p>
            <a:r>
              <a:t>TRANSITION</a:t>
            </a:r>
          </a:p>
          <a:p>
            <a:r>
              <a:t>Before showing aggregate results, examine one real hotspot from end to end.</a:t>
            </a:r>
          </a:p>
          <a:p>
            <a:r>
              <a:t>SUGGESTED TIME: 90-120 seconds.</a:t>
            </a:r>
          </a:p>
          <a:p>
            <a:endParaRPr/>
          </a:p>
          <a:p>
            <a:r>
              <a:t>[Sources]</a:t>
            </a:r>
          </a:p>
          <a:p>
            <a:r>
              <a:t>- Local: BassCoast_Phase9_Map_Data_Preparation_outputs</a:t>
            </a:r>
          </a:p>
          <a:p>
            <a:r>
              <a:t>- Local: bass-coast-change-map/docs/DATA_BOUNDARIES.md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Give the audience one concrete example linking visible change, the embedding signal, DEA Land Cover and NDVI.</a:t>
            </a:r>
          </a:p>
          <a:p>
            <a:r>
              <a:t>HOW TO PRESENT</a:t>
            </a:r>
          </a:p>
          <a:p>
            <a:r>
              <a:t>Locate the white crosshair in all three images. The 2017 and 2024 panels are annual DEA GeoMAD true-colour composites for the same approximately 960 metre extent near McKenzie Street, Wonthaggi. The 2024 image contains a bright artificial feature that was not present in 2017. The third image is the 10 metre 2017-to-2024 endpoint-change raster; brighter colours mean larger embedding distance, and the crosshair lies inside the bright hotspot.</a:t>
            </a:r>
          </a:p>
          <a:p>
            <a:r>
              <a:t>Now read the annual chart. The annual embedding distance exceeded the 0.45 threshold in 2017-2018 and 2018-2019, peaking at 0.834 for 2018-2019. DEA changed from natural vegetation in 2017 to cultivated vegetation in 2018 and artificial surface in 2019, then remained artificial. NDVI fell from 0.637 in 2017 to 0.184 in 2024. Endpoint distance was 1.086.</a:t>
            </a:r>
          </a:p>
          <a:p>
            <a:r>
              <a:t>INTERPRETATION</a:t>
            </a:r>
          </a:p>
          <a:p>
            <a:r>
              <a:t>For this one location, the timing and direction of the independent evidence are coherent with the AI change signal. Present it as an illustrative case, not as proof that every hotspot is correct or that the system identified the exact cause.</a:t>
            </a:r>
          </a:p>
          <a:p>
            <a:r>
              <a:t>TRANSITION</a:t>
            </a:r>
          </a:p>
          <a:p>
            <a:r>
              <a:t>The case study shows one location; the next slides test whether the broader mapped distributions behave sensibly.</a:t>
            </a:r>
          </a:p>
          <a:p>
            <a:r>
              <a:t>SUGGESTED TIME: 2-3 minutes.</a:t>
            </a:r>
          </a:p>
          <a:p>
            <a:endParaRPr/>
          </a:p>
          <a:p>
            <a:r>
              <a:t>[Sources]</a:t>
            </a:r>
          </a:p>
          <a:p>
            <a:r>
              <a:t>- https://knowledge.dea.ga.gov.au/data/product/dea-geometric-median-and-median-absolute-deviation-landsat/</a:t>
            </a:r>
          </a:p>
          <a:p>
            <a:r>
              <a:t>- https://data.dea.ga.gov.au/derivative/ga_ls8cls9c_gm_cyear_3/4-0-0/x58/y27/2017--P1Y/ga_ls8cls9c_gm_cyear_3_x58y27_2017--P1Y_final_nbart_red.tif</a:t>
            </a:r>
          </a:p>
          <a:p>
            <a:r>
              <a:t>- https://data.dea.ga.gov.au/derivative/ga_ls8cls9c_gm_cyear_3/4-0-0/x58/y27/2024--P1Y/ga_ls8cls9c_gm_cyear_3_x58y27_2024--P1Y_final_nbart_red.tif</a:t>
            </a:r>
          </a:p>
          <a:p>
            <a:r>
              <a:t>- Local: GEE_BassCoast_Data/basscoast_endpoint_change_2017_2024.tif</a:t>
            </a:r>
          </a:p>
          <a:p>
            <a:r>
              <a:t>- Local: BassCoast_Phase8_NDVI_Pilot_outputs/basscoast_phase8_annual_ndvi.csv</a:t>
            </a:r>
          </a:p>
          <a:p>
            <a:r>
              <a:t>- Local: merged Phase 3 DEA-enriched review output, review_id 562</a:t>
            </a:r>
          </a:p>
          <a:p>
            <a:r>
              <a:t>- https://nominatim.openstreetmap.org/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Show why percentile-based endpoint hotspot screening is appropriate.</a:t>
            </a:r>
          </a:p>
          <a:p>
            <a:r>
              <a:t>HOW TO PRESENT</a:t>
            </a:r>
          </a:p>
          <a:p>
            <a:r>
              <a:t>The map shows the 2017-to-2024 endpoint distance across the study area. The histogram shows the same values as a distribution. Most pixels are concentrated at low to moderate change, while a small right-hand tail contains much larger values.</a:t>
            </a:r>
          </a:p>
          <a:p>
            <a:r>
              <a:t>Explain that the endpoint hotspot threshold uses the 95th percentile, approximately 0.445 in the sampling workflow. This selects the strongest 5 percent of valid endpoint-change values relative to this study area. It is not a universal physical threshold for all places and years.</a:t>
            </a:r>
          </a:p>
          <a:p>
            <a:r>
              <a:t>KEY TAKEAWAY</a:t>
            </a:r>
          </a:p>
          <a:p>
            <a:r>
              <a:t>Strong endpoint change is uncommon and spatially concentrated, so percentile screening provides a defensible prioritisation rule.</a:t>
            </a:r>
          </a:p>
          <a:p>
            <a:r>
              <a:t>TRANSITION</a:t>
            </a:r>
          </a:p>
          <a:p>
            <a:r>
              <a:t>Endpoint magnitude alone cannot distinguish repeated change, so the next result examines persistence.</a:t>
            </a:r>
          </a:p>
          <a:p>
            <a:r>
              <a:t>SUGGESTED TIME: 90 seconds.</a:t>
            </a:r>
          </a:p>
          <a:p>
            <a:endParaRPr/>
          </a:p>
          <a:p>
            <a:r>
              <a:t>[Sources]</a:t>
            </a:r>
          </a:p>
          <a:p>
            <a:r>
              <a:t>- Local: AusHabitat_Latex/fig8.png</a:t>
            </a:r>
          </a:p>
          <a:p>
            <a:r>
              <a:t>- Local: AusHabitat_Latex/fig9.png</a:t>
            </a:r>
          </a:p>
          <a:p>
            <a:r>
              <a:t>- Local: BassCoast_Phase2_Pixel_Sampling_outputs/tables/phase2_thresholds.csv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Show how persistence sharply narrows the footprint of repeated strong change.</a:t>
            </a:r>
          </a:p>
          <a:p>
            <a:r>
              <a:t>HOW TO PRESENT</a:t>
            </a:r>
          </a:p>
          <a:p>
            <a:r>
              <a:t>Define persistence again: the number of annual intervals above the fixed 0.45 strong-change threshold. The intervals do not need to be consecutive. In the initial threshold configuration, the long-term endpoint hotspot covered about 334 square kilometres. Requiring at least two strong annual intervals reduced the footprint to about 146 square kilometres; requiring at least three reduced it to about 57 square kilometres.</a:t>
            </a:r>
          </a:p>
          <a:p>
            <a:r>
              <a:t>Explain what this means operationally. Persistence is a prioritisation tool: it separates one-off start-to-end differences from locations that repeatedly produced strong annual signals.</a:t>
            </a:r>
          </a:p>
          <a:p>
            <a:r>
              <a:t>INTERPRETATION BOUNDARY</a:t>
            </a:r>
          </a:p>
          <a:p>
            <a:r>
              <a:t>Repeated signal does not automatically mean continuous degradation or continuous construction. It only records repeated threshold exceedance.</a:t>
            </a:r>
          </a:p>
          <a:p>
            <a:r>
              <a:t>TRANSITION</a:t>
            </a:r>
          </a:p>
          <a:p>
            <a:r>
              <a:t>The sampled trajectories show why persistence changes the interpretation of similar endpoint scores.</a:t>
            </a:r>
          </a:p>
          <a:p>
            <a:r>
              <a:t>SUGGESTED TIME: 90 seconds.</a:t>
            </a:r>
          </a:p>
          <a:p>
            <a:endParaRPr/>
          </a:p>
          <a:p>
            <a:r>
              <a:t>[Sources]</a:t>
            </a:r>
          </a:p>
          <a:p>
            <a:r>
              <a:t>- Local: AusHabitat_Latex/fig2.png</a:t>
            </a:r>
          </a:p>
          <a:p>
            <a:r>
              <a:t>- Local: AusHabitat_Latex/main.tex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the strongest DEA enrichment result without calling it model accuracy.</a:t>
            </a:r>
          </a:p>
          <a:p>
            <a:r>
              <a:t>HOW TO PRESENT</a:t>
            </a:r>
          </a:p>
          <a:p>
            <a:r>
              <a:t>Define the calculation carefully. Within each embedding-defined category, a pixel is counted as DEA changed when its 2017-to-2024 Level 3 sequence contains at least one class change. The percentage is the changed count divided by all complete pixels in that category.</a:t>
            </a:r>
          </a:p>
          <a:p>
            <a:r>
              <a:t>Positive-slope and persistent groups show DEA broad-class change rates around 75 and 74 percent, compared with about 30 percent for stable controls. This means change-oriented embedding categories are enriched for independent land-cover change relative to the control group.</a:t>
            </a:r>
          </a:p>
          <a:p>
            <a:r>
              <a:t>INTERPRETATION BOUNDARY</a:t>
            </a:r>
          </a:p>
          <a:p>
            <a:r>
              <a:t>This is not 75 percent embedding accuracy. DEA and the embedding measure different properties, and DEA is not treated as perfect ground truth.</a:t>
            </a:r>
          </a:p>
          <a:p>
            <a:r>
              <a:t>TRANSITION</a:t>
            </a:r>
          </a:p>
          <a:p>
            <a:r>
              <a:t>The result was first observed in the sample, then checked across the complete mapped raster.</a:t>
            </a:r>
          </a:p>
          <a:p>
            <a:r>
              <a:t>SUGGESTED TIME: 2 minutes.</a:t>
            </a:r>
          </a:p>
          <a:p>
            <a:endParaRPr/>
          </a:p>
          <a:p>
            <a:r>
              <a:t>[Sources]</a:t>
            </a:r>
          </a:p>
          <a:p>
            <a:r>
              <a:t>- Local: BassCoast_Phase5_WallToWall_DEA_Summary_outputs/basscoast_phase5_wall_to_wall_category_summary.csv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Justify the sample-first development strategy and distinguish it from full-area processing.</a:t>
            </a:r>
          </a:p>
          <a:p>
            <a:r>
              <a:t>HOW TO PRESENT</a:t>
            </a:r>
          </a:p>
          <a:p>
            <a:r>
              <a:t>The paired bars compare the 89,707-point stratified sample with the wall-to-wall category summary. The category-level DEA changed shares are very close. Explain why sampling came first: it allowed faster debugging, balanced category comparison, detailed histories and reproducibility. The complete raster analysis then checked that the same category-level relationship appeared across the mapped extent.</a:t>
            </a:r>
          </a:p>
          <a:p>
            <a:r>
              <a:t>INTERPRETATION BOUNDARY</a:t>
            </a:r>
          </a:p>
          <a:p>
            <a:r>
              <a:t>Do not say the sample represented every Bass Coast pixel by area. It was intentionally balanced across behavioural categories. The wall-to-wall run, not the sample, supports complete-area summaries.</a:t>
            </a:r>
          </a:p>
          <a:p>
            <a:r>
              <a:t>KEY TAKEAWAY</a:t>
            </a:r>
          </a:p>
          <a:p>
            <a:r>
              <a:t>Sampling was an efficient method-development step, and full-area processing confirmed that its main comparative result was not a sample artefact.</a:t>
            </a:r>
          </a:p>
          <a:p>
            <a:r>
              <a:t>TRANSITION</a:t>
            </a:r>
          </a:p>
          <a:p>
            <a:r>
              <a:t>DEA adds categorical context; NDVI provides an independent vegetation comparison.</a:t>
            </a:r>
          </a:p>
          <a:p>
            <a:r>
              <a:t>SUGGESTED TIME: 90 seconds.</a:t>
            </a:r>
          </a:p>
          <a:p>
            <a:endParaRPr/>
          </a:p>
          <a:p>
            <a:r>
              <a:t>[Sources]</a:t>
            </a:r>
          </a:p>
          <a:p>
            <a:r>
              <a:t>- Local: AusHabitat_Latex/fig14.png</a:t>
            </a:r>
          </a:p>
          <a:p>
            <a:r>
              <a:t>- Local: BassCoast_Phase5_WallToWall_DEA_Summary_outputs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Present the NDVI comparison as complementary agreement, not a failed attempt at perfect correlation.</a:t>
            </a:r>
          </a:p>
          <a:p>
            <a:r>
              <a:t>HOW TO PRESENT</a:t>
            </a:r>
          </a:p>
          <a:p>
            <a:r>
              <a:t>Spearman correlation of 0.574 means locations with larger embedding changes generally tend to have larger absolute NDVI changes, but the relationship is only moderate. Of 1,563 embedding-hotspot intervals in the 900-point pilot, 1,221, or 78.1 percent, also exceeded the substantial-NDVI-change threshold. The year of maximum embedding change and maximum NDVI change was within one year for 64.4 percent of points.</a:t>
            </a:r>
          </a:p>
          <a:p>
            <a:r>
              <a:t>Explain why perfect agreement is not expected. NDVI responds specifically to vegetation greenness. The embedding can also respond to built surfaces, texture, structure and other non-vegetation changes.</a:t>
            </a:r>
          </a:p>
          <a:p>
            <a:r>
              <a:t>KEY TAKEAWAY</a:t>
            </a:r>
          </a:p>
          <a:p>
            <a:r>
              <a:t>Moderate agreement supports the vegetation relevance of many embedding signals while confirming that the embedding contains broader information than NDVI alone.</a:t>
            </a:r>
          </a:p>
          <a:p>
            <a:r>
              <a:t>TRANSITION</a:t>
            </a:r>
          </a:p>
          <a:p>
            <a:r>
              <a:t>After the pilot, DEA and NDVI context were produced for every interactive region.</a:t>
            </a:r>
          </a:p>
          <a:p>
            <a:r>
              <a:t>SUGGESTED TIME: 2 minutes.</a:t>
            </a:r>
          </a:p>
          <a:p>
            <a:endParaRPr/>
          </a:p>
          <a:p>
            <a:r>
              <a:t>[Sources]</a:t>
            </a:r>
          </a:p>
          <a:p>
            <a:r>
              <a:t>- Local: BassCoast_Phase8_NDVI_Pilot_outputs/basscoast_phase8_ndvi_pilot_report.md</a:t>
            </a:r>
          </a:p>
          <a:p>
            <a:r>
              <a:t>- Local: BassCoast_Phase8_NDVI_Pilot_outputs/figures/phase8_embedding_vs_ndvi_scatter.png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Clarify the scale of the wall-to-wall data and how millions of cells became application-ready records.</a:t>
            </a:r>
          </a:p>
          <a:p>
            <a:r>
              <a:t>HOW TO PRESENT</a:t>
            </a:r>
          </a:p>
          <a:p>
            <a:r>
              <a:t>Separate the denominators. The original raster rectangle contains about 191.2 million grid positions, including land, water and no-data positions. About 83.0 million positions have finite endpoint embedding values after masking and coverage effects. These are spatial positions, not the number of annual records.</a:t>
            </a:r>
          </a:p>
          <a:p>
            <a:r>
              <a:t>For the application, the common-support surface was grouped into 13,477 change regions and 307 low-change reference regions. With eight annual DEA and NDVI records per region, the context table contains 110,272 region-year records.</a:t>
            </a:r>
          </a:p>
          <a:p>
            <a:r>
              <a:t>KEY TAKEAWAY</a:t>
            </a:r>
          </a:p>
          <a:p>
            <a:r>
              <a:t>The wall-to-wall step created complete map coverage, while region grouping produced a dataset small enough for interactive delivery.</a:t>
            </a:r>
          </a:p>
          <a:p>
            <a:r>
              <a:t>TRANSITION</a:t>
            </a:r>
          </a:p>
          <a:p>
            <a:r>
              <a:t>The next slide shows what users can now do with those records.</a:t>
            </a:r>
          </a:p>
          <a:p>
            <a:r>
              <a:t>SUGGESTED TIME: 2 minutes.</a:t>
            </a:r>
          </a:p>
          <a:p>
            <a:endParaRPr/>
          </a:p>
          <a:p>
            <a:r>
              <a:t>[Sources]</a:t>
            </a:r>
          </a:p>
          <a:p>
            <a:r>
              <a:t>- Local: BassCoast_Phase9_Map_Data_Preparation_outputs/basscoast_phase9_map_data_report.md</a:t>
            </a:r>
          </a:p>
          <a:p>
            <a:r>
              <a:t>- Local: BassCoast_Phase10_WallToWall_Context_outputs/basscoast_phase10_report.md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Demonstrate the current product and give the audience an opportunity to explore it.</a:t>
            </a:r>
          </a:p>
          <a:p>
            <a:r>
              <a:t>HOW TO PRESENT</a:t>
            </a:r>
          </a:p>
          <a:p>
            <a:r>
              <a:t>Invite the audience to scan the QR code. Explain the interface before starting the live demonstration: the left panel searches and filters hot and low-change regions; the bottom timeline changes the annual interval; the right panel explains a selected region; the Timeline and Land context tabs show annual embedding, DEA and NDVI histories.</a:t>
            </a:r>
          </a:p>
          <a:p>
            <a:r>
              <a:t>Recommended live sequence: reset to Bass Coast; toggle change and low-change regions; select 2018-to-2019; filter for DEA transition or NDVI change; search for region BCF006263; open Summary, Timeline and Land context. Remind the audience that the map is embedding-defined and DEA/NDVI are supporting filters.</a:t>
            </a:r>
          </a:p>
          <a:p>
            <a:r>
              <a:t>FALLBACK</a:t>
            </a:r>
          </a:p>
          <a:p>
            <a:r>
              <a:t>If the network is slow, narrate the screenshot rather than waiting. Keep the demonstration under five minutes.</a:t>
            </a:r>
          </a:p>
          <a:p>
            <a:r>
              <a:t>TRANSITION</a:t>
            </a:r>
          </a:p>
          <a:p>
            <a:r>
              <a:t>After the demonstration, summarise what the current milestone establishes.</a:t>
            </a:r>
          </a:p>
          <a:p>
            <a:r>
              <a:t>SUGGESTED TIME: 4-5 minutes.</a:t>
            </a:r>
          </a:p>
          <a:p>
            <a:endParaRPr/>
          </a:p>
          <a:p>
            <a:r>
              <a:t>[Sources]</a:t>
            </a:r>
          </a:p>
          <a:p>
            <a:r>
              <a:t>- https://thieulong.github.io/SatelliteEmbeddingV1-SpatialAnalysis/</a:t>
            </a:r>
          </a:p>
          <a:p>
            <a:r>
              <a:t>- Basemap: © OpenStreetMap contributors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Resolve the opening problem with three concrete achievements.</a:t>
            </a:r>
          </a:p>
          <a:p>
            <a:r>
              <a:t>HOW TO PRESENT</a:t>
            </a:r>
          </a:p>
          <a:p>
            <a:r>
              <a:t>First, scalable detection: annual embeddings identify and characterise strong landscape-signal change across a large raster stack. Second, independent context: DEA Land Cover and NDVI add annual categorical and vegetation evidence for every mapped region. Third, usable communication: the evidence is packaged into an interactive map supporting search, filters and historical inspection.</a:t>
            </a:r>
          </a:p>
          <a:p>
            <a:r>
              <a:t>Pause on the boundary at the bottom. The current system supports investigation and prioritisation. It does not automatically attribute ecological cause, benefit or harm.</a:t>
            </a:r>
          </a:p>
          <a:p>
            <a:r>
              <a:t>KEY TAKEAWAY</a:t>
            </a:r>
          </a:p>
          <a:p>
            <a:r>
              <a:t>The milestone is an end-to-end, auditable prototype from AI signal to explorable evidence.</a:t>
            </a:r>
          </a:p>
          <a:p>
            <a:r>
              <a:t>TRANSITION</a:t>
            </a:r>
          </a:p>
          <a:p>
            <a:r>
              <a:t>Close by explaining what must change to move from a Bass Coast prototype to a national service.</a:t>
            </a:r>
          </a:p>
          <a:p>
            <a:r>
              <a:t>SUGGESTED TIME: 90 seconds.</a:t>
            </a:r>
          </a:p>
          <a:p>
            <a:endParaRPr/>
          </a:p>
          <a:p>
            <a:r>
              <a:t>[Sources]</a:t>
            </a:r>
          </a:p>
          <a:p>
            <a:r>
              <a:t>- Local project outputs and public prototype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Close with a credible future direction rather than an unbounded feature list.</a:t>
            </a:r>
          </a:p>
          <a:p>
            <a:r>
              <a:t>HOW TO PRESENT</a:t>
            </a:r>
          </a:p>
          <a:p>
            <a:r>
              <a:t>Start on the left: the current prototype already provides annual evidence, interactive regions and a public web map. The next phase is production engineering. Cloud delivery would use tiled raster and vector services so users do not download all data at once. A national pipeline would automate processing by region and year. Accessible products could include mobile and inclusive interfaces. Richer intelligence could add carefully validated evidence layers and predictive modelling.</a:t>
            </a:r>
          </a:p>
          <a:p>
            <a:r>
              <a:t>Be clear that national scaling requires infrastructure, monitoring, validation and governance; it is not simply a larger map extent.</a:t>
            </a:r>
          </a:p>
          <a:p>
            <a:r>
              <a:t>CLOSING LINE</a:t>
            </a:r>
          </a:p>
          <a:p>
            <a:r>
              <a:t>AusHabitat demonstrates that AI-derived change can be transformed into a transparent evidence workflow that people can inspect, question and eventually scale.</a:t>
            </a:r>
          </a:p>
          <a:p>
            <a:r>
              <a:t>TRANSITION</a:t>
            </a:r>
          </a:p>
          <a:p>
            <a:r>
              <a:t>Move to the closing slide, thank the audience, and invite questions. Keep the three appendix slides available if a technical question arises.</a:t>
            </a:r>
          </a:p>
          <a:p>
            <a:r>
              <a:t>SUGGESTED TIME: 90 seconds.</a:t>
            </a:r>
          </a:p>
          <a:p>
            <a:endParaRPr/>
          </a:p>
          <a:p>
            <a:r>
              <a:t>[Sources]</a:t>
            </a:r>
          </a:p>
          <a:p>
            <a:r>
              <a:t>- Local: bass-coast-change-map/README.md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Close cleanly, reinforce the project in one sentence and create a natural pause for discussion.</a:t>
            </a:r>
          </a:p>
          <a:p>
            <a:r>
              <a:t>HOW TO PRESENT</a:t>
            </a:r>
          </a:p>
          <a:p>
            <a:r>
              <a:t>Thank the audience and pause. Restate the central message: AusHabitat turns annual AI-derived change signals into transparent, inspectable landscape evidence. Invite questions and discussion rather than advancing automatically into the appendix.</a:t>
            </a:r>
          </a:p>
          <a:p>
            <a:r>
              <a:t>Mention that the QR code opens the live Bass Coast prototype. The appendix remains available for questions about metric definitions, thresholds and interpretation boundaries.</a:t>
            </a:r>
          </a:p>
          <a:p>
            <a:r>
              <a:t>SUGGESTED CLOSING LINE</a:t>
            </a:r>
          </a:p>
          <a:p>
            <a:r>
              <a:t>Thank you for listening. I welcome your questions, and you can scan the QR code to explore the current AusHabitat prototype.</a:t>
            </a:r>
          </a:p>
          <a:p>
            <a:r>
              <a:t>SUGGESTED TIME: 30-45 seconds.</a:t>
            </a:r>
          </a:p>
          <a:p>
            <a:endParaRPr/>
          </a:p>
          <a:p>
            <a:r>
              <a:t>[Sources]</a:t>
            </a:r>
          </a:p>
          <a:p>
            <a:r>
              <a:t>- https://thieulong.github.io/SatelliteEmbeddingV1-SpatialAnalysis/</a:t>
            </a:r>
          </a:p>
          <a:p>
            <a:r>
              <a:t>- Local: bass-coast-change-map/public/assets/cnps-logo.jpeg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Use only when the audience asks for precise definitions of the temporal metrics.</a:t>
            </a:r>
          </a:p>
          <a:p>
            <a:r>
              <a:t>HOW TO PRESENT</a:t>
            </a:r>
          </a:p>
          <a:p>
            <a:r>
              <a:t>Endpoint change compares the first and last annual embedding vectors. Annual change compares consecutive years. Cumulative change sums all seven annual distances. Persistence counts threshold exceedances. Variance describes unevenness, slope describes the linear trend, first hotspot year records the first exceedance, and maximum change year records the strongest interval.</a:t>
            </a:r>
          </a:p>
          <a:p>
            <a:r>
              <a:t>Do not present the full glossary during the main talk unless the audience needs it.</a:t>
            </a:r>
          </a:p>
          <a:p>
            <a:endParaRPr/>
          </a:p>
          <a:p>
            <a:r>
              <a:t>[Sources]</a:t>
            </a:r>
          </a:p>
          <a:p>
            <a:r>
              <a:t>- Local: AusHabitat_Latex/main.tex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Answer questions about thresholds and show that every evidence flag has an explicit rule.</a:t>
            </a:r>
          </a:p>
          <a:p>
            <a:r>
              <a:t>HOW TO PRESENT</a:t>
            </a:r>
          </a:p>
          <a:p>
            <a:r>
              <a:t>Separate fixed and percentile thresholds. Annual embedding hotspots use the fixed 0.45 threshold. Endpoint hotspots and high variance use the upper 5 percent of their study-area distributions. Positive and negative slope categories use the top and bottom 5 percent. The NDVI pilot and application thresholds differ because they use different reference populations: sampled stable-control intervals versus all low-change application regions.</a:t>
            </a:r>
          </a:p>
          <a:p>
            <a:r>
              <a:t>Emphasise that percentile thresholds are relative screening rules and may need recalibration for a new study area or national deployment.</a:t>
            </a:r>
          </a:p>
          <a:p>
            <a:endParaRPr/>
          </a:p>
          <a:p>
            <a:r>
              <a:t>[Sources]</a:t>
            </a:r>
          </a:p>
          <a:p>
            <a:r>
              <a:t>- Local: BassCoast_Phase2_Pixel_Sampling_outputs/tables/phase2_thresholds.csv</a:t>
            </a:r>
          </a:p>
          <a:p>
            <a:r>
              <a:t>- Local: BassCoast_Phase8_NDVI_Pilot_outputs</a:t>
            </a:r>
          </a:p>
          <a:p>
            <a:r>
              <a:t>- Local: BassCoast_Phase10_WallToWall_Context_outputs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Protect the project from overclaiming during questions and discussion.</a:t>
            </a:r>
          </a:p>
          <a:p>
            <a:r>
              <a:t>HOW TO PRESENT</a:t>
            </a:r>
          </a:p>
          <a:p>
            <a:r>
              <a:t>Read across any row relevant to the question. Embedding distance supports change magnitude, not ecological cause. DEA changed share supports independent land-cover enrichment, not embedding accuracy. NDVI supports greenness direction, not full land-cover classification. The 30 metre grid supports comparable integration and delivery, not replacement of original 10 metre rasters. Behavioural categories support rule-based temporal archetypes, not definitive ecological processes.</a:t>
            </a:r>
          </a:p>
          <a:p>
            <a:r>
              <a:t>Use this slide to answer confidently: the workflow is valuable because it keeps these evidence boundaries explicit.</a:t>
            </a:r>
          </a:p>
          <a:p>
            <a:endParaRPr/>
          </a:p>
          <a:p>
            <a:r>
              <a:t>[Sources]</a:t>
            </a:r>
          </a:p>
          <a:p>
            <a:r>
              <a:t>- Local: AusHabitat_Latex/main.tex</a:t>
            </a:r>
          </a:p>
          <a:p>
            <a:r>
              <a:t>- Local: bass-coast-change-map/docs/DATA_BOUNDARIES.md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666E301-737C-44D2-972F-CA7A8DD7CB5F}"/>
              </a:ext>
            </a:extLst>
          </p:cNvPr>
          <p:cNvSpPr>
            <a:spLocks noGrp="1"/>
          </p:cNvSpPr>
          <p:nvPr/>
        </p:nvSpPr>
        <p:spPr>
          <a:xfrm>
            <a:off x="0" y="0"/>
            <a:ext cx="171450" cy="6858000"/>
          </a:xfrm>
          <a:prstGeom prst="rect">
            <a:avLst/>
          </a:prstGeom>
          <a:solidFill>
            <a:srgbClr val="08065C"/>
          </a:solidFill>
          <a:ln w="0">
            <a:noFill/>
            <a:prstDash val="solid"/>
          </a:ln>
        </p:spPr>
        <p:txBody>
          <a:bodyPr/>
          <a:lstStyle/>
          <a:p>
            <a:endParaRPr lang="en-US"/>
          </a:p>
        </p:txBody>
      </p:sp>
      <p:pic>
        <p:nvPicPr>
          <p:cNvPr id="12" name="Picture 11"/>
          <p:cNvPicPr>
            <a:picLocks noChangeAspect="1"/>
          </p:cNvPicPr>
          <p:nvPr/>
        </p:nvPicPr>
        <p:blipFill>
          <a:blip r:embed="rId3"/>
          <a:stretch/>
        </p:blipFill>
        <p:spPr>
          <a:xfrm>
            <a:off x="666750" y="552450"/>
            <a:ext cx="685800" cy="685800"/>
          </a:xfrm>
          <a:prstGeom prst="roundRect">
            <a:avLst>
              <a:gd name="adj" fmla="val 6944"/>
            </a:avLst>
          </a:prstGeom>
        </p:spPr>
      </p:pic>
      <p:sp>
        <p:nvSpPr>
          <p:cNvPr id="3" name="Rectangle 2">
            <a:extLst>
              <a:ext uri="{FF2B5EF4-FFF2-40B4-BE49-F238E27FC236}">
                <a16:creationId xmlns:a16="http://schemas.microsoft.com/office/drawing/2014/main" id="{05243D3D-9335-41E9-9C7E-F03A47BADCBB}"/>
              </a:ext>
            </a:extLst>
          </p:cNvPr>
          <p:cNvSpPr>
            <a:spLocks noGrp="1"/>
          </p:cNvSpPr>
          <p:nvPr/>
        </p:nvSpPr>
        <p:spPr>
          <a:xfrm>
            <a:off x="666750" y="1733550"/>
            <a:ext cx="7334250" cy="704850"/>
          </a:xfrm>
          <a:prstGeom prst="rect">
            <a:avLst/>
          </a:prstGeom>
          <a:noFill/>
          <a:ln w="0">
            <a:noFill/>
            <a:prstDash val="solid"/>
          </a:ln>
        </p:spPr>
        <p:txBody>
          <a:bodyPr anchor="t"/>
          <a:lstStyle/>
          <a:p>
            <a:pPr algn="l">
              <a:defRPr sz="4350" b="1" i="0">
                <a:solidFill>
                  <a:srgbClr val="08065C"/>
                </a:solidFill>
              </a:defRPr>
            </a:pPr>
            <a:r>
              <a:rPr sz="4350" b="1" i="0">
                <a:solidFill>
                  <a:srgbClr val="08065C"/>
                </a:solidFill>
              </a:rPr>
              <a:t>AusHabitat</a:t>
            </a:r>
          </a:p>
        </p:txBody>
      </p:sp>
      <p:sp>
        <p:nvSpPr>
          <p:cNvPr id="4" name="Rectangle 3">
            <a:extLst>
              <a:ext uri="{FF2B5EF4-FFF2-40B4-BE49-F238E27FC236}">
                <a16:creationId xmlns:a16="http://schemas.microsoft.com/office/drawing/2014/main" id="{9CFD2DD5-D5FE-45A6-99FF-AD53D61FA4F4}"/>
              </a:ext>
            </a:extLst>
          </p:cNvPr>
          <p:cNvSpPr>
            <a:spLocks noGrp="1"/>
          </p:cNvSpPr>
          <p:nvPr/>
        </p:nvSpPr>
        <p:spPr>
          <a:xfrm>
            <a:off x="666750" y="2476500"/>
            <a:ext cx="8858250" cy="590550"/>
          </a:xfrm>
          <a:prstGeom prst="rect">
            <a:avLst/>
          </a:prstGeom>
          <a:noFill/>
          <a:ln w="0">
            <a:noFill/>
            <a:prstDash val="solid"/>
          </a:ln>
        </p:spPr>
        <p:txBody>
          <a:bodyPr anchor="t"/>
          <a:lstStyle/>
          <a:p>
            <a:pPr algn="l">
              <a:defRPr sz="2400" b="1" i="0">
                <a:solidFill>
                  <a:srgbClr val="18232B"/>
                </a:solidFill>
              </a:defRPr>
            </a:pPr>
            <a:r>
              <a:rPr sz="2400" b="1" i="0">
                <a:solidFill>
                  <a:srgbClr val="18232B"/>
                </a:solidFill>
              </a:rPr>
              <a:t>AI-Powered Monitoring of Landscape Change</a:t>
            </a:r>
          </a:p>
        </p:txBody>
      </p:sp>
      <p:sp>
        <p:nvSpPr>
          <p:cNvPr id="5" name="Rectangle 4">
            <a:extLst>
              <a:ext uri="{FF2B5EF4-FFF2-40B4-BE49-F238E27FC236}">
                <a16:creationId xmlns:a16="http://schemas.microsoft.com/office/drawing/2014/main" id="{F33347D9-D495-4A84-9379-EC4E2970B157}"/>
              </a:ext>
            </a:extLst>
          </p:cNvPr>
          <p:cNvSpPr>
            <a:spLocks noGrp="1"/>
          </p:cNvSpPr>
          <p:nvPr/>
        </p:nvSpPr>
        <p:spPr>
          <a:xfrm>
            <a:off x="666750" y="3543300"/>
            <a:ext cx="5905500" cy="361950"/>
          </a:xfrm>
          <a:prstGeom prst="rect">
            <a:avLst/>
          </a:prstGeom>
          <a:noFill/>
          <a:ln w="0">
            <a:noFill/>
            <a:prstDash val="solid"/>
          </a:ln>
        </p:spPr>
        <p:txBody>
          <a:bodyPr anchor="t"/>
          <a:lstStyle/>
          <a:p>
            <a:pPr algn="l">
              <a:defRPr sz="1575" b="0" i="0">
                <a:solidFill>
                  <a:srgbClr val="147D70"/>
                </a:solidFill>
              </a:defRPr>
            </a:pPr>
            <a:r>
              <a:rPr sz="1575" b="0" i="0">
                <a:solidFill>
                  <a:srgbClr val="147D70"/>
                </a:solidFill>
              </a:rPr>
              <a:t>Bass Coast prototype · 2017–2024</a:t>
            </a:r>
          </a:p>
        </p:txBody>
      </p:sp>
      <p:sp>
        <p:nvSpPr>
          <p:cNvPr id="7" name="Rectangle 6">
            <a:extLst>
              <a:ext uri="{FF2B5EF4-FFF2-40B4-BE49-F238E27FC236}">
                <a16:creationId xmlns:a16="http://schemas.microsoft.com/office/drawing/2014/main" id="{4178CD69-3A55-40A3-8F84-1EAA0120AB81}"/>
              </a:ext>
            </a:extLst>
          </p:cNvPr>
          <p:cNvSpPr>
            <a:spLocks noGrp="1"/>
          </p:cNvSpPr>
          <p:nvPr/>
        </p:nvSpPr>
        <p:spPr>
          <a:xfrm>
            <a:off x="666750" y="2971800"/>
            <a:ext cx="7239000" cy="685800"/>
          </a:xfrm>
          <a:prstGeom prst="rect">
            <a:avLst/>
          </a:prstGeom>
          <a:noFill/>
          <a:ln w="0">
            <a:noFill/>
            <a:prstDash val="solid"/>
          </a:ln>
        </p:spPr>
        <p:txBody>
          <a:bodyPr anchor="t"/>
          <a:lstStyle/>
          <a:p>
            <a:pPr algn="l">
              <a:defRPr sz="1500" b="0" i="0">
                <a:solidFill>
                  <a:srgbClr val="5E6B75"/>
                </a:solidFill>
              </a:defRPr>
            </a:pPr>
            <a:r>
              <a:rPr sz="1500" b="0" i="0" dirty="0">
                <a:solidFill>
                  <a:srgbClr val="5E6B75"/>
                </a:solidFill>
              </a:rPr>
              <a:t>From AI-derived satellite signals to explorable land-cover and vegetation evidence</a:t>
            </a:r>
          </a:p>
        </p:txBody>
      </p:sp>
      <p:pic>
        <p:nvPicPr>
          <p:cNvPr id="18" name="Picture 17"/>
          <p:cNvPicPr>
            <a:picLocks noChangeAspect="1"/>
          </p:cNvPicPr>
          <p:nvPr/>
        </p:nvPicPr>
        <p:blipFill>
          <a:blip r:embed="rId4"/>
          <a:srcRect l="22354" r="22354"/>
          <a:stretch>
            <a:fillRect/>
          </a:stretch>
        </p:blipFill>
        <p:spPr>
          <a:xfrm>
            <a:off x="8096250" y="1028700"/>
            <a:ext cx="3429000" cy="4476750"/>
          </a:xfrm>
          <a:prstGeom prst="roundRect">
            <a:avLst>
              <a:gd name="adj" fmla="val 2222"/>
            </a:avLst>
          </a:prstGeom>
        </p:spPr>
      </p:pic>
      <p:sp>
        <p:nvSpPr>
          <p:cNvPr id="9" name="Rectangle 8">
            <a:extLst>
              <a:ext uri="{FF2B5EF4-FFF2-40B4-BE49-F238E27FC236}">
                <a16:creationId xmlns:a16="http://schemas.microsoft.com/office/drawing/2014/main" id="{1B393143-4B8D-49DE-9167-F70E5EBDD5C2}"/>
              </a:ext>
            </a:extLst>
          </p:cNvPr>
          <p:cNvSpPr>
            <a:spLocks noGrp="1"/>
          </p:cNvSpPr>
          <p:nvPr/>
        </p:nvSpPr>
        <p:spPr>
          <a:xfrm>
            <a:off x="8096250" y="5638800"/>
            <a:ext cx="3429000" cy="47625"/>
          </a:xfrm>
          <a:prstGeom prst="rect">
            <a:avLst/>
          </a:prstGeom>
          <a:solidFill>
            <a:srgbClr val="D4872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50216E0C-CE98-4BB3-AE03-B478CE98F314}"/>
              </a:ext>
            </a:extLst>
          </p:cNvPr>
          <p:cNvSpPr>
            <a:spLocks noGrp="1"/>
          </p:cNvSpPr>
          <p:nvPr/>
        </p:nvSpPr>
        <p:spPr>
          <a:xfrm>
            <a:off x="9525000" y="6057900"/>
            <a:ext cx="2000250" cy="228600"/>
          </a:xfrm>
          <a:prstGeom prst="rect">
            <a:avLst/>
          </a:prstGeom>
          <a:noFill/>
          <a:ln w="0">
            <a:noFill/>
            <a:prstDash val="solid"/>
          </a:ln>
        </p:spPr>
        <p:txBody>
          <a:bodyPr anchor="t"/>
          <a:lstStyle/>
          <a:p>
            <a:pPr algn="r">
              <a:defRPr sz="900" b="1" i="0">
                <a:solidFill>
                  <a:srgbClr val="147D70"/>
                </a:solidFill>
              </a:defRPr>
            </a:pPr>
            <a:r>
              <a:rPr sz="900" b="1" i="0">
                <a:solidFill>
                  <a:srgbClr val="147D70"/>
                </a:solidFill>
              </a:rPr>
              <a:t>CURRENT CHECKPOINT</a:t>
            </a:r>
          </a:p>
        </p:txBody>
      </p:sp>
      <p:pic>
        <p:nvPicPr>
          <p:cNvPr id="2" name="Picture 1">
            <a:extLst>
              <a:ext uri="{FF2B5EF4-FFF2-40B4-BE49-F238E27FC236}">
                <a16:creationId xmlns:a16="http://schemas.microsoft.com/office/drawing/2014/main" id="{32AE74C4-C142-2D3A-7A97-64FE6BC94966}"/>
              </a:ext>
            </a:extLst>
          </p:cNvPr>
          <p:cNvPicPr>
            <a:picLocks noChangeAspect="1"/>
          </p:cNvPicPr>
          <p:nvPr/>
        </p:nvPicPr>
        <p:blipFill>
          <a:blip r:embed="rId5"/>
          <a:stretch>
            <a:fillRect/>
          </a:stretch>
        </p:blipFill>
        <p:spPr>
          <a:xfrm>
            <a:off x="7023100" y="764928"/>
            <a:ext cx="5003800" cy="546100"/>
          </a:xfrm>
          <a:prstGeom prst="rect">
            <a:avLst/>
          </a:prstGeom>
        </p:spPr>
      </p:pic>
    </p:spTree>
    <p:extLst>
      <p:ext uri="{BB962C8B-B14F-4D97-AF65-F5344CB8AC3E}">
        <p14:creationId xmlns:p14="http://schemas.microsoft.com/office/powerpoint/2010/main" val="1808587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DB68075-1120-4078-84CD-A7FC311EFCC4}"/>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PROBLEM</a:t>
            </a:r>
          </a:p>
        </p:txBody>
      </p:sp>
      <p:sp>
        <p:nvSpPr>
          <p:cNvPr id="2" name="slide-2-title">
            <a:extLst>
              <a:ext uri="{FF2B5EF4-FFF2-40B4-BE49-F238E27FC236}">
                <a16:creationId xmlns:a16="http://schemas.microsoft.com/office/drawing/2014/main" id="{1FDBA281-F7C0-4460-9381-A5BF462E8F48}"/>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Landscape change is continuous; evidence is fragmented</a:t>
            </a:r>
          </a:p>
        </p:txBody>
      </p:sp>
      <p:sp>
        <p:nvSpPr>
          <p:cNvPr id="3" name="Straight Connector 2">
            <a:extLst>
              <a:ext uri="{FF2B5EF4-FFF2-40B4-BE49-F238E27FC236}">
                <a16:creationId xmlns:a16="http://schemas.microsoft.com/office/drawing/2014/main" id="{C09CE4EA-4EBE-4BDF-AAA7-7F8711FA1870}"/>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493FEF8F-9196-486C-B6AB-7C7C1F458C01}"/>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02</a:t>
            </a:r>
          </a:p>
        </p:txBody>
      </p:sp>
      <p:pic>
        <p:nvPicPr>
          <p:cNvPr id="21" name="Picture 20"/>
          <p:cNvPicPr>
            <a:picLocks noChangeAspect="1"/>
          </p:cNvPicPr>
          <p:nvPr/>
        </p:nvPicPr>
        <p:blipFill>
          <a:blip r:embed="rId3"/>
          <a:srcRect t="4361" b="4361"/>
          <a:stretch>
            <a:fillRect/>
          </a:stretch>
        </p:blipFill>
        <p:spPr>
          <a:xfrm>
            <a:off x="609600" y="1524000"/>
            <a:ext cx="5810250" cy="4238625"/>
          </a:xfrm>
          <a:prstGeom prst="roundRect">
            <a:avLst>
              <a:gd name="adj" fmla="val 1798"/>
            </a:avLst>
          </a:prstGeom>
        </p:spPr>
      </p:pic>
      <p:sp>
        <p:nvSpPr>
          <p:cNvPr id="6" name="Straight Connector 5">
            <a:extLst>
              <a:ext uri="{FF2B5EF4-FFF2-40B4-BE49-F238E27FC236}">
                <a16:creationId xmlns:a16="http://schemas.microsoft.com/office/drawing/2014/main" id="{5541A0C0-63FB-4C69-B969-10838EB62A15}"/>
              </a:ext>
            </a:extLst>
          </p:cNvPr>
          <p:cNvSpPr>
            <a:spLocks noGrp="1"/>
          </p:cNvSpPr>
          <p:nvPr/>
        </p:nvSpPr>
        <p:spPr>
          <a:xfrm>
            <a:off x="6896100" y="1733550"/>
            <a:ext cx="228600" cy="0"/>
          </a:xfrm>
          <a:prstGeom prst="line">
            <a:avLst/>
          </a:prstGeom>
          <a:noFill/>
          <a:ln w="38100">
            <a:solidFill>
              <a:srgbClr val="D48728"/>
            </a:solidFill>
            <a:prstDash val="solid"/>
          </a:ln>
        </p:spPr>
        <p:txBody>
          <a:bodyPr/>
          <a:lstStyle/>
          <a:p>
            <a:endParaRPr lang="en-US"/>
          </a:p>
        </p:txBody>
      </p:sp>
      <p:sp>
        <p:nvSpPr>
          <p:cNvPr id="7" name="Rectangle 6">
            <a:extLst>
              <a:ext uri="{FF2B5EF4-FFF2-40B4-BE49-F238E27FC236}">
                <a16:creationId xmlns:a16="http://schemas.microsoft.com/office/drawing/2014/main" id="{425E499C-D8EE-4932-B8B0-7AC0B3127A3B}"/>
              </a:ext>
            </a:extLst>
          </p:cNvPr>
          <p:cNvSpPr>
            <a:spLocks noGrp="1"/>
          </p:cNvSpPr>
          <p:nvPr/>
        </p:nvSpPr>
        <p:spPr>
          <a:xfrm>
            <a:off x="7219950" y="1600200"/>
            <a:ext cx="3486150" cy="266700"/>
          </a:xfrm>
          <a:prstGeom prst="rect">
            <a:avLst/>
          </a:prstGeom>
          <a:noFill/>
          <a:ln w="0">
            <a:noFill/>
            <a:prstDash val="solid"/>
          </a:ln>
        </p:spPr>
        <p:txBody>
          <a:bodyPr anchor="t"/>
          <a:lstStyle/>
          <a:p>
            <a:pPr algn="l">
              <a:defRPr sz="975" b="1" i="0">
                <a:solidFill>
                  <a:srgbClr val="D48728"/>
                </a:solidFill>
              </a:defRPr>
            </a:pPr>
            <a:r>
              <a:rPr sz="1200" b="1" i="0" dirty="0">
                <a:solidFill>
                  <a:srgbClr val="D48728"/>
                </a:solidFill>
              </a:rPr>
              <a:t>THE MONITORING CHALLENGE</a:t>
            </a:r>
          </a:p>
        </p:txBody>
      </p:sp>
      <p:sp>
        <p:nvSpPr>
          <p:cNvPr id="8" name="Oval 7">
            <a:extLst>
              <a:ext uri="{FF2B5EF4-FFF2-40B4-BE49-F238E27FC236}">
                <a16:creationId xmlns:a16="http://schemas.microsoft.com/office/drawing/2014/main" id="{9A87B118-6E95-47A3-8DBD-421A04C38FE9}"/>
              </a:ext>
            </a:extLst>
          </p:cNvPr>
          <p:cNvSpPr>
            <a:spLocks noGrp="1"/>
          </p:cNvSpPr>
          <p:nvPr/>
        </p:nvSpPr>
        <p:spPr>
          <a:xfrm>
            <a:off x="6896100" y="2181225"/>
            <a:ext cx="76200" cy="76200"/>
          </a:xfrm>
          <a:prstGeom prst="ellipse">
            <a:avLst/>
          </a:prstGeom>
          <a:solidFill>
            <a:srgbClr val="D48728"/>
          </a:solidFill>
          <a:ln w="0">
            <a:noFill/>
            <a:prstDash val="solid"/>
          </a:ln>
        </p:spPr>
        <p:txBody>
          <a:bodyPr/>
          <a:lstStyle/>
          <a:p>
            <a:endParaRPr lang="en-US"/>
          </a:p>
        </p:txBody>
      </p:sp>
      <p:sp>
        <p:nvSpPr>
          <p:cNvPr id="9" name="Rectangle 8">
            <a:extLst>
              <a:ext uri="{FF2B5EF4-FFF2-40B4-BE49-F238E27FC236}">
                <a16:creationId xmlns:a16="http://schemas.microsoft.com/office/drawing/2014/main" id="{2EE8ABAF-0A6F-4124-AB82-1AAF154671B3}"/>
              </a:ext>
            </a:extLst>
          </p:cNvPr>
          <p:cNvSpPr>
            <a:spLocks noGrp="1"/>
          </p:cNvSpPr>
          <p:nvPr/>
        </p:nvSpPr>
        <p:spPr>
          <a:xfrm>
            <a:off x="7105650" y="2095500"/>
            <a:ext cx="4267200" cy="704850"/>
          </a:xfrm>
          <a:prstGeom prst="rect">
            <a:avLst/>
          </a:prstGeom>
          <a:noFill/>
          <a:ln w="0">
            <a:noFill/>
            <a:prstDash val="solid"/>
          </a:ln>
        </p:spPr>
        <p:txBody>
          <a:bodyPr anchor="t"/>
          <a:lstStyle/>
          <a:p>
            <a:pPr algn="l">
              <a:defRPr sz="1575" b="0" i="0">
                <a:solidFill>
                  <a:srgbClr val="18232B"/>
                </a:solidFill>
              </a:defRPr>
            </a:pPr>
            <a:r>
              <a:rPr sz="1575" b="0" i="0">
                <a:solidFill>
                  <a:srgbClr val="18232B"/>
                </a:solidFill>
              </a:rPr>
              <a:t>Change may be abrupt, gradual, repeated or temporary.</a:t>
            </a:r>
          </a:p>
        </p:txBody>
      </p:sp>
      <p:sp>
        <p:nvSpPr>
          <p:cNvPr id="10" name="Oval 9">
            <a:extLst>
              <a:ext uri="{FF2B5EF4-FFF2-40B4-BE49-F238E27FC236}">
                <a16:creationId xmlns:a16="http://schemas.microsoft.com/office/drawing/2014/main" id="{AF4949B2-DD82-4F78-8E2E-9CAFCCF59B34}"/>
              </a:ext>
            </a:extLst>
          </p:cNvPr>
          <p:cNvSpPr>
            <a:spLocks noGrp="1"/>
          </p:cNvSpPr>
          <p:nvPr/>
        </p:nvSpPr>
        <p:spPr>
          <a:xfrm>
            <a:off x="6896100" y="2924175"/>
            <a:ext cx="76200" cy="76200"/>
          </a:xfrm>
          <a:prstGeom prst="ellipse">
            <a:avLst/>
          </a:prstGeom>
          <a:solidFill>
            <a:srgbClr val="D4872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6B2BB5E1-9BE3-41F9-A1D6-C461E6E8F45A}"/>
              </a:ext>
            </a:extLst>
          </p:cNvPr>
          <p:cNvSpPr>
            <a:spLocks noGrp="1"/>
          </p:cNvSpPr>
          <p:nvPr/>
        </p:nvSpPr>
        <p:spPr>
          <a:xfrm>
            <a:off x="7105650" y="2838450"/>
            <a:ext cx="4267200" cy="704850"/>
          </a:xfrm>
          <a:prstGeom prst="rect">
            <a:avLst/>
          </a:prstGeom>
          <a:noFill/>
          <a:ln w="0">
            <a:noFill/>
            <a:prstDash val="solid"/>
          </a:ln>
        </p:spPr>
        <p:txBody>
          <a:bodyPr anchor="t"/>
          <a:lstStyle/>
          <a:p>
            <a:pPr algn="l">
              <a:defRPr sz="1575" b="0" i="0">
                <a:solidFill>
                  <a:srgbClr val="18232B"/>
                </a:solidFill>
              </a:defRPr>
            </a:pPr>
            <a:r>
              <a:rPr sz="1575" b="0" i="0">
                <a:solidFill>
                  <a:srgbClr val="18232B"/>
                </a:solidFill>
              </a:rPr>
              <a:t>The strongest signals are scattered across a very large map grid.</a:t>
            </a:r>
          </a:p>
        </p:txBody>
      </p:sp>
      <p:sp>
        <p:nvSpPr>
          <p:cNvPr id="12" name="Oval 11">
            <a:extLst>
              <a:ext uri="{FF2B5EF4-FFF2-40B4-BE49-F238E27FC236}">
                <a16:creationId xmlns:a16="http://schemas.microsoft.com/office/drawing/2014/main" id="{78EFD6CD-45B8-4363-9568-CB9E5C27A1E7}"/>
              </a:ext>
            </a:extLst>
          </p:cNvPr>
          <p:cNvSpPr>
            <a:spLocks noGrp="1"/>
          </p:cNvSpPr>
          <p:nvPr/>
        </p:nvSpPr>
        <p:spPr>
          <a:xfrm>
            <a:off x="6896100" y="3667125"/>
            <a:ext cx="76200" cy="76200"/>
          </a:xfrm>
          <a:prstGeom prst="ellipse">
            <a:avLst/>
          </a:prstGeom>
          <a:solidFill>
            <a:srgbClr val="D48728"/>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83E9EDB7-607F-457B-9770-A95582F7FC77}"/>
              </a:ext>
            </a:extLst>
          </p:cNvPr>
          <p:cNvSpPr>
            <a:spLocks noGrp="1"/>
          </p:cNvSpPr>
          <p:nvPr/>
        </p:nvSpPr>
        <p:spPr>
          <a:xfrm>
            <a:off x="7105650" y="3581400"/>
            <a:ext cx="4267200" cy="704850"/>
          </a:xfrm>
          <a:prstGeom prst="rect">
            <a:avLst/>
          </a:prstGeom>
          <a:noFill/>
          <a:ln w="0">
            <a:noFill/>
            <a:prstDash val="solid"/>
          </a:ln>
        </p:spPr>
        <p:txBody>
          <a:bodyPr anchor="t"/>
          <a:lstStyle/>
          <a:p>
            <a:pPr algn="l">
              <a:defRPr sz="1575" b="0" i="0">
                <a:solidFill>
                  <a:srgbClr val="18232B"/>
                </a:solidFill>
              </a:defRPr>
            </a:pPr>
            <a:r>
              <a:rPr sz="1575" b="0" i="0">
                <a:solidFill>
                  <a:srgbClr val="18232B"/>
                </a:solidFill>
              </a:rPr>
              <a:t>Detection alone does not explain the land-cover or vegetation context.</a:t>
            </a:r>
          </a:p>
        </p:txBody>
      </p:sp>
      <p:sp>
        <p:nvSpPr>
          <p:cNvPr id="14" name="Oval 13">
            <a:extLst>
              <a:ext uri="{FF2B5EF4-FFF2-40B4-BE49-F238E27FC236}">
                <a16:creationId xmlns:a16="http://schemas.microsoft.com/office/drawing/2014/main" id="{EE83EDEC-A849-4EF9-A9A6-738B720F77F1}"/>
              </a:ext>
            </a:extLst>
          </p:cNvPr>
          <p:cNvSpPr>
            <a:spLocks noGrp="1"/>
          </p:cNvSpPr>
          <p:nvPr/>
        </p:nvSpPr>
        <p:spPr>
          <a:xfrm>
            <a:off x="6896100" y="4410075"/>
            <a:ext cx="76200" cy="76200"/>
          </a:xfrm>
          <a:prstGeom prst="ellipse">
            <a:avLst/>
          </a:prstGeom>
          <a:solidFill>
            <a:srgbClr val="D48728"/>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EB652C2B-73FA-44D9-B46E-33A66C24BF12}"/>
              </a:ext>
            </a:extLst>
          </p:cNvPr>
          <p:cNvSpPr>
            <a:spLocks noGrp="1"/>
          </p:cNvSpPr>
          <p:nvPr/>
        </p:nvSpPr>
        <p:spPr>
          <a:xfrm>
            <a:off x="7105650" y="4324350"/>
            <a:ext cx="4267200" cy="704850"/>
          </a:xfrm>
          <a:prstGeom prst="rect">
            <a:avLst/>
          </a:prstGeom>
          <a:noFill/>
          <a:ln w="0">
            <a:noFill/>
            <a:prstDash val="solid"/>
          </a:ln>
        </p:spPr>
        <p:txBody>
          <a:bodyPr anchor="t"/>
          <a:lstStyle/>
          <a:p>
            <a:pPr algn="l">
              <a:defRPr sz="1575" b="0" i="0">
                <a:solidFill>
                  <a:srgbClr val="18232B"/>
                </a:solidFill>
              </a:defRPr>
            </a:pPr>
            <a:r>
              <a:rPr sz="1575" b="0" i="0">
                <a:solidFill>
                  <a:srgbClr val="18232B"/>
                </a:solidFill>
              </a:rPr>
              <a:t>Manual review does not scale from Bass Coast to Australia.</a:t>
            </a:r>
          </a:p>
        </p:txBody>
      </p:sp>
      <p:sp>
        <p:nvSpPr>
          <p:cNvPr id="16" name="Rectangle 15">
            <a:extLst>
              <a:ext uri="{FF2B5EF4-FFF2-40B4-BE49-F238E27FC236}">
                <a16:creationId xmlns:a16="http://schemas.microsoft.com/office/drawing/2014/main" id="{C58B7364-0DFA-4CF8-90C2-CEDA568ADF29}"/>
              </a:ext>
            </a:extLst>
          </p:cNvPr>
          <p:cNvSpPr>
            <a:spLocks noGrp="1"/>
          </p:cNvSpPr>
          <p:nvPr/>
        </p:nvSpPr>
        <p:spPr>
          <a:xfrm>
            <a:off x="6896100" y="5153025"/>
            <a:ext cx="4476750" cy="571500"/>
          </a:xfrm>
          <a:prstGeom prst="rect">
            <a:avLst/>
          </a:prstGeom>
          <a:noFill/>
          <a:ln w="0">
            <a:noFill/>
            <a:prstDash val="solid"/>
          </a:ln>
        </p:spPr>
        <p:txBody>
          <a:bodyPr anchor="t"/>
          <a:lstStyle/>
          <a:p>
            <a:pPr algn="l">
              <a:defRPr sz="1650" b="1" i="0">
                <a:solidFill>
                  <a:srgbClr val="08065C"/>
                </a:solidFill>
              </a:defRPr>
            </a:pPr>
            <a:r>
              <a:rPr sz="1650" b="1" i="0" dirty="0">
                <a:solidFill>
                  <a:srgbClr val="08065C"/>
                </a:solidFill>
              </a:rPr>
              <a:t>The opportunity is to connect these separate clues into one</a:t>
            </a:r>
            <a:r>
              <a:rPr lang="en-US" sz="1650" b="1" i="0" dirty="0">
                <a:solidFill>
                  <a:srgbClr val="08065C"/>
                </a:solidFill>
              </a:rPr>
              <a:t> repeatable</a:t>
            </a:r>
            <a:r>
              <a:rPr sz="1650" b="1" i="0" dirty="0">
                <a:solidFill>
                  <a:srgbClr val="08065C"/>
                </a:solidFill>
              </a:rPr>
              <a:t> evidence workflow.</a:t>
            </a:r>
          </a:p>
        </p:txBody>
      </p:sp>
    </p:spTree>
    <p:extLst>
      <p:ext uri="{BB962C8B-B14F-4D97-AF65-F5344CB8AC3E}">
        <p14:creationId xmlns:p14="http://schemas.microsoft.com/office/powerpoint/2010/main" val="2033896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6BDF28E-DA45-4844-8679-2AE68A4BACA1}"/>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MOTIVATION</a:t>
            </a:r>
          </a:p>
        </p:txBody>
      </p:sp>
      <p:sp>
        <p:nvSpPr>
          <p:cNvPr id="2" name="slide-3-title">
            <a:extLst>
              <a:ext uri="{FF2B5EF4-FFF2-40B4-BE49-F238E27FC236}">
                <a16:creationId xmlns:a16="http://schemas.microsoft.com/office/drawing/2014/main" id="{BBAB3E7D-F775-4F63-B4EC-56C6305C4928}"/>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A single map rarely explains both where and what changed</a:t>
            </a:r>
          </a:p>
        </p:txBody>
      </p:sp>
      <p:sp>
        <p:nvSpPr>
          <p:cNvPr id="3" name="Straight Connector 2">
            <a:extLst>
              <a:ext uri="{FF2B5EF4-FFF2-40B4-BE49-F238E27FC236}">
                <a16:creationId xmlns:a16="http://schemas.microsoft.com/office/drawing/2014/main" id="{849C3737-CC57-45E2-9FC0-5641C6A4BC80}"/>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567B64E0-A4BD-4C82-8965-859BCA2C92BD}"/>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03</a:t>
            </a:r>
          </a:p>
        </p:txBody>
      </p:sp>
      <p:sp>
        <p:nvSpPr>
          <p:cNvPr id="5" name="Rounded Rectangle 4">
            <a:extLst>
              <a:ext uri="{FF2B5EF4-FFF2-40B4-BE49-F238E27FC236}">
                <a16:creationId xmlns:a16="http://schemas.microsoft.com/office/drawing/2014/main" id="{622B6A7A-CD9D-4E19-8C4C-6749CDA911AD}"/>
              </a:ext>
            </a:extLst>
          </p:cNvPr>
          <p:cNvSpPr>
            <a:spLocks noGrp="1"/>
          </p:cNvSpPr>
          <p:nvPr/>
        </p:nvSpPr>
        <p:spPr>
          <a:xfrm>
            <a:off x="609600" y="1676400"/>
            <a:ext cx="3048000" cy="3429000"/>
          </a:xfrm>
          <a:prstGeom prst="roundRect">
            <a:avLst>
              <a:gd name="adj" fmla="val 2500"/>
            </a:avLst>
          </a:prstGeom>
          <a:solidFill>
            <a:srgbClr val="E9EFF8"/>
          </a:solidFill>
          <a:ln w="9525">
            <a:solidFill>
              <a:srgbClr val="D4DDE2"/>
            </a:solidFill>
            <a:prstDash val="solid"/>
          </a:ln>
        </p:spPr>
        <p:txBody>
          <a:bodyPr/>
          <a:lstStyle/>
          <a:p>
            <a:endParaRPr lang="en-US"/>
          </a:p>
        </p:txBody>
      </p:sp>
      <p:sp>
        <p:nvSpPr>
          <p:cNvPr id="6" name="Rectangle 5">
            <a:extLst>
              <a:ext uri="{FF2B5EF4-FFF2-40B4-BE49-F238E27FC236}">
                <a16:creationId xmlns:a16="http://schemas.microsoft.com/office/drawing/2014/main" id="{0EB0D64D-EEF7-4FF1-BA3E-E11C75669751}"/>
              </a:ext>
            </a:extLst>
          </p:cNvPr>
          <p:cNvSpPr>
            <a:spLocks noGrp="1"/>
          </p:cNvSpPr>
          <p:nvPr/>
        </p:nvSpPr>
        <p:spPr>
          <a:xfrm>
            <a:off x="609600" y="1676400"/>
            <a:ext cx="3048000" cy="76200"/>
          </a:xfrm>
          <a:prstGeom prst="rect">
            <a:avLst/>
          </a:prstGeom>
          <a:solidFill>
            <a:srgbClr val="234E8A"/>
          </a:solidFill>
          <a:ln w="0">
            <a:noFill/>
            <a:prstDash val="solid"/>
          </a:ln>
        </p:spPr>
        <p:txBody>
          <a:bodyPr/>
          <a:lstStyle/>
          <a:p>
            <a:endParaRPr lang="en-US"/>
          </a:p>
        </p:txBody>
      </p:sp>
      <p:sp>
        <p:nvSpPr>
          <p:cNvPr id="7" name="Rectangle 6">
            <a:extLst>
              <a:ext uri="{FF2B5EF4-FFF2-40B4-BE49-F238E27FC236}">
                <a16:creationId xmlns:a16="http://schemas.microsoft.com/office/drawing/2014/main" id="{2A1A9AD7-DFAB-44C3-A2BC-C20814A6ED24}"/>
              </a:ext>
            </a:extLst>
          </p:cNvPr>
          <p:cNvSpPr>
            <a:spLocks noGrp="1"/>
          </p:cNvSpPr>
          <p:nvPr/>
        </p:nvSpPr>
        <p:spPr>
          <a:xfrm>
            <a:off x="857250" y="1981200"/>
            <a:ext cx="2571750" cy="400050"/>
          </a:xfrm>
          <a:prstGeom prst="rect">
            <a:avLst/>
          </a:prstGeom>
          <a:noFill/>
          <a:ln w="0">
            <a:noFill/>
            <a:prstDash val="solid"/>
          </a:ln>
        </p:spPr>
        <p:txBody>
          <a:bodyPr anchor="t"/>
          <a:lstStyle/>
          <a:p>
            <a:pPr algn="l">
              <a:defRPr sz="1800" b="1" i="0">
                <a:solidFill>
                  <a:srgbClr val="234E8A"/>
                </a:solidFill>
              </a:defRPr>
            </a:pPr>
            <a:r>
              <a:rPr sz="1800" b="1" i="0">
                <a:solidFill>
                  <a:srgbClr val="234E8A"/>
                </a:solidFill>
              </a:rPr>
              <a:t>Traditional imagery</a:t>
            </a:r>
          </a:p>
        </p:txBody>
      </p:sp>
      <p:sp>
        <p:nvSpPr>
          <p:cNvPr id="8" name="Rectangle 7">
            <a:extLst>
              <a:ext uri="{FF2B5EF4-FFF2-40B4-BE49-F238E27FC236}">
                <a16:creationId xmlns:a16="http://schemas.microsoft.com/office/drawing/2014/main" id="{62D4F674-8284-4DFA-8C37-466B6771589D}"/>
              </a:ext>
            </a:extLst>
          </p:cNvPr>
          <p:cNvSpPr>
            <a:spLocks noGrp="1"/>
          </p:cNvSpPr>
          <p:nvPr/>
        </p:nvSpPr>
        <p:spPr>
          <a:xfrm>
            <a:off x="857250" y="2647950"/>
            <a:ext cx="2571750" cy="2000250"/>
          </a:xfrm>
          <a:prstGeom prst="rect">
            <a:avLst/>
          </a:prstGeom>
          <a:noFill/>
          <a:ln w="0">
            <a:noFill/>
            <a:prstDash val="solid"/>
          </a:ln>
        </p:spPr>
        <p:txBody>
          <a:bodyPr anchor="t"/>
          <a:lstStyle/>
          <a:p>
            <a:pPr algn="l">
              <a:defRPr sz="1500" b="0" i="0">
                <a:solidFill>
                  <a:srgbClr val="18232B"/>
                </a:solidFill>
              </a:defRPr>
            </a:pPr>
            <a:r>
              <a:rPr sz="1500" b="0" i="0">
                <a:solidFill>
                  <a:srgbClr val="18232B"/>
                </a:solidFill>
              </a:rPr>
              <a:t>Rich visual detail</a:t>
            </a:r>
          </a:p>
          <a:p>
            <a:endParaRPr sz="1500" b="0" i="0">
              <a:solidFill>
                <a:srgbClr val="18232B"/>
              </a:solidFill>
            </a:endParaRPr>
          </a:p>
          <a:p>
            <a:pPr algn="l">
              <a:defRPr sz="1500" b="0" i="0">
                <a:solidFill>
                  <a:srgbClr val="18232B"/>
                </a:solidFill>
              </a:defRPr>
            </a:pPr>
            <a:r>
              <a:rPr sz="1500" b="0" i="0">
                <a:solidFill>
                  <a:srgbClr val="18232B"/>
                </a:solidFill>
              </a:rPr>
              <a:t>But expensive to inspect consistently over years and large areas.</a:t>
            </a:r>
          </a:p>
        </p:txBody>
      </p:sp>
      <p:sp>
        <p:nvSpPr>
          <p:cNvPr id="9" name="Rounded Rectangle 8">
            <a:extLst>
              <a:ext uri="{FF2B5EF4-FFF2-40B4-BE49-F238E27FC236}">
                <a16:creationId xmlns:a16="http://schemas.microsoft.com/office/drawing/2014/main" id="{1AEB45E3-0ECD-451A-B933-45CF832861DA}"/>
              </a:ext>
            </a:extLst>
          </p:cNvPr>
          <p:cNvSpPr>
            <a:spLocks noGrp="1"/>
          </p:cNvSpPr>
          <p:nvPr/>
        </p:nvSpPr>
        <p:spPr>
          <a:xfrm>
            <a:off x="4267200" y="1676400"/>
            <a:ext cx="3048000" cy="3429000"/>
          </a:xfrm>
          <a:prstGeom prst="roundRect">
            <a:avLst>
              <a:gd name="adj" fmla="val 2500"/>
            </a:avLst>
          </a:prstGeom>
          <a:solidFill>
            <a:srgbClr val="F7EAD8"/>
          </a:solidFill>
          <a:ln w="9525">
            <a:solidFill>
              <a:srgbClr val="D4DDE2"/>
            </a:solidFill>
            <a:prstDash val="solid"/>
          </a:ln>
        </p:spPr>
        <p:txBody>
          <a:bodyPr/>
          <a:lstStyle/>
          <a:p>
            <a:endParaRPr lang="en-US"/>
          </a:p>
        </p:txBody>
      </p:sp>
      <p:sp>
        <p:nvSpPr>
          <p:cNvPr id="10" name="Rectangle 9">
            <a:extLst>
              <a:ext uri="{FF2B5EF4-FFF2-40B4-BE49-F238E27FC236}">
                <a16:creationId xmlns:a16="http://schemas.microsoft.com/office/drawing/2014/main" id="{DFDE145D-ADE5-4D39-85B2-10E5505F690E}"/>
              </a:ext>
            </a:extLst>
          </p:cNvPr>
          <p:cNvSpPr>
            <a:spLocks noGrp="1"/>
          </p:cNvSpPr>
          <p:nvPr/>
        </p:nvSpPr>
        <p:spPr>
          <a:xfrm>
            <a:off x="4267200" y="1676400"/>
            <a:ext cx="3048000" cy="76200"/>
          </a:xfrm>
          <a:prstGeom prst="rect">
            <a:avLst/>
          </a:prstGeom>
          <a:solidFill>
            <a:srgbClr val="D4872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1872F937-CE91-4482-875E-B9B287C3CFB4}"/>
              </a:ext>
            </a:extLst>
          </p:cNvPr>
          <p:cNvSpPr>
            <a:spLocks noGrp="1"/>
          </p:cNvSpPr>
          <p:nvPr/>
        </p:nvSpPr>
        <p:spPr>
          <a:xfrm>
            <a:off x="4514850" y="1981200"/>
            <a:ext cx="2571750" cy="400050"/>
          </a:xfrm>
          <a:prstGeom prst="rect">
            <a:avLst/>
          </a:prstGeom>
          <a:noFill/>
          <a:ln w="0">
            <a:noFill/>
            <a:prstDash val="solid"/>
          </a:ln>
        </p:spPr>
        <p:txBody>
          <a:bodyPr anchor="t"/>
          <a:lstStyle/>
          <a:p>
            <a:pPr algn="l">
              <a:defRPr sz="1800" b="1" i="0">
                <a:solidFill>
                  <a:srgbClr val="D48728"/>
                </a:solidFill>
              </a:defRPr>
            </a:pPr>
            <a:r>
              <a:rPr sz="1800" b="1" i="0">
                <a:solidFill>
                  <a:srgbClr val="D48728"/>
                </a:solidFill>
              </a:rPr>
              <a:t>AI change signal</a:t>
            </a:r>
          </a:p>
        </p:txBody>
      </p:sp>
      <p:sp>
        <p:nvSpPr>
          <p:cNvPr id="12" name="Rectangle 11">
            <a:extLst>
              <a:ext uri="{FF2B5EF4-FFF2-40B4-BE49-F238E27FC236}">
                <a16:creationId xmlns:a16="http://schemas.microsoft.com/office/drawing/2014/main" id="{32F51B84-D773-4C55-91C0-9C6A41A3A97F}"/>
              </a:ext>
            </a:extLst>
          </p:cNvPr>
          <p:cNvSpPr>
            <a:spLocks noGrp="1"/>
          </p:cNvSpPr>
          <p:nvPr/>
        </p:nvSpPr>
        <p:spPr>
          <a:xfrm>
            <a:off x="4514850" y="2647950"/>
            <a:ext cx="2571750" cy="2000250"/>
          </a:xfrm>
          <a:prstGeom prst="rect">
            <a:avLst/>
          </a:prstGeom>
          <a:noFill/>
          <a:ln w="0">
            <a:noFill/>
            <a:prstDash val="solid"/>
          </a:ln>
        </p:spPr>
        <p:txBody>
          <a:bodyPr anchor="t"/>
          <a:lstStyle/>
          <a:p>
            <a:pPr algn="l">
              <a:defRPr sz="1500" b="0" i="0">
                <a:solidFill>
                  <a:srgbClr val="18232B"/>
                </a:solidFill>
              </a:defRPr>
            </a:pPr>
            <a:r>
              <a:rPr sz="1500" b="0" i="0">
                <a:solidFill>
                  <a:srgbClr val="18232B"/>
                </a:solidFill>
              </a:rPr>
              <a:t>Highlights unusual landscape-signal change</a:t>
            </a:r>
          </a:p>
          <a:p>
            <a:endParaRPr sz="1500" b="0" i="0">
              <a:solidFill>
                <a:srgbClr val="18232B"/>
              </a:solidFill>
            </a:endParaRPr>
          </a:p>
          <a:p>
            <a:pPr algn="l">
              <a:defRPr sz="1500" b="0" i="0">
                <a:solidFill>
                  <a:srgbClr val="18232B"/>
                </a:solidFill>
              </a:defRPr>
            </a:pPr>
            <a:r>
              <a:rPr sz="1500" b="0" i="0">
                <a:solidFill>
                  <a:srgbClr val="18232B"/>
                </a:solidFill>
              </a:rPr>
              <a:t>But the 64 learned dimensions are not semantic labels.</a:t>
            </a:r>
          </a:p>
        </p:txBody>
      </p:sp>
      <p:sp>
        <p:nvSpPr>
          <p:cNvPr id="13" name="Rounded Rectangle 12">
            <a:extLst>
              <a:ext uri="{FF2B5EF4-FFF2-40B4-BE49-F238E27FC236}">
                <a16:creationId xmlns:a16="http://schemas.microsoft.com/office/drawing/2014/main" id="{A8A54651-EA9C-4B30-A386-504D19A1A366}"/>
              </a:ext>
            </a:extLst>
          </p:cNvPr>
          <p:cNvSpPr>
            <a:spLocks noGrp="1"/>
          </p:cNvSpPr>
          <p:nvPr/>
        </p:nvSpPr>
        <p:spPr>
          <a:xfrm>
            <a:off x="7924800" y="1676400"/>
            <a:ext cx="3048000" cy="3429000"/>
          </a:xfrm>
          <a:prstGeom prst="roundRect">
            <a:avLst>
              <a:gd name="adj" fmla="val 2500"/>
            </a:avLst>
          </a:prstGeom>
          <a:solidFill>
            <a:srgbClr val="DDEFEA"/>
          </a:solidFill>
          <a:ln w="9525">
            <a:solidFill>
              <a:srgbClr val="D4DDE2"/>
            </a:solidFill>
            <a:prstDash val="solid"/>
          </a:ln>
        </p:spPr>
        <p:txBody>
          <a:bodyPr/>
          <a:lstStyle/>
          <a:p>
            <a:endParaRPr lang="en-US"/>
          </a:p>
        </p:txBody>
      </p:sp>
      <p:sp>
        <p:nvSpPr>
          <p:cNvPr id="14" name="Rectangle 13">
            <a:extLst>
              <a:ext uri="{FF2B5EF4-FFF2-40B4-BE49-F238E27FC236}">
                <a16:creationId xmlns:a16="http://schemas.microsoft.com/office/drawing/2014/main" id="{B2BC1829-FEB5-4B5A-87D8-B0F31D082202}"/>
              </a:ext>
            </a:extLst>
          </p:cNvPr>
          <p:cNvSpPr>
            <a:spLocks noGrp="1"/>
          </p:cNvSpPr>
          <p:nvPr/>
        </p:nvSpPr>
        <p:spPr>
          <a:xfrm>
            <a:off x="7924800" y="1676400"/>
            <a:ext cx="3048000" cy="76200"/>
          </a:xfrm>
          <a:prstGeom prst="rect">
            <a:avLst/>
          </a:prstGeom>
          <a:solidFill>
            <a:srgbClr val="147D70"/>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F32615DA-BA27-49E5-BF26-5535509F00AA}"/>
              </a:ext>
            </a:extLst>
          </p:cNvPr>
          <p:cNvSpPr>
            <a:spLocks noGrp="1"/>
          </p:cNvSpPr>
          <p:nvPr/>
        </p:nvSpPr>
        <p:spPr>
          <a:xfrm>
            <a:off x="8172450" y="1981200"/>
            <a:ext cx="2571750" cy="400050"/>
          </a:xfrm>
          <a:prstGeom prst="rect">
            <a:avLst/>
          </a:prstGeom>
          <a:noFill/>
          <a:ln w="0">
            <a:noFill/>
            <a:prstDash val="solid"/>
          </a:ln>
        </p:spPr>
        <p:txBody>
          <a:bodyPr anchor="t"/>
          <a:lstStyle/>
          <a:p>
            <a:pPr algn="l">
              <a:defRPr sz="1800" b="1" i="0">
                <a:solidFill>
                  <a:srgbClr val="147D70"/>
                </a:solidFill>
              </a:defRPr>
            </a:pPr>
            <a:r>
              <a:rPr sz="1800" b="1" i="0">
                <a:solidFill>
                  <a:srgbClr val="147D70"/>
                </a:solidFill>
              </a:rPr>
              <a:t>Context layers</a:t>
            </a:r>
          </a:p>
        </p:txBody>
      </p:sp>
      <p:sp>
        <p:nvSpPr>
          <p:cNvPr id="16" name="Rectangle 15">
            <a:extLst>
              <a:ext uri="{FF2B5EF4-FFF2-40B4-BE49-F238E27FC236}">
                <a16:creationId xmlns:a16="http://schemas.microsoft.com/office/drawing/2014/main" id="{B72E50E1-09AB-4A9F-A3B7-86697B0CB355}"/>
              </a:ext>
            </a:extLst>
          </p:cNvPr>
          <p:cNvSpPr>
            <a:spLocks noGrp="1"/>
          </p:cNvSpPr>
          <p:nvPr/>
        </p:nvSpPr>
        <p:spPr>
          <a:xfrm>
            <a:off x="8172450" y="2647950"/>
            <a:ext cx="2571750" cy="2000250"/>
          </a:xfrm>
          <a:prstGeom prst="rect">
            <a:avLst/>
          </a:prstGeom>
          <a:noFill/>
          <a:ln w="0">
            <a:noFill/>
            <a:prstDash val="solid"/>
          </a:ln>
        </p:spPr>
        <p:txBody>
          <a:bodyPr anchor="t"/>
          <a:lstStyle/>
          <a:p>
            <a:pPr algn="l">
              <a:defRPr sz="1500" b="0" i="0">
                <a:solidFill>
                  <a:srgbClr val="18232B"/>
                </a:solidFill>
              </a:defRPr>
            </a:pPr>
            <a:r>
              <a:rPr sz="1500" b="0" i="0">
                <a:solidFill>
                  <a:srgbClr val="18232B"/>
                </a:solidFill>
              </a:rPr>
              <a:t>Provides land-cover classes and vegetation direction</a:t>
            </a:r>
          </a:p>
          <a:p>
            <a:endParaRPr sz="1500" b="0" i="0">
              <a:solidFill>
                <a:srgbClr val="18232B"/>
              </a:solidFill>
            </a:endParaRPr>
          </a:p>
          <a:p>
            <a:pPr algn="l">
              <a:defRPr sz="1500" b="0" i="0">
                <a:solidFill>
                  <a:srgbClr val="18232B"/>
                </a:solidFill>
              </a:defRPr>
            </a:pPr>
            <a:r>
              <a:rPr sz="1500" b="0" i="0">
                <a:solidFill>
                  <a:srgbClr val="18232B"/>
                </a:solidFill>
              </a:rPr>
              <a:t>But may miss subtler structural or textural change.</a:t>
            </a:r>
          </a:p>
        </p:txBody>
      </p:sp>
      <p:sp>
        <p:nvSpPr>
          <p:cNvPr id="17" name="Rectangle 16">
            <a:extLst>
              <a:ext uri="{FF2B5EF4-FFF2-40B4-BE49-F238E27FC236}">
                <a16:creationId xmlns:a16="http://schemas.microsoft.com/office/drawing/2014/main" id="{D791A6F3-C956-409F-B2D2-73D484451C27}"/>
              </a:ext>
            </a:extLst>
          </p:cNvPr>
          <p:cNvSpPr>
            <a:spLocks noGrp="1"/>
          </p:cNvSpPr>
          <p:nvPr/>
        </p:nvSpPr>
        <p:spPr>
          <a:xfrm>
            <a:off x="1314450" y="5505450"/>
            <a:ext cx="9563100" cy="552450"/>
          </a:xfrm>
          <a:prstGeom prst="rect">
            <a:avLst/>
          </a:prstGeom>
          <a:noFill/>
          <a:ln w="0">
            <a:noFill/>
            <a:prstDash val="solid"/>
          </a:ln>
        </p:spPr>
        <p:txBody>
          <a:bodyPr anchor="t"/>
          <a:lstStyle/>
          <a:p>
            <a:pPr algn="ctr">
              <a:defRPr sz="1800" b="1" i="0">
                <a:solidFill>
                  <a:srgbClr val="08065C"/>
                </a:solidFill>
              </a:defRPr>
            </a:pPr>
            <a:r>
              <a:rPr sz="1800" b="1" i="0">
                <a:solidFill>
                  <a:srgbClr val="08065C"/>
                </a:solidFill>
              </a:rPr>
              <a:t>AusHabitat combines them so that detection, interpretation and communication reinforce one another.</a:t>
            </a:r>
          </a:p>
        </p:txBody>
      </p:sp>
    </p:spTree>
    <p:extLst>
      <p:ext uri="{BB962C8B-B14F-4D97-AF65-F5344CB8AC3E}">
        <p14:creationId xmlns:p14="http://schemas.microsoft.com/office/powerpoint/2010/main" val="1722375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D565B59A-EF47-49F0-8514-B72E412FECC5}"/>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OVERARCHING AIM</a:t>
            </a:r>
          </a:p>
        </p:txBody>
      </p:sp>
      <p:sp>
        <p:nvSpPr>
          <p:cNvPr id="2" name="slide-4-title">
            <a:extLst>
              <a:ext uri="{FF2B5EF4-FFF2-40B4-BE49-F238E27FC236}">
                <a16:creationId xmlns:a16="http://schemas.microsoft.com/office/drawing/2014/main" id="{37228C97-006A-47D8-ACAA-F60E8EB14B72}"/>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Our aim: from change detection to interpretable evidence</a:t>
            </a:r>
          </a:p>
        </p:txBody>
      </p:sp>
      <p:sp>
        <p:nvSpPr>
          <p:cNvPr id="3" name="Straight Connector 2">
            <a:extLst>
              <a:ext uri="{FF2B5EF4-FFF2-40B4-BE49-F238E27FC236}">
                <a16:creationId xmlns:a16="http://schemas.microsoft.com/office/drawing/2014/main" id="{B28EA4CB-8674-49E6-9446-E21CF19ECE51}"/>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2D3F865A-A072-46B3-A642-86F6701699DC}"/>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04</a:t>
            </a:r>
          </a:p>
        </p:txBody>
      </p:sp>
      <p:sp>
        <p:nvSpPr>
          <p:cNvPr id="5" name="Rounded Rectangle 4">
            <a:extLst>
              <a:ext uri="{FF2B5EF4-FFF2-40B4-BE49-F238E27FC236}">
                <a16:creationId xmlns:a16="http://schemas.microsoft.com/office/drawing/2014/main" id="{E7A931F0-E58F-434F-90AE-D1589CD7A5F8}"/>
              </a:ext>
            </a:extLst>
          </p:cNvPr>
          <p:cNvSpPr>
            <a:spLocks noGrp="1"/>
          </p:cNvSpPr>
          <p:nvPr/>
        </p:nvSpPr>
        <p:spPr>
          <a:xfrm>
            <a:off x="857250" y="2381250"/>
            <a:ext cx="2095500" cy="1485900"/>
          </a:xfrm>
          <a:prstGeom prst="roundRect">
            <a:avLst>
              <a:gd name="adj" fmla="val 5128"/>
            </a:avLst>
          </a:prstGeom>
          <a:solidFill>
            <a:srgbClr val="FFFFFF"/>
          </a:solidFill>
          <a:ln w="19050">
            <a:solidFill>
              <a:srgbClr val="D48728"/>
            </a:solidFill>
            <a:prstDash val="solid"/>
          </a:ln>
        </p:spPr>
        <p:txBody>
          <a:bodyPr/>
          <a:lstStyle/>
          <a:p>
            <a:endParaRPr lang="en-US"/>
          </a:p>
        </p:txBody>
      </p:sp>
      <p:sp>
        <p:nvSpPr>
          <p:cNvPr id="6" name="Rounded Rectangle 5">
            <a:extLst>
              <a:ext uri="{FF2B5EF4-FFF2-40B4-BE49-F238E27FC236}">
                <a16:creationId xmlns:a16="http://schemas.microsoft.com/office/drawing/2014/main" id="{579112CE-9B6F-49FB-9672-9A5B2DDC7A7F}"/>
              </a:ext>
            </a:extLst>
          </p:cNvPr>
          <p:cNvSpPr>
            <a:spLocks noGrp="1"/>
          </p:cNvSpPr>
          <p:nvPr/>
        </p:nvSpPr>
        <p:spPr>
          <a:xfrm>
            <a:off x="3619500" y="2381250"/>
            <a:ext cx="2095500" cy="1485900"/>
          </a:xfrm>
          <a:prstGeom prst="roundRect">
            <a:avLst>
              <a:gd name="adj" fmla="val 5128"/>
            </a:avLst>
          </a:prstGeom>
          <a:solidFill>
            <a:srgbClr val="FFFFFF"/>
          </a:solidFill>
          <a:ln w="19050">
            <a:solidFill>
              <a:srgbClr val="AD354A"/>
            </a:solidFill>
            <a:prstDash val="solid"/>
          </a:ln>
        </p:spPr>
        <p:txBody>
          <a:bodyPr/>
          <a:lstStyle/>
          <a:p>
            <a:endParaRPr lang="en-US"/>
          </a:p>
        </p:txBody>
      </p:sp>
      <p:sp>
        <p:nvSpPr>
          <p:cNvPr id="7" name="Rounded Rectangle 6">
            <a:extLst>
              <a:ext uri="{FF2B5EF4-FFF2-40B4-BE49-F238E27FC236}">
                <a16:creationId xmlns:a16="http://schemas.microsoft.com/office/drawing/2014/main" id="{D8339B30-A79E-48D3-873A-0ED4C5DF7AC8}"/>
              </a:ext>
            </a:extLst>
          </p:cNvPr>
          <p:cNvSpPr>
            <a:spLocks noGrp="1"/>
          </p:cNvSpPr>
          <p:nvPr/>
        </p:nvSpPr>
        <p:spPr>
          <a:xfrm>
            <a:off x="6381750" y="2381250"/>
            <a:ext cx="2095500" cy="1485900"/>
          </a:xfrm>
          <a:prstGeom prst="roundRect">
            <a:avLst>
              <a:gd name="adj" fmla="val 5128"/>
            </a:avLst>
          </a:prstGeom>
          <a:solidFill>
            <a:srgbClr val="FFFFFF"/>
          </a:solidFill>
          <a:ln w="19050">
            <a:solidFill>
              <a:srgbClr val="147D70"/>
            </a:solidFill>
            <a:prstDash val="solid"/>
          </a:ln>
        </p:spPr>
        <p:txBody>
          <a:bodyPr/>
          <a:lstStyle/>
          <a:p>
            <a:endParaRPr lang="en-US"/>
          </a:p>
        </p:txBody>
      </p:sp>
      <p:sp>
        <p:nvSpPr>
          <p:cNvPr id="8" name="Rounded Rectangle 7">
            <a:extLst>
              <a:ext uri="{FF2B5EF4-FFF2-40B4-BE49-F238E27FC236}">
                <a16:creationId xmlns:a16="http://schemas.microsoft.com/office/drawing/2014/main" id="{28E9A611-DF79-4422-A85D-2BA7DBC3EA26}"/>
              </a:ext>
            </a:extLst>
          </p:cNvPr>
          <p:cNvSpPr>
            <a:spLocks noGrp="1"/>
          </p:cNvSpPr>
          <p:nvPr/>
        </p:nvSpPr>
        <p:spPr>
          <a:xfrm>
            <a:off x="9144000" y="2381250"/>
            <a:ext cx="2095500" cy="1485900"/>
          </a:xfrm>
          <a:prstGeom prst="roundRect">
            <a:avLst>
              <a:gd name="adj" fmla="val 5128"/>
            </a:avLst>
          </a:prstGeom>
          <a:solidFill>
            <a:srgbClr val="FFFFFF"/>
          </a:solidFill>
          <a:ln w="19050">
            <a:solidFill>
              <a:srgbClr val="08065C"/>
            </a:solidFill>
            <a:prstDash val="solid"/>
          </a:ln>
        </p:spPr>
        <p:txBody>
          <a:bodyPr/>
          <a:lstStyle/>
          <a:p>
            <a:endParaRPr lang="en-US"/>
          </a:p>
        </p:txBody>
      </p:sp>
      <p:cxnSp>
        <p:nvCxnSpPr>
          <p:cNvPr id="33" name="Straight Arrow Connector 32"/>
          <p:cNvCxnSpPr>
            <a:stCxn id="5" idx="3"/>
            <a:endCxn id="6" idx="1"/>
          </p:cNvCxnSpPr>
          <p:nvPr/>
        </p:nvCxnSpPr>
        <p:spPr>
          <a:xfrm>
            <a:off x="2952750" y="3124200"/>
            <a:ext cx="666750" cy="0"/>
          </a:xfrm>
          <a:prstGeom prst="straightConnector1">
            <a:avLst/>
          </a:prstGeom>
          <a:ln w="19050">
            <a:solidFill>
              <a:srgbClr val="D4DDE2"/>
            </a:solidFill>
            <a:prstDash val="solid"/>
            <a:tailEnd type="arrow" w="sm" len="sm"/>
          </a:ln>
        </p:spPr>
      </p:cxnSp>
      <p:cxnSp>
        <p:nvCxnSpPr>
          <p:cNvPr id="34" name="Straight Arrow Connector 33"/>
          <p:cNvCxnSpPr>
            <a:stCxn id="6" idx="3"/>
            <a:endCxn id="7" idx="1"/>
          </p:cNvCxnSpPr>
          <p:nvPr/>
        </p:nvCxnSpPr>
        <p:spPr>
          <a:xfrm>
            <a:off x="5715000" y="3124200"/>
            <a:ext cx="666750" cy="0"/>
          </a:xfrm>
          <a:prstGeom prst="straightConnector1">
            <a:avLst/>
          </a:prstGeom>
          <a:ln w="19050">
            <a:solidFill>
              <a:srgbClr val="D4DDE2"/>
            </a:solidFill>
            <a:prstDash val="solid"/>
            <a:tailEnd type="arrow" w="sm" len="sm"/>
          </a:ln>
        </p:spPr>
      </p:cxnSp>
      <p:cxnSp>
        <p:nvCxnSpPr>
          <p:cNvPr id="35" name="Straight Arrow Connector 34"/>
          <p:cNvCxnSpPr>
            <a:stCxn id="7" idx="3"/>
            <a:endCxn id="8" idx="1"/>
          </p:cNvCxnSpPr>
          <p:nvPr/>
        </p:nvCxnSpPr>
        <p:spPr>
          <a:xfrm>
            <a:off x="8477250" y="3124200"/>
            <a:ext cx="666750" cy="0"/>
          </a:xfrm>
          <a:prstGeom prst="straightConnector1">
            <a:avLst/>
          </a:prstGeom>
          <a:ln w="19050">
            <a:solidFill>
              <a:srgbClr val="D4DDE2"/>
            </a:solidFill>
            <a:prstDash val="solid"/>
            <a:tailEnd type="arrow" w="sm" len="sm"/>
          </a:ln>
        </p:spPr>
      </p:cxnSp>
      <p:sp>
        <p:nvSpPr>
          <p:cNvPr id="12" name="Rectangle 11">
            <a:extLst>
              <a:ext uri="{FF2B5EF4-FFF2-40B4-BE49-F238E27FC236}">
                <a16:creationId xmlns:a16="http://schemas.microsoft.com/office/drawing/2014/main" id="{92CE19D2-8C30-4403-876B-7F4E85A09509}"/>
              </a:ext>
            </a:extLst>
          </p:cNvPr>
          <p:cNvSpPr>
            <a:spLocks noGrp="1"/>
          </p:cNvSpPr>
          <p:nvPr/>
        </p:nvSpPr>
        <p:spPr>
          <a:xfrm>
            <a:off x="1028700" y="2571750"/>
            <a:ext cx="304800" cy="285750"/>
          </a:xfrm>
          <a:prstGeom prst="rect">
            <a:avLst/>
          </a:prstGeom>
          <a:noFill/>
          <a:ln w="0">
            <a:noFill/>
            <a:prstDash val="solid"/>
          </a:ln>
        </p:spPr>
        <p:txBody>
          <a:bodyPr anchor="t"/>
          <a:lstStyle/>
          <a:p>
            <a:pPr algn="l">
              <a:defRPr sz="1125" b="1" i="0">
                <a:solidFill>
                  <a:srgbClr val="D48728"/>
                </a:solidFill>
              </a:defRPr>
            </a:pPr>
            <a:r>
              <a:rPr sz="1125" b="1" i="0">
                <a:solidFill>
                  <a:srgbClr val="D48728"/>
                </a:solidFill>
              </a:rPr>
              <a:t>1</a:t>
            </a:r>
          </a:p>
        </p:txBody>
      </p:sp>
      <p:sp>
        <p:nvSpPr>
          <p:cNvPr id="13" name="Rectangle 12">
            <a:extLst>
              <a:ext uri="{FF2B5EF4-FFF2-40B4-BE49-F238E27FC236}">
                <a16:creationId xmlns:a16="http://schemas.microsoft.com/office/drawing/2014/main" id="{C1EB2BFB-7E5D-4C2F-AF69-AF356229CDE6}"/>
              </a:ext>
            </a:extLst>
          </p:cNvPr>
          <p:cNvSpPr>
            <a:spLocks noGrp="1"/>
          </p:cNvSpPr>
          <p:nvPr/>
        </p:nvSpPr>
        <p:spPr>
          <a:xfrm>
            <a:off x="1028700" y="2914650"/>
            <a:ext cx="1752600" cy="285750"/>
          </a:xfrm>
          <a:prstGeom prst="rect">
            <a:avLst/>
          </a:prstGeom>
          <a:noFill/>
          <a:ln w="0">
            <a:noFill/>
            <a:prstDash val="solid"/>
          </a:ln>
        </p:spPr>
        <p:txBody>
          <a:bodyPr anchor="t"/>
          <a:lstStyle/>
          <a:p>
            <a:pPr algn="l">
              <a:defRPr sz="1275" b="1" i="0">
                <a:solidFill>
                  <a:srgbClr val="D48728"/>
                </a:solidFill>
              </a:defRPr>
            </a:pPr>
            <a:r>
              <a:rPr sz="1275" b="1" i="0">
                <a:solidFill>
                  <a:srgbClr val="D48728"/>
                </a:solidFill>
              </a:rPr>
              <a:t>DETECT</a:t>
            </a:r>
          </a:p>
        </p:txBody>
      </p:sp>
      <p:sp>
        <p:nvSpPr>
          <p:cNvPr id="14" name="Rectangle 13">
            <a:extLst>
              <a:ext uri="{FF2B5EF4-FFF2-40B4-BE49-F238E27FC236}">
                <a16:creationId xmlns:a16="http://schemas.microsoft.com/office/drawing/2014/main" id="{53B8C558-98EF-4A5D-9193-A0094656AE4E}"/>
              </a:ext>
            </a:extLst>
          </p:cNvPr>
          <p:cNvSpPr>
            <a:spLocks noGrp="1"/>
          </p:cNvSpPr>
          <p:nvPr/>
        </p:nvSpPr>
        <p:spPr>
          <a:xfrm>
            <a:off x="1028700" y="3295650"/>
            <a:ext cx="1752600" cy="495300"/>
          </a:xfrm>
          <a:prstGeom prst="rect">
            <a:avLst/>
          </a:prstGeom>
          <a:noFill/>
          <a:ln w="0">
            <a:noFill/>
            <a:prstDash val="solid"/>
          </a:ln>
        </p:spPr>
        <p:txBody>
          <a:bodyPr anchor="t"/>
          <a:lstStyle/>
          <a:p>
            <a:pPr algn="l">
              <a:defRPr sz="1200" b="0" i="0">
                <a:solidFill>
                  <a:srgbClr val="18232B"/>
                </a:solidFill>
              </a:defRPr>
            </a:pPr>
            <a:r>
              <a:rPr sz="1200" b="0" i="0">
                <a:solidFill>
                  <a:srgbClr val="18232B"/>
                </a:solidFill>
              </a:rPr>
              <a:t>Where is the landscape signal strongest?</a:t>
            </a:r>
          </a:p>
        </p:txBody>
      </p:sp>
      <p:sp>
        <p:nvSpPr>
          <p:cNvPr id="15" name="Rectangle 14">
            <a:extLst>
              <a:ext uri="{FF2B5EF4-FFF2-40B4-BE49-F238E27FC236}">
                <a16:creationId xmlns:a16="http://schemas.microsoft.com/office/drawing/2014/main" id="{06FEF2B9-0A11-4A9A-9522-FD5C1EE06B92}"/>
              </a:ext>
            </a:extLst>
          </p:cNvPr>
          <p:cNvSpPr>
            <a:spLocks noGrp="1"/>
          </p:cNvSpPr>
          <p:nvPr/>
        </p:nvSpPr>
        <p:spPr>
          <a:xfrm>
            <a:off x="3790950" y="2571750"/>
            <a:ext cx="304800" cy="285750"/>
          </a:xfrm>
          <a:prstGeom prst="rect">
            <a:avLst/>
          </a:prstGeom>
          <a:noFill/>
          <a:ln w="0">
            <a:noFill/>
            <a:prstDash val="solid"/>
          </a:ln>
        </p:spPr>
        <p:txBody>
          <a:bodyPr anchor="t"/>
          <a:lstStyle/>
          <a:p>
            <a:pPr algn="l">
              <a:defRPr sz="1125" b="1" i="0">
                <a:solidFill>
                  <a:srgbClr val="AD354A"/>
                </a:solidFill>
              </a:defRPr>
            </a:pPr>
            <a:r>
              <a:rPr sz="1125" b="1" i="0">
                <a:solidFill>
                  <a:srgbClr val="AD354A"/>
                </a:solidFill>
              </a:rPr>
              <a:t>2</a:t>
            </a:r>
          </a:p>
        </p:txBody>
      </p:sp>
      <p:sp>
        <p:nvSpPr>
          <p:cNvPr id="16" name="Rectangle 15">
            <a:extLst>
              <a:ext uri="{FF2B5EF4-FFF2-40B4-BE49-F238E27FC236}">
                <a16:creationId xmlns:a16="http://schemas.microsoft.com/office/drawing/2014/main" id="{FA78E3DA-095D-4347-9554-AB1EE6DB76F3}"/>
              </a:ext>
            </a:extLst>
          </p:cNvPr>
          <p:cNvSpPr>
            <a:spLocks noGrp="1"/>
          </p:cNvSpPr>
          <p:nvPr/>
        </p:nvSpPr>
        <p:spPr>
          <a:xfrm>
            <a:off x="3790950" y="2914650"/>
            <a:ext cx="1752600" cy="285750"/>
          </a:xfrm>
          <a:prstGeom prst="rect">
            <a:avLst/>
          </a:prstGeom>
          <a:noFill/>
          <a:ln w="0">
            <a:noFill/>
            <a:prstDash val="solid"/>
          </a:ln>
        </p:spPr>
        <p:txBody>
          <a:bodyPr anchor="t"/>
          <a:lstStyle/>
          <a:p>
            <a:pPr algn="l">
              <a:defRPr sz="1275" b="1" i="0">
                <a:solidFill>
                  <a:srgbClr val="AD354A"/>
                </a:solidFill>
              </a:defRPr>
            </a:pPr>
            <a:r>
              <a:rPr sz="1275" b="1" i="0">
                <a:solidFill>
                  <a:srgbClr val="AD354A"/>
                </a:solidFill>
              </a:rPr>
              <a:t>CHARACTERISE</a:t>
            </a:r>
          </a:p>
        </p:txBody>
      </p:sp>
      <p:sp>
        <p:nvSpPr>
          <p:cNvPr id="17" name="Rectangle 16">
            <a:extLst>
              <a:ext uri="{FF2B5EF4-FFF2-40B4-BE49-F238E27FC236}">
                <a16:creationId xmlns:a16="http://schemas.microsoft.com/office/drawing/2014/main" id="{70E7228D-42AF-43CD-9F0B-450A12182D3C}"/>
              </a:ext>
            </a:extLst>
          </p:cNvPr>
          <p:cNvSpPr>
            <a:spLocks noGrp="1"/>
          </p:cNvSpPr>
          <p:nvPr/>
        </p:nvSpPr>
        <p:spPr>
          <a:xfrm>
            <a:off x="3790950" y="3295650"/>
            <a:ext cx="1752600" cy="495300"/>
          </a:xfrm>
          <a:prstGeom prst="rect">
            <a:avLst/>
          </a:prstGeom>
          <a:noFill/>
          <a:ln w="0">
            <a:noFill/>
            <a:prstDash val="solid"/>
          </a:ln>
        </p:spPr>
        <p:txBody>
          <a:bodyPr anchor="t"/>
          <a:lstStyle/>
          <a:p>
            <a:pPr algn="l">
              <a:defRPr sz="1200" b="0" i="0">
                <a:solidFill>
                  <a:srgbClr val="18232B"/>
                </a:solidFill>
              </a:defRPr>
            </a:pPr>
            <a:r>
              <a:rPr sz="1200" b="0" i="0">
                <a:solidFill>
                  <a:srgbClr val="18232B"/>
                </a:solidFill>
              </a:rPr>
              <a:t>How did the change unfold through time?</a:t>
            </a:r>
          </a:p>
        </p:txBody>
      </p:sp>
      <p:sp>
        <p:nvSpPr>
          <p:cNvPr id="18" name="Rectangle 17">
            <a:extLst>
              <a:ext uri="{FF2B5EF4-FFF2-40B4-BE49-F238E27FC236}">
                <a16:creationId xmlns:a16="http://schemas.microsoft.com/office/drawing/2014/main" id="{565B81E0-649C-47CE-95D8-22F0B525BCA9}"/>
              </a:ext>
            </a:extLst>
          </p:cNvPr>
          <p:cNvSpPr>
            <a:spLocks noGrp="1"/>
          </p:cNvSpPr>
          <p:nvPr/>
        </p:nvSpPr>
        <p:spPr>
          <a:xfrm>
            <a:off x="6553200" y="2571750"/>
            <a:ext cx="304800" cy="285750"/>
          </a:xfrm>
          <a:prstGeom prst="rect">
            <a:avLst/>
          </a:prstGeom>
          <a:noFill/>
          <a:ln w="0">
            <a:noFill/>
            <a:prstDash val="solid"/>
          </a:ln>
        </p:spPr>
        <p:txBody>
          <a:bodyPr anchor="t"/>
          <a:lstStyle/>
          <a:p>
            <a:pPr algn="l">
              <a:defRPr sz="1125" b="1" i="0">
                <a:solidFill>
                  <a:srgbClr val="147D70"/>
                </a:solidFill>
              </a:defRPr>
            </a:pPr>
            <a:r>
              <a:rPr sz="1125" b="1" i="0">
                <a:solidFill>
                  <a:srgbClr val="147D70"/>
                </a:solidFill>
              </a:rPr>
              <a:t>3</a:t>
            </a:r>
          </a:p>
        </p:txBody>
      </p:sp>
      <p:sp>
        <p:nvSpPr>
          <p:cNvPr id="19" name="Rectangle 18">
            <a:extLst>
              <a:ext uri="{FF2B5EF4-FFF2-40B4-BE49-F238E27FC236}">
                <a16:creationId xmlns:a16="http://schemas.microsoft.com/office/drawing/2014/main" id="{DC22ADE4-4D40-4A68-BF60-9392E0E4A80E}"/>
              </a:ext>
            </a:extLst>
          </p:cNvPr>
          <p:cNvSpPr>
            <a:spLocks noGrp="1"/>
          </p:cNvSpPr>
          <p:nvPr/>
        </p:nvSpPr>
        <p:spPr>
          <a:xfrm>
            <a:off x="6553200" y="2914650"/>
            <a:ext cx="1752600" cy="285750"/>
          </a:xfrm>
          <a:prstGeom prst="rect">
            <a:avLst/>
          </a:prstGeom>
          <a:noFill/>
          <a:ln w="0">
            <a:noFill/>
            <a:prstDash val="solid"/>
          </a:ln>
        </p:spPr>
        <p:txBody>
          <a:bodyPr anchor="t"/>
          <a:lstStyle/>
          <a:p>
            <a:pPr algn="l">
              <a:defRPr sz="1275" b="1" i="0">
                <a:solidFill>
                  <a:srgbClr val="147D70"/>
                </a:solidFill>
              </a:defRPr>
            </a:pPr>
            <a:r>
              <a:rPr sz="1275" b="1" i="0">
                <a:solidFill>
                  <a:srgbClr val="147D70"/>
                </a:solidFill>
              </a:rPr>
              <a:t>CONTEXTUALISE</a:t>
            </a:r>
          </a:p>
        </p:txBody>
      </p:sp>
      <p:sp>
        <p:nvSpPr>
          <p:cNvPr id="20" name="Rectangle 19">
            <a:extLst>
              <a:ext uri="{FF2B5EF4-FFF2-40B4-BE49-F238E27FC236}">
                <a16:creationId xmlns:a16="http://schemas.microsoft.com/office/drawing/2014/main" id="{82976626-1689-4025-BE55-36CB5C1144DD}"/>
              </a:ext>
            </a:extLst>
          </p:cNvPr>
          <p:cNvSpPr>
            <a:spLocks noGrp="1"/>
          </p:cNvSpPr>
          <p:nvPr/>
        </p:nvSpPr>
        <p:spPr>
          <a:xfrm>
            <a:off x="6553200" y="3295650"/>
            <a:ext cx="1752600" cy="495300"/>
          </a:xfrm>
          <a:prstGeom prst="rect">
            <a:avLst/>
          </a:prstGeom>
          <a:noFill/>
          <a:ln w="0">
            <a:noFill/>
            <a:prstDash val="solid"/>
          </a:ln>
        </p:spPr>
        <p:txBody>
          <a:bodyPr anchor="t"/>
          <a:lstStyle/>
          <a:p>
            <a:pPr algn="l">
              <a:defRPr sz="1200" b="0" i="0">
                <a:solidFill>
                  <a:srgbClr val="18232B"/>
                </a:solidFill>
              </a:defRPr>
            </a:pPr>
            <a:r>
              <a:rPr sz="1200" b="0" i="0">
                <a:solidFill>
                  <a:srgbClr val="18232B"/>
                </a:solidFill>
              </a:rPr>
              <a:t>What independent evidence surrounds it?</a:t>
            </a:r>
          </a:p>
        </p:txBody>
      </p:sp>
      <p:sp>
        <p:nvSpPr>
          <p:cNvPr id="21" name="Rectangle 20">
            <a:extLst>
              <a:ext uri="{FF2B5EF4-FFF2-40B4-BE49-F238E27FC236}">
                <a16:creationId xmlns:a16="http://schemas.microsoft.com/office/drawing/2014/main" id="{7D311935-E014-4F84-A8FF-A9F2439E6A2B}"/>
              </a:ext>
            </a:extLst>
          </p:cNvPr>
          <p:cNvSpPr>
            <a:spLocks noGrp="1"/>
          </p:cNvSpPr>
          <p:nvPr/>
        </p:nvSpPr>
        <p:spPr>
          <a:xfrm>
            <a:off x="9315450" y="2571750"/>
            <a:ext cx="304800" cy="285750"/>
          </a:xfrm>
          <a:prstGeom prst="rect">
            <a:avLst/>
          </a:prstGeom>
          <a:noFill/>
          <a:ln w="0">
            <a:noFill/>
            <a:prstDash val="solid"/>
          </a:ln>
        </p:spPr>
        <p:txBody>
          <a:bodyPr anchor="t"/>
          <a:lstStyle/>
          <a:p>
            <a:pPr algn="l">
              <a:defRPr sz="1125" b="1" i="0">
                <a:solidFill>
                  <a:srgbClr val="08065C"/>
                </a:solidFill>
              </a:defRPr>
            </a:pPr>
            <a:r>
              <a:rPr sz="1125" b="1" i="0">
                <a:solidFill>
                  <a:srgbClr val="08065C"/>
                </a:solidFill>
              </a:rPr>
              <a:t>4</a:t>
            </a:r>
          </a:p>
        </p:txBody>
      </p:sp>
      <p:sp>
        <p:nvSpPr>
          <p:cNvPr id="22" name="Rectangle 21">
            <a:extLst>
              <a:ext uri="{FF2B5EF4-FFF2-40B4-BE49-F238E27FC236}">
                <a16:creationId xmlns:a16="http://schemas.microsoft.com/office/drawing/2014/main" id="{A289CFE7-732B-4B98-A389-8F86C003BD4E}"/>
              </a:ext>
            </a:extLst>
          </p:cNvPr>
          <p:cNvSpPr>
            <a:spLocks noGrp="1"/>
          </p:cNvSpPr>
          <p:nvPr/>
        </p:nvSpPr>
        <p:spPr>
          <a:xfrm>
            <a:off x="9315450" y="2914650"/>
            <a:ext cx="1752600" cy="285750"/>
          </a:xfrm>
          <a:prstGeom prst="rect">
            <a:avLst/>
          </a:prstGeom>
          <a:noFill/>
          <a:ln w="0">
            <a:noFill/>
            <a:prstDash val="solid"/>
          </a:ln>
        </p:spPr>
        <p:txBody>
          <a:bodyPr anchor="t"/>
          <a:lstStyle/>
          <a:p>
            <a:pPr algn="l">
              <a:defRPr sz="1275" b="1" i="0">
                <a:solidFill>
                  <a:srgbClr val="08065C"/>
                </a:solidFill>
              </a:defRPr>
            </a:pPr>
            <a:r>
              <a:rPr sz="1275" b="1" i="0">
                <a:solidFill>
                  <a:srgbClr val="08065C"/>
                </a:solidFill>
              </a:rPr>
              <a:t>COMMUNICATE</a:t>
            </a:r>
          </a:p>
        </p:txBody>
      </p:sp>
      <p:sp>
        <p:nvSpPr>
          <p:cNvPr id="23" name="Rectangle 22">
            <a:extLst>
              <a:ext uri="{FF2B5EF4-FFF2-40B4-BE49-F238E27FC236}">
                <a16:creationId xmlns:a16="http://schemas.microsoft.com/office/drawing/2014/main" id="{36353263-7208-497B-8301-D7D158740AA9}"/>
              </a:ext>
            </a:extLst>
          </p:cNvPr>
          <p:cNvSpPr>
            <a:spLocks noGrp="1"/>
          </p:cNvSpPr>
          <p:nvPr/>
        </p:nvSpPr>
        <p:spPr>
          <a:xfrm>
            <a:off x="9315450" y="3295650"/>
            <a:ext cx="1752600" cy="495300"/>
          </a:xfrm>
          <a:prstGeom prst="rect">
            <a:avLst/>
          </a:prstGeom>
          <a:noFill/>
          <a:ln w="0">
            <a:noFill/>
            <a:prstDash val="solid"/>
          </a:ln>
        </p:spPr>
        <p:txBody>
          <a:bodyPr anchor="t"/>
          <a:lstStyle/>
          <a:p>
            <a:pPr algn="l">
              <a:defRPr sz="1200" b="0" i="0">
                <a:solidFill>
                  <a:srgbClr val="18232B"/>
                </a:solidFill>
              </a:defRPr>
            </a:pPr>
            <a:r>
              <a:rPr sz="1200" b="0" i="0">
                <a:solidFill>
                  <a:srgbClr val="18232B"/>
                </a:solidFill>
              </a:rPr>
              <a:t>Can people explore the result easily?</a:t>
            </a:r>
          </a:p>
        </p:txBody>
      </p:sp>
      <p:sp>
        <p:nvSpPr>
          <p:cNvPr id="24" name="Rectangle 23">
            <a:extLst>
              <a:ext uri="{FF2B5EF4-FFF2-40B4-BE49-F238E27FC236}">
                <a16:creationId xmlns:a16="http://schemas.microsoft.com/office/drawing/2014/main" id="{CCFE6039-0739-4ED5-B336-D18D052D4CFA}"/>
              </a:ext>
            </a:extLst>
          </p:cNvPr>
          <p:cNvSpPr>
            <a:spLocks noGrp="1"/>
          </p:cNvSpPr>
          <p:nvPr/>
        </p:nvSpPr>
        <p:spPr>
          <a:xfrm>
            <a:off x="1809750" y="4648200"/>
            <a:ext cx="8572500" cy="514350"/>
          </a:xfrm>
          <a:prstGeom prst="rect">
            <a:avLst/>
          </a:prstGeom>
          <a:noFill/>
          <a:ln w="0">
            <a:noFill/>
            <a:prstDash val="solid"/>
          </a:ln>
        </p:spPr>
        <p:txBody>
          <a:bodyPr anchor="t"/>
          <a:lstStyle/>
          <a:p>
            <a:pPr algn="ctr">
              <a:defRPr sz="2250" b="1" i="0">
                <a:solidFill>
                  <a:srgbClr val="08065C"/>
                </a:solidFill>
              </a:defRPr>
            </a:pPr>
            <a:r>
              <a:rPr sz="2250" b="1" i="0">
                <a:solidFill>
                  <a:srgbClr val="08065C"/>
                </a:solidFill>
              </a:rPr>
              <a:t>The supporting questions become the design of the pipeline.</a:t>
            </a:r>
          </a:p>
        </p:txBody>
      </p:sp>
    </p:spTree>
    <p:extLst>
      <p:ext uri="{BB962C8B-B14F-4D97-AF65-F5344CB8AC3E}">
        <p14:creationId xmlns:p14="http://schemas.microsoft.com/office/powerpoint/2010/main" val="541236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78AC01-7C34-4D7F-82FA-0E80D79D7011}"/>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STUDY AREA</a:t>
            </a:r>
          </a:p>
        </p:txBody>
      </p:sp>
      <p:sp>
        <p:nvSpPr>
          <p:cNvPr id="2" name="slide-5-title">
            <a:extLst>
              <a:ext uri="{FF2B5EF4-FFF2-40B4-BE49-F238E27FC236}">
                <a16:creationId xmlns:a16="http://schemas.microsoft.com/office/drawing/2014/main" id="{39979B37-6BA5-4FE1-9960-18431B66FA09}"/>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Bass Coast is the first proving ground</a:t>
            </a:r>
          </a:p>
        </p:txBody>
      </p:sp>
      <p:sp>
        <p:nvSpPr>
          <p:cNvPr id="3" name="Straight Connector 2">
            <a:extLst>
              <a:ext uri="{FF2B5EF4-FFF2-40B4-BE49-F238E27FC236}">
                <a16:creationId xmlns:a16="http://schemas.microsoft.com/office/drawing/2014/main" id="{15B7E55D-1F9B-4F8F-833B-6F8410863DEB}"/>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CF8827C6-70B1-4304-AB15-F7F22A89C74E}"/>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05</a:t>
            </a:r>
          </a:p>
        </p:txBody>
      </p:sp>
      <p:pic>
        <p:nvPicPr>
          <p:cNvPr id="17" name="Picture 16"/>
          <p:cNvPicPr>
            <a:picLocks noChangeAspect="1"/>
          </p:cNvPicPr>
          <p:nvPr/>
        </p:nvPicPr>
        <p:blipFill>
          <a:blip r:embed="rId3"/>
          <a:stretch/>
        </p:blipFill>
        <p:spPr>
          <a:xfrm>
            <a:off x="901766" y="1476375"/>
            <a:ext cx="6749918" cy="4476750"/>
          </a:xfrm>
          <a:prstGeom prst="rect">
            <a:avLst/>
          </a:prstGeom>
        </p:spPr>
      </p:pic>
      <p:sp>
        <p:nvSpPr>
          <p:cNvPr id="6" name="Rectangle 5">
            <a:extLst>
              <a:ext uri="{FF2B5EF4-FFF2-40B4-BE49-F238E27FC236}">
                <a16:creationId xmlns:a16="http://schemas.microsoft.com/office/drawing/2014/main" id="{5051B323-C6B9-49EC-8A21-0BAFBB2B3C96}"/>
              </a:ext>
            </a:extLst>
          </p:cNvPr>
          <p:cNvSpPr>
            <a:spLocks noGrp="1"/>
          </p:cNvSpPr>
          <p:nvPr/>
        </p:nvSpPr>
        <p:spPr>
          <a:xfrm>
            <a:off x="8305800" y="1752600"/>
            <a:ext cx="2857500" cy="552450"/>
          </a:xfrm>
          <a:prstGeom prst="rect">
            <a:avLst/>
          </a:prstGeom>
          <a:noFill/>
          <a:ln w="0">
            <a:noFill/>
            <a:prstDash val="solid"/>
          </a:ln>
        </p:spPr>
        <p:txBody>
          <a:bodyPr anchor="t"/>
          <a:lstStyle/>
          <a:p>
            <a:pPr algn="l">
              <a:defRPr sz="3150" b="1" i="0">
                <a:solidFill>
                  <a:srgbClr val="08065C"/>
                </a:solidFill>
              </a:defRPr>
            </a:pPr>
            <a:r>
              <a:rPr sz="3150" b="1" i="0">
                <a:solidFill>
                  <a:srgbClr val="08065C"/>
                </a:solidFill>
              </a:rPr>
              <a:t>2017–2024</a:t>
            </a:r>
          </a:p>
        </p:txBody>
      </p:sp>
      <p:sp>
        <p:nvSpPr>
          <p:cNvPr id="7" name="Rectangle 6">
            <a:extLst>
              <a:ext uri="{FF2B5EF4-FFF2-40B4-BE49-F238E27FC236}">
                <a16:creationId xmlns:a16="http://schemas.microsoft.com/office/drawing/2014/main" id="{00B93EBE-8522-4452-AAF2-A2CF503B5500}"/>
              </a:ext>
            </a:extLst>
          </p:cNvPr>
          <p:cNvSpPr>
            <a:spLocks noGrp="1"/>
          </p:cNvSpPr>
          <p:nvPr/>
        </p:nvSpPr>
        <p:spPr>
          <a:xfrm>
            <a:off x="8305800" y="2305050"/>
            <a:ext cx="285750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Eight annual landscape snapshots</a:t>
            </a:r>
          </a:p>
        </p:txBody>
      </p:sp>
      <p:sp>
        <p:nvSpPr>
          <p:cNvPr id="8" name="Rectangle 7">
            <a:extLst>
              <a:ext uri="{FF2B5EF4-FFF2-40B4-BE49-F238E27FC236}">
                <a16:creationId xmlns:a16="http://schemas.microsoft.com/office/drawing/2014/main" id="{7DC9CCFC-F78F-4D3E-8BFB-38533867D6F4}"/>
              </a:ext>
            </a:extLst>
          </p:cNvPr>
          <p:cNvSpPr>
            <a:spLocks noGrp="1"/>
          </p:cNvSpPr>
          <p:nvPr/>
        </p:nvSpPr>
        <p:spPr>
          <a:xfrm>
            <a:off x="8305800" y="2914650"/>
            <a:ext cx="2857500" cy="552450"/>
          </a:xfrm>
          <a:prstGeom prst="rect">
            <a:avLst/>
          </a:prstGeom>
          <a:noFill/>
          <a:ln w="0">
            <a:noFill/>
            <a:prstDash val="solid"/>
          </a:ln>
        </p:spPr>
        <p:txBody>
          <a:bodyPr anchor="t"/>
          <a:lstStyle/>
          <a:p>
            <a:pPr algn="l">
              <a:defRPr sz="3150" b="1" i="0">
                <a:solidFill>
                  <a:srgbClr val="D48728"/>
                </a:solidFill>
              </a:defRPr>
            </a:pPr>
            <a:r>
              <a:rPr sz="3150" b="1" i="0">
                <a:solidFill>
                  <a:srgbClr val="D48728"/>
                </a:solidFill>
              </a:rPr>
              <a:t>10 m</a:t>
            </a:r>
          </a:p>
        </p:txBody>
      </p:sp>
      <p:sp>
        <p:nvSpPr>
          <p:cNvPr id="9" name="Rectangle 8">
            <a:extLst>
              <a:ext uri="{FF2B5EF4-FFF2-40B4-BE49-F238E27FC236}">
                <a16:creationId xmlns:a16="http://schemas.microsoft.com/office/drawing/2014/main" id="{F4B53A15-1C18-4809-AAB7-0E924D1BBBDD}"/>
              </a:ext>
            </a:extLst>
          </p:cNvPr>
          <p:cNvSpPr>
            <a:spLocks noGrp="1"/>
          </p:cNvSpPr>
          <p:nvPr/>
        </p:nvSpPr>
        <p:spPr>
          <a:xfrm>
            <a:off x="8305800" y="3467100"/>
            <a:ext cx="285750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Original embedding grid-cell size</a:t>
            </a:r>
          </a:p>
        </p:txBody>
      </p:sp>
      <p:sp>
        <p:nvSpPr>
          <p:cNvPr id="10" name="Rectangle 9">
            <a:extLst>
              <a:ext uri="{FF2B5EF4-FFF2-40B4-BE49-F238E27FC236}">
                <a16:creationId xmlns:a16="http://schemas.microsoft.com/office/drawing/2014/main" id="{6A291A4C-9407-4E41-9938-71F9499B2398}"/>
              </a:ext>
            </a:extLst>
          </p:cNvPr>
          <p:cNvSpPr>
            <a:spLocks noGrp="1"/>
          </p:cNvSpPr>
          <p:nvPr/>
        </p:nvSpPr>
        <p:spPr>
          <a:xfrm>
            <a:off x="8305800" y="4076700"/>
            <a:ext cx="2857500" cy="552450"/>
          </a:xfrm>
          <a:prstGeom prst="rect">
            <a:avLst/>
          </a:prstGeom>
          <a:noFill/>
          <a:ln w="0">
            <a:noFill/>
            <a:prstDash val="solid"/>
          </a:ln>
        </p:spPr>
        <p:txBody>
          <a:bodyPr anchor="t"/>
          <a:lstStyle/>
          <a:p>
            <a:pPr algn="l">
              <a:defRPr sz="3150" b="1" i="0">
                <a:solidFill>
                  <a:srgbClr val="147D70"/>
                </a:solidFill>
              </a:defRPr>
            </a:pPr>
            <a:r>
              <a:rPr sz="3150" b="1" i="0">
                <a:solidFill>
                  <a:srgbClr val="147D70"/>
                </a:solidFill>
              </a:rPr>
              <a:t>Bass Coast</a:t>
            </a:r>
          </a:p>
        </p:txBody>
      </p:sp>
      <p:sp>
        <p:nvSpPr>
          <p:cNvPr id="11" name="Rectangle 10">
            <a:extLst>
              <a:ext uri="{FF2B5EF4-FFF2-40B4-BE49-F238E27FC236}">
                <a16:creationId xmlns:a16="http://schemas.microsoft.com/office/drawing/2014/main" id="{8DA61A74-3D33-43FA-BFED-13F94AD2D547}"/>
              </a:ext>
            </a:extLst>
          </p:cNvPr>
          <p:cNvSpPr>
            <a:spLocks noGrp="1"/>
          </p:cNvSpPr>
          <p:nvPr/>
        </p:nvSpPr>
        <p:spPr>
          <a:xfrm>
            <a:off x="8305800" y="4629150"/>
            <a:ext cx="285750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Case study with a pipeline designed to scale</a:t>
            </a:r>
          </a:p>
        </p:txBody>
      </p:sp>
      <p:sp>
        <p:nvSpPr>
          <p:cNvPr id="12" name="Rectangle 11">
            <a:extLst>
              <a:ext uri="{FF2B5EF4-FFF2-40B4-BE49-F238E27FC236}">
                <a16:creationId xmlns:a16="http://schemas.microsoft.com/office/drawing/2014/main" id="{4A777ABD-EECB-42C0-BB43-3DE74DF68DED}"/>
              </a:ext>
            </a:extLst>
          </p:cNvPr>
          <p:cNvSpPr>
            <a:spLocks noGrp="1"/>
          </p:cNvSpPr>
          <p:nvPr/>
        </p:nvSpPr>
        <p:spPr>
          <a:xfrm>
            <a:off x="8305800" y="5314950"/>
            <a:ext cx="2857500" cy="609600"/>
          </a:xfrm>
          <a:prstGeom prst="rect">
            <a:avLst/>
          </a:prstGeom>
          <a:noFill/>
          <a:ln w="0">
            <a:noFill/>
            <a:prstDash val="solid"/>
          </a:ln>
        </p:spPr>
        <p:txBody>
          <a:bodyPr anchor="t"/>
          <a:lstStyle/>
          <a:p>
            <a:pPr algn="l">
              <a:defRPr sz="1350" b="0" i="0">
                <a:solidFill>
                  <a:srgbClr val="5E6B75"/>
                </a:solidFill>
              </a:defRPr>
            </a:pPr>
            <a:r>
              <a:rPr sz="1350" b="0" i="0">
                <a:solidFill>
                  <a:srgbClr val="5E6B75"/>
                </a:solidFill>
              </a:rPr>
              <a:t>The map already preserves hot, background and low-change evidence across the study area.</a:t>
            </a:r>
          </a:p>
        </p:txBody>
      </p:sp>
    </p:spTree>
    <p:extLst>
      <p:ext uri="{BB962C8B-B14F-4D97-AF65-F5344CB8AC3E}">
        <p14:creationId xmlns:p14="http://schemas.microsoft.com/office/powerpoint/2010/main" val="222940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75C0CE1-0C93-4E56-9525-CCA14AD7FFE5}"/>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EVIDENCE STACK</a:t>
            </a:r>
          </a:p>
        </p:txBody>
      </p:sp>
      <p:sp>
        <p:nvSpPr>
          <p:cNvPr id="2" name="slide-6-title">
            <a:extLst>
              <a:ext uri="{FF2B5EF4-FFF2-40B4-BE49-F238E27FC236}">
                <a16:creationId xmlns:a16="http://schemas.microsoft.com/office/drawing/2014/main" id="{186FA0E1-44FD-4E58-8AEC-F505ED43385B}"/>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Three datasets observe the same landscape differently</a:t>
            </a:r>
          </a:p>
        </p:txBody>
      </p:sp>
      <p:sp>
        <p:nvSpPr>
          <p:cNvPr id="3" name="Straight Connector 2">
            <a:extLst>
              <a:ext uri="{FF2B5EF4-FFF2-40B4-BE49-F238E27FC236}">
                <a16:creationId xmlns:a16="http://schemas.microsoft.com/office/drawing/2014/main" id="{9FEE7AC4-210C-462E-A4FC-938D1C11039E}"/>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3FC567DA-D885-419D-B6AC-0BB5337129BA}"/>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06</a:t>
            </a:r>
          </a:p>
        </p:txBody>
      </p:sp>
      <p:pic>
        <p:nvPicPr>
          <p:cNvPr id="24" name="Picture 23"/>
          <p:cNvPicPr>
            <a:picLocks noChangeAspect="1"/>
          </p:cNvPicPr>
          <p:nvPr/>
        </p:nvPicPr>
        <p:blipFill>
          <a:blip r:embed="rId3"/>
          <a:srcRect t="556" b="556"/>
          <a:stretch>
            <a:fillRect/>
          </a:stretch>
        </p:blipFill>
        <p:spPr>
          <a:xfrm>
            <a:off x="609600" y="1543050"/>
            <a:ext cx="3048000" cy="1695450"/>
          </a:xfrm>
          <a:prstGeom prst="roundRect">
            <a:avLst>
              <a:gd name="adj" fmla="val 3933"/>
            </a:avLst>
          </a:prstGeom>
        </p:spPr>
      </p:pic>
      <p:sp>
        <p:nvSpPr>
          <p:cNvPr id="6" name="Rectangle 5">
            <a:extLst>
              <a:ext uri="{FF2B5EF4-FFF2-40B4-BE49-F238E27FC236}">
                <a16:creationId xmlns:a16="http://schemas.microsoft.com/office/drawing/2014/main" id="{20BBAF57-B08F-4FD7-9B8B-20B8F20E2854}"/>
              </a:ext>
            </a:extLst>
          </p:cNvPr>
          <p:cNvSpPr>
            <a:spLocks noGrp="1"/>
          </p:cNvSpPr>
          <p:nvPr/>
        </p:nvSpPr>
        <p:spPr>
          <a:xfrm>
            <a:off x="609600" y="3333750"/>
            <a:ext cx="3048000" cy="47625"/>
          </a:xfrm>
          <a:prstGeom prst="rect">
            <a:avLst/>
          </a:prstGeom>
          <a:solidFill>
            <a:srgbClr val="D48728"/>
          </a:solidFill>
          <a:ln w="0">
            <a:noFill/>
            <a:prstDash val="solid"/>
          </a:ln>
        </p:spPr>
        <p:txBody>
          <a:bodyPr/>
          <a:lstStyle/>
          <a:p>
            <a:endParaRPr lang="en-US"/>
          </a:p>
        </p:txBody>
      </p:sp>
      <p:sp>
        <p:nvSpPr>
          <p:cNvPr id="7" name="Rectangle 6">
            <a:extLst>
              <a:ext uri="{FF2B5EF4-FFF2-40B4-BE49-F238E27FC236}">
                <a16:creationId xmlns:a16="http://schemas.microsoft.com/office/drawing/2014/main" id="{C125C2D3-072D-44F8-88D5-91F3C96E2282}"/>
              </a:ext>
            </a:extLst>
          </p:cNvPr>
          <p:cNvSpPr>
            <a:spLocks noGrp="1"/>
          </p:cNvSpPr>
          <p:nvPr/>
        </p:nvSpPr>
        <p:spPr>
          <a:xfrm>
            <a:off x="609600" y="3581400"/>
            <a:ext cx="3048000" cy="361950"/>
          </a:xfrm>
          <a:prstGeom prst="rect">
            <a:avLst/>
          </a:prstGeom>
          <a:noFill/>
          <a:ln w="0">
            <a:noFill/>
            <a:prstDash val="solid"/>
          </a:ln>
        </p:spPr>
        <p:txBody>
          <a:bodyPr anchor="t"/>
          <a:lstStyle/>
          <a:p>
            <a:pPr algn="l">
              <a:defRPr sz="1650" b="1" i="0">
                <a:solidFill>
                  <a:srgbClr val="D48728"/>
                </a:solidFill>
              </a:defRPr>
            </a:pPr>
            <a:r>
              <a:rPr sz="1650" b="1" i="0">
                <a:solidFill>
                  <a:srgbClr val="D48728"/>
                </a:solidFill>
              </a:rPr>
              <a:t>Google Satellite Embedding</a:t>
            </a:r>
          </a:p>
        </p:txBody>
      </p:sp>
      <p:sp>
        <p:nvSpPr>
          <p:cNvPr id="8" name="Rectangle 7">
            <a:extLst>
              <a:ext uri="{FF2B5EF4-FFF2-40B4-BE49-F238E27FC236}">
                <a16:creationId xmlns:a16="http://schemas.microsoft.com/office/drawing/2014/main" id="{406FAAC8-D48D-4EA5-BD2F-6BE7B8D686BB}"/>
              </a:ext>
            </a:extLst>
          </p:cNvPr>
          <p:cNvSpPr>
            <a:spLocks noGrp="1"/>
          </p:cNvSpPr>
          <p:nvPr/>
        </p:nvSpPr>
        <p:spPr>
          <a:xfrm>
            <a:off x="609600" y="4057650"/>
            <a:ext cx="3048000" cy="952500"/>
          </a:xfrm>
          <a:prstGeom prst="rect">
            <a:avLst/>
          </a:prstGeom>
          <a:noFill/>
          <a:ln w="0">
            <a:noFill/>
            <a:prstDash val="solid"/>
          </a:ln>
        </p:spPr>
        <p:txBody>
          <a:bodyPr anchor="t"/>
          <a:lstStyle/>
          <a:p>
            <a:pPr algn="l">
              <a:defRPr sz="1425" b="0" i="0">
                <a:solidFill>
                  <a:srgbClr val="18232B"/>
                </a:solidFill>
              </a:defRPr>
            </a:pPr>
            <a:r>
              <a:rPr sz="1425" b="0" i="0">
                <a:solidFill>
                  <a:srgbClr val="18232B"/>
                </a:solidFill>
              </a:rPr>
              <a:t>Where and how strongly did the encoded landscape signal change?</a:t>
            </a:r>
          </a:p>
        </p:txBody>
      </p:sp>
      <p:pic>
        <p:nvPicPr>
          <p:cNvPr id="28" name="Picture 27"/>
          <p:cNvPicPr>
            <a:picLocks noChangeAspect="1"/>
          </p:cNvPicPr>
          <p:nvPr/>
        </p:nvPicPr>
        <p:blipFill>
          <a:blip r:embed="rId4"/>
          <a:srcRect t="556" b="556"/>
          <a:stretch>
            <a:fillRect/>
          </a:stretch>
        </p:blipFill>
        <p:spPr>
          <a:xfrm>
            <a:off x="4267200" y="1543050"/>
            <a:ext cx="3048000" cy="1695450"/>
          </a:xfrm>
          <a:prstGeom prst="roundRect">
            <a:avLst>
              <a:gd name="adj" fmla="val 3933"/>
            </a:avLst>
          </a:prstGeom>
        </p:spPr>
      </p:pic>
      <p:sp>
        <p:nvSpPr>
          <p:cNvPr id="10" name="Rectangle 9">
            <a:extLst>
              <a:ext uri="{FF2B5EF4-FFF2-40B4-BE49-F238E27FC236}">
                <a16:creationId xmlns:a16="http://schemas.microsoft.com/office/drawing/2014/main" id="{FD93B745-CCE5-4CC0-9EB9-08A2F82F42A0}"/>
              </a:ext>
            </a:extLst>
          </p:cNvPr>
          <p:cNvSpPr>
            <a:spLocks noGrp="1"/>
          </p:cNvSpPr>
          <p:nvPr/>
        </p:nvSpPr>
        <p:spPr>
          <a:xfrm>
            <a:off x="4267200" y="3333750"/>
            <a:ext cx="3048000" cy="47625"/>
          </a:xfrm>
          <a:prstGeom prst="rect">
            <a:avLst/>
          </a:prstGeom>
          <a:solidFill>
            <a:srgbClr val="234E8A"/>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5C35BFA-6B69-43F8-A761-D9E02A8B5845}"/>
              </a:ext>
            </a:extLst>
          </p:cNvPr>
          <p:cNvSpPr>
            <a:spLocks noGrp="1"/>
          </p:cNvSpPr>
          <p:nvPr/>
        </p:nvSpPr>
        <p:spPr>
          <a:xfrm>
            <a:off x="4267200" y="3581400"/>
            <a:ext cx="3048000" cy="361950"/>
          </a:xfrm>
          <a:prstGeom prst="rect">
            <a:avLst/>
          </a:prstGeom>
          <a:noFill/>
          <a:ln w="0">
            <a:noFill/>
            <a:prstDash val="solid"/>
          </a:ln>
        </p:spPr>
        <p:txBody>
          <a:bodyPr anchor="t"/>
          <a:lstStyle/>
          <a:p>
            <a:pPr algn="l">
              <a:defRPr sz="1650" b="1" i="0">
                <a:solidFill>
                  <a:srgbClr val="234E8A"/>
                </a:solidFill>
              </a:defRPr>
            </a:pPr>
            <a:r>
              <a:rPr sz="1650" b="1" i="0">
                <a:solidFill>
                  <a:srgbClr val="234E8A"/>
                </a:solidFill>
              </a:rPr>
              <a:t>DEA Land Cover</a:t>
            </a:r>
          </a:p>
        </p:txBody>
      </p:sp>
      <p:sp>
        <p:nvSpPr>
          <p:cNvPr id="12" name="Rectangle 11">
            <a:extLst>
              <a:ext uri="{FF2B5EF4-FFF2-40B4-BE49-F238E27FC236}">
                <a16:creationId xmlns:a16="http://schemas.microsoft.com/office/drawing/2014/main" id="{97D3AEE0-741D-499A-8744-8C5F4C7A6035}"/>
              </a:ext>
            </a:extLst>
          </p:cNvPr>
          <p:cNvSpPr>
            <a:spLocks noGrp="1"/>
          </p:cNvSpPr>
          <p:nvPr/>
        </p:nvSpPr>
        <p:spPr>
          <a:xfrm>
            <a:off x="4267200" y="4057650"/>
            <a:ext cx="3048000" cy="952500"/>
          </a:xfrm>
          <a:prstGeom prst="rect">
            <a:avLst/>
          </a:prstGeom>
          <a:noFill/>
          <a:ln w="0">
            <a:noFill/>
            <a:prstDash val="solid"/>
          </a:ln>
        </p:spPr>
        <p:txBody>
          <a:bodyPr anchor="t"/>
          <a:lstStyle/>
          <a:p>
            <a:pPr algn="l">
              <a:defRPr sz="1425" b="0" i="0">
                <a:solidFill>
                  <a:srgbClr val="18232B"/>
                </a:solidFill>
              </a:defRPr>
            </a:pPr>
            <a:r>
              <a:rPr sz="1425" b="0" i="0">
                <a:solidFill>
                  <a:srgbClr val="18232B"/>
                </a:solidFill>
              </a:rPr>
              <a:t>What broad land-cover classes and transitions were recorded?</a:t>
            </a:r>
          </a:p>
        </p:txBody>
      </p:sp>
      <p:pic>
        <p:nvPicPr>
          <p:cNvPr id="32" name="Picture 31"/>
          <p:cNvPicPr>
            <a:picLocks noChangeAspect="1"/>
          </p:cNvPicPr>
          <p:nvPr/>
        </p:nvPicPr>
        <p:blipFill>
          <a:blip r:embed="rId5"/>
          <a:srcRect t="556" b="556"/>
          <a:stretch>
            <a:fillRect/>
          </a:stretch>
        </p:blipFill>
        <p:spPr>
          <a:xfrm>
            <a:off x="7924800" y="1543050"/>
            <a:ext cx="3048000" cy="1695450"/>
          </a:xfrm>
          <a:prstGeom prst="roundRect">
            <a:avLst>
              <a:gd name="adj" fmla="val 3933"/>
            </a:avLst>
          </a:prstGeom>
        </p:spPr>
      </p:pic>
      <p:sp>
        <p:nvSpPr>
          <p:cNvPr id="14" name="Rectangle 13">
            <a:extLst>
              <a:ext uri="{FF2B5EF4-FFF2-40B4-BE49-F238E27FC236}">
                <a16:creationId xmlns:a16="http://schemas.microsoft.com/office/drawing/2014/main" id="{46317561-7412-402E-A920-4CA4671FB23D}"/>
              </a:ext>
            </a:extLst>
          </p:cNvPr>
          <p:cNvSpPr>
            <a:spLocks noGrp="1"/>
          </p:cNvSpPr>
          <p:nvPr/>
        </p:nvSpPr>
        <p:spPr>
          <a:xfrm>
            <a:off x="7924800" y="3333750"/>
            <a:ext cx="3048000" cy="47625"/>
          </a:xfrm>
          <a:prstGeom prst="rect">
            <a:avLst/>
          </a:prstGeom>
          <a:solidFill>
            <a:srgbClr val="147D70"/>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EFF15D61-3AC2-4BF3-BD8C-B4AC4048378C}"/>
              </a:ext>
            </a:extLst>
          </p:cNvPr>
          <p:cNvSpPr>
            <a:spLocks noGrp="1"/>
          </p:cNvSpPr>
          <p:nvPr/>
        </p:nvSpPr>
        <p:spPr>
          <a:xfrm>
            <a:off x="7924800" y="3581400"/>
            <a:ext cx="3048000" cy="361950"/>
          </a:xfrm>
          <a:prstGeom prst="rect">
            <a:avLst/>
          </a:prstGeom>
          <a:noFill/>
          <a:ln w="0">
            <a:noFill/>
            <a:prstDash val="solid"/>
          </a:ln>
        </p:spPr>
        <p:txBody>
          <a:bodyPr anchor="t"/>
          <a:lstStyle/>
          <a:p>
            <a:pPr algn="l">
              <a:defRPr sz="1650" b="1" i="0">
                <a:solidFill>
                  <a:srgbClr val="147D70"/>
                </a:solidFill>
              </a:defRPr>
            </a:pPr>
            <a:r>
              <a:rPr sz="1650" b="1" i="0">
                <a:solidFill>
                  <a:srgbClr val="147D70"/>
                </a:solidFill>
              </a:rPr>
              <a:t>DEA GeoMAD NDVI</a:t>
            </a:r>
          </a:p>
        </p:txBody>
      </p:sp>
      <p:sp>
        <p:nvSpPr>
          <p:cNvPr id="16" name="Rectangle 15">
            <a:extLst>
              <a:ext uri="{FF2B5EF4-FFF2-40B4-BE49-F238E27FC236}">
                <a16:creationId xmlns:a16="http://schemas.microsoft.com/office/drawing/2014/main" id="{11FF2AFE-BDAA-43EA-BA2A-7F1A34FE39B2}"/>
              </a:ext>
            </a:extLst>
          </p:cNvPr>
          <p:cNvSpPr>
            <a:spLocks noGrp="1"/>
          </p:cNvSpPr>
          <p:nvPr/>
        </p:nvSpPr>
        <p:spPr>
          <a:xfrm>
            <a:off x="7924800" y="4057650"/>
            <a:ext cx="3048000" cy="952500"/>
          </a:xfrm>
          <a:prstGeom prst="rect">
            <a:avLst/>
          </a:prstGeom>
          <a:noFill/>
          <a:ln w="0">
            <a:noFill/>
            <a:prstDash val="solid"/>
          </a:ln>
        </p:spPr>
        <p:txBody>
          <a:bodyPr anchor="t"/>
          <a:lstStyle/>
          <a:p>
            <a:pPr algn="l">
              <a:defRPr sz="1425" b="0" i="0">
                <a:solidFill>
                  <a:srgbClr val="18232B"/>
                </a:solidFill>
              </a:defRPr>
            </a:pPr>
            <a:r>
              <a:rPr sz="1425" b="0" i="0">
                <a:solidFill>
                  <a:srgbClr val="18232B"/>
                </a:solidFill>
              </a:rPr>
              <a:t>Did vegetation become greener, browner or remain similar?</a:t>
            </a:r>
          </a:p>
        </p:txBody>
      </p:sp>
      <p:sp>
        <p:nvSpPr>
          <p:cNvPr id="17" name="Rectangle 16">
            <a:extLst>
              <a:ext uri="{FF2B5EF4-FFF2-40B4-BE49-F238E27FC236}">
                <a16:creationId xmlns:a16="http://schemas.microsoft.com/office/drawing/2014/main" id="{1AFAED7D-FF09-4277-9C75-4672C0B0DB33}"/>
              </a:ext>
            </a:extLst>
          </p:cNvPr>
          <p:cNvSpPr>
            <a:spLocks noGrp="1"/>
          </p:cNvSpPr>
          <p:nvPr/>
        </p:nvSpPr>
        <p:spPr>
          <a:xfrm>
            <a:off x="609600" y="5314950"/>
            <a:ext cx="3048000" cy="285750"/>
          </a:xfrm>
          <a:prstGeom prst="rect">
            <a:avLst/>
          </a:prstGeom>
          <a:noFill/>
          <a:ln w="0">
            <a:noFill/>
            <a:prstDash val="solid"/>
          </a:ln>
        </p:spPr>
        <p:txBody>
          <a:bodyPr anchor="t"/>
          <a:lstStyle/>
          <a:p>
            <a:pPr algn="ctr">
              <a:defRPr sz="1350" b="1" i="0">
                <a:solidFill>
                  <a:srgbClr val="D48728"/>
                </a:solidFill>
              </a:defRPr>
            </a:pPr>
            <a:r>
              <a:rPr sz="1600" b="1" i="0">
                <a:solidFill>
                  <a:srgbClr val="D48728"/>
                </a:solidFill>
              </a:rPr>
              <a:t>Detection</a:t>
            </a:r>
          </a:p>
        </p:txBody>
      </p:sp>
      <p:sp>
        <p:nvSpPr>
          <p:cNvPr id="18" name="Rectangle 17">
            <a:extLst>
              <a:ext uri="{FF2B5EF4-FFF2-40B4-BE49-F238E27FC236}">
                <a16:creationId xmlns:a16="http://schemas.microsoft.com/office/drawing/2014/main" id="{CB4F2FF8-226C-4D2D-B8E2-D8F506FEAE3F}"/>
              </a:ext>
            </a:extLst>
          </p:cNvPr>
          <p:cNvSpPr>
            <a:spLocks noGrp="1"/>
          </p:cNvSpPr>
          <p:nvPr/>
        </p:nvSpPr>
        <p:spPr>
          <a:xfrm>
            <a:off x="4267200" y="5314950"/>
            <a:ext cx="3048000" cy="285750"/>
          </a:xfrm>
          <a:prstGeom prst="rect">
            <a:avLst/>
          </a:prstGeom>
          <a:noFill/>
          <a:ln w="0">
            <a:noFill/>
            <a:prstDash val="solid"/>
          </a:ln>
        </p:spPr>
        <p:txBody>
          <a:bodyPr anchor="t"/>
          <a:lstStyle/>
          <a:p>
            <a:pPr algn="ctr">
              <a:defRPr sz="1350" b="1" i="0">
                <a:solidFill>
                  <a:srgbClr val="234E8A"/>
                </a:solidFill>
              </a:defRPr>
            </a:pPr>
            <a:r>
              <a:rPr sz="1600" b="1" i="0">
                <a:solidFill>
                  <a:srgbClr val="234E8A"/>
                </a:solidFill>
              </a:rPr>
              <a:t>Land context</a:t>
            </a:r>
          </a:p>
        </p:txBody>
      </p:sp>
      <p:sp>
        <p:nvSpPr>
          <p:cNvPr id="19" name="Rectangle 18">
            <a:extLst>
              <a:ext uri="{FF2B5EF4-FFF2-40B4-BE49-F238E27FC236}">
                <a16:creationId xmlns:a16="http://schemas.microsoft.com/office/drawing/2014/main" id="{DDFE09BD-93EA-4FF6-BF3C-8648F8A6BF2B}"/>
              </a:ext>
            </a:extLst>
          </p:cNvPr>
          <p:cNvSpPr>
            <a:spLocks noGrp="1"/>
          </p:cNvSpPr>
          <p:nvPr/>
        </p:nvSpPr>
        <p:spPr>
          <a:xfrm>
            <a:off x="7924800" y="5314950"/>
            <a:ext cx="3048000" cy="285750"/>
          </a:xfrm>
          <a:prstGeom prst="rect">
            <a:avLst/>
          </a:prstGeom>
          <a:noFill/>
          <a:ln w="0">
            <a:noFill/>
            <a:prstDash val="solid"/>
          </a:ln>
        </p:spPr>
        <p:txBody>
          <a:bodyPr anchor="t"/>
          <a:lstStyle/>
          <a:p>
            <a:pPr algn="ctr">
              <a:defRPr sz="1350" b="1" i="0">
                <a:solidFill>
                  <a:srgbClr val="147D70"/>
                </a:solidFill>
              </a:defRPr>
            </a:pPr>
            <a:r>
              <a:rPr sz="1600" b="1" i="0">
                <a:solidFill>
                  <a:srgbClr val="147D70"/>
                </a:solidFill>
              </a:rPr>
              <a:t>Vegetation response</a:t>
            </a:r>
          </a:p>
        </p:txBody>
      </p:sp>
    </p:spTree>
    <p:extLst>
      <p:ext uri="{BB962C8B-B14F-4D97-AF65-F5344CB8AC3E}">
        <p14:creationId xmlns:p14="http://schemas.microsoft.com/office/powerpoint/2010/main" val="379981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6B03FB-5C99-46B7-8AD2-0922E9EFDEE7}"/>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DATASET 1</a:t>
            </a:r>
          </a:p>
        </p:txBody>
      </p:sp>
      <p:sp>
        <p:nvSpPr>
          <p:cNvPr id="2" name="slide-7-title">
            <a:extLst>
              <a:ext uri="{FF2B5EF4-FFF2-40B4-BE49-F238E27FC236}">
                <a16:creationId xmlns:a16="http://schemas.microsoft.com/office/drawing/2014/main" id="{55C7F7D0-D4F9-48F2-AB87-B82D002978AD}"/>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Annual embeddings make landscape signals comparable</a:t>
            </a:r>
          </a:p>
        </p:txBody>
      </p:sp>
      <p:sp>
        <p:nvSpPr>
          <p:cNvPr id="3" name="Straight Connector 2">
            <a:extLst>
              <a:ext uri="{FF2B5EF4-FFF2-40B4-BE49-F238E27FC236}">
                <a16:creationId xmlns:a16="http://schemas.microsoft.com/office/drawing/2014/main" id="{B0B3FEAD-AEEC-4635-867D-EFD61C671CF9}"/>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E8131C6D-3C78-4717-ABFB-FDA61B9D7DA3}"/>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07</a:t>
            </a:r>
          </a:p>
        </p:txBody>
      </p:sp>
      <p:pic>
        <p:nvPicPr>
          <p:cNvPr id="24" name="Picture 23"/>
          <p:cNvPicPr>
            <a:picLocks noChangeAspect="1"/>
          </p:cNvPicPr>
          <p:nvPr/>
        </p:nvPicPr>
        <p:blipFill>
          <a:blip r:embed="rId3"/>
          <a:srcRect l="2344" r="2344"/>
          <a:stretch>
            <a:fillRect/>
          </a:stretch>
        </p:blipFill>
        <p:spPr>
          <a:xfrm>
            <a:off x="609600" y="1504950"/>
            <a:ext cx="5810250" cy="3429000"/>
          </a:xfrm>
          <a:prstGeom prst="roundRect">
            <a:avLst>
              <a:gd name="adj" fmla="val 1944"/>
            </a:avLst>
          </a:prstGeom>
        </p:spPr>
      </p:pic>
      <p:sp>
        <p:nvSpPr>
          <p:cNvPr id="6" name="Rectangle 5">
            <a:extLst>
              <a:ext uri="{FF2B5EF4-FFF2-40B4-BE49-F238E27FC236}">
                <a16:creationId xmlns:a16="http://schemas.microsoft.com/office/drawing/2014/main" id="{9E4CCC5A-B568-4F42-A805-99A85E72A35F}"/>
              </a:ext>
            </a:extLst>
          </p:cNvPr>
          <p:cNvSpPr>
            <a:spLocks noGrp="1"/>
          </p:cNvSpPr>
          <p:nvPr/>
        </p:nvSpPr>
        <p:spPr>
          <a:xfrm>
            <a:off x="6934200" y="1581150"/>
            <a:ext cx="4000500" cy="323850"/>
          </a:xfrm>
          <a:prstGeom prst="rect">
            <a:avLst/>
          </a:prstGeom>
          <a:noFill/>
          <a:ln w="0">
            <a:noFill/>
            <a:prstDash val="solid"/>
          </a:ln>
        </p:spPr>
        <p:txBody>
          <a:bodyPr anchor="t"/>
          <a:lstStyle/>
          <a:p>
            <a:pPr algn="l">
              <a:defRPr sz="1350" b="1" i="0">
                <a:solidFill>
                  <a:srgbClr val="D48728"/>
                </a:solidFill>
              </a:defRPr>
            </a:pPr>
            <a:r>
              <a:rPr sz="1350" b="1" i="0">
                <a:solidFill>
                  <a:srgbClr val="D48728"/>
                </a:solidFill>
              </a:rPr>
              <a:t>One location, one year</a:t>
            </a:r>
          </a:p>
        </p:txBody>
      </p:sp>
      <p:sp>
        <p:nvSpPr>
          <p:cNvPr id="7" name="Rectangle 6">
            <a:extLst>
              <a:ext uri="{FF2B5EF4-FFF2-40B4-BE49-F238E27FC236}">
                <a16:creationId xmlns:a16="http://schemas.microsoft.com/office/drawing/2014/main" id="{6CF351C5-81C9-4F70-92CC-B86A3CE32BF3}"/>
              </a:ext>
            </a:extLst>
          </p:cNvPr>
          <p:cNvSpPr>
            <a:spLocks noGrp="1"/>
          </p:cNvSpPr>
          <p:nvPr/>
        </p:nvSpPr>
        <p:spPr>
          <a:xfrm>
            <a:off x="6934200" y="2076450"/>
            <a:ext cx="4191000" cy="495300"/>
          </a:xfrm>
          <a:prstGeom prst="rect">
            <a:avLst/>
          </a:prstGeom>
          <a:noFill/>
          <a:ln w="0">
            <a:noFill/>
            <a:prstDash val="solid"/>
          </a:ln>
        </p:spPr>
        <p:txBody>
          <a:bodyPr anchor="t"/>
          <a:lstStyle/>
          <a:p>
            <a:pPr algn="l">
              <a:defRPr sz="2100" b="1" i="0">
                <a:solidFill>
                  <a:srgbClr val="08065C"/>
                </a:solidFill>
              </a:defRPr>
            </a:pPr>
            <a:r>
              <a:rPr sz="2100" b="1" i="0">
                <a:solidFill>
                  <a:srgbClr val="08065C"/>
                </a:solidFill>
              </a:rPr>
              <a:t>[ 0.08, −0.12, 0.21, … , 0.04 ]</a:t>
            </a:r>
          </a:p>
        </p:txBody>
      </p:sp>
      <p:sp>
        <p:nvSpPr>
          <p:cNvPr id="8" name="Rectangle 7">
            <a:extLst>
              <a:ext uri="{FF2B5EF4-FFF2-40B4-BE49-F238E27FC236}">
                <a16:creationId xmlns:a16="http://schemas.microsoft.com/office/drawing/2014/main" id="{5891FB9C-37A2-4B8D-9911-4E7D8EF63A51}"/>
              </a:ext>
            </a:extLst>
          </p:cNvPr>
          <p:cNvSpPr>
            <a:spLocks noGrp="1"/>
          </p:cNvSpPr>
          <p:nvPr/>
        </p:nvSpPr>
        <p:spPr>
          <a:xfrm>
            <a:off x="6934200" y="2647950"/>
            <a:ext cx="3429000" cy="323850"/>
          </a:xfrm>
          <a:prstGeom prst="rect">
            <a:avLst/>
          </a:prstGeom>
          <a:noFill/>
          <a:ln w="0">
            <a:noFill/>
            <a:prstDash val="solid"/>
          </a:ln>
        </p:spPr>
        <p:txBody>
          <a:bodyPr anchor="t"/>
          <a:lstStyle/>
          <a:p>
            <a:pPr algn="l">
              <a:defRPr sz="1425" b="0" i="0">
                <a:solidFill>
                  <a:srgbClr val="5E6B75"/>
                </a:solidFill>
              </a:defRPr>
            </a:pPr>
            <a:r>
              <a:rPr sz="1425" b="0" i="0">
                <a:solidFill>
                  <a:srgbClr val="5E6B75"/>
                </a:solidFill>
              </a:rPr>
              <a:t>64 learned dimensions</a:t>
            </a:r>
          </a:p>
        </p:txBody>
      </p:sp>
      <p:sp>
        <p:nvSpPr>
          <p:cNvPr id="9" name="Oval 8">
            <a:extLst>
              <a:ext uri="{FF2B5EF4-FFF2-40B4-BE49-F238E27FC236}">
                <a16:creationId xmlns:a16="http://schemas.microsoft.com/office/drawing/2014/main" id="{2E6CFC8E-A1AB-4807-A89D-B250175FCA46}"/>
              </a:ext>
            </a:extLst>
          </p:cNvPr>
          <p:cNvSpPr>
            <a:spLocks noGrp="1"/>
          </p:cNvSpPr>
          <p:nvPr/>
        </p:nvSpPr>
        <p:spPr>
          <a:xfrm>
            <a:off x="6934200" y="3305175"/>
            <a:ext cx="76200" cy="76200"/>
          </a:xfrm>
          <a:prstGeom prst="ellipse">
            <a:avLst/>
          </a:prstGeom>
          <a:solidFill>
            <a:srgbClr val="D4872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A52AF18-483F-49DA-A715-0930594D1A58}"/>
              </a:ext>
            </a:extLst>
          </p:cNvPr>
          <p:cNvSpPr>
            <a:spLocks noGrp="1"/>
          </p:cNvSpPr>
          <p:nvPr/>
        </p:nvSpPr>
        <p:spPr>
          <a:xfrm>
            <a:off x="7143750" y="3219450"/>
            <a:ext cx="40767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10 m annual, analysis-ready representation</a:t>
            </a:r>
          </a:p>
        </p:txBody>
      </p:sp>
      <p:sp>
        <p:nvSpPr>
          <p:cNvPr id="11" name="Oval 10">
            <a:extLst>
              <a:ext uri="{FF2B5EF4-FFF2-40B4-BE49-F238E27FC236}">
                <a16:creationId xmlns:a16="http://schemas.microsoft.com/office/drawing/2014/main" id="{CBFE37B6-2AEF-40C0-9A38-90D3EDA12B2F}"/>
              </a:ext>
            </a:extLst>
          </p:cNvPr>
          <p:cNvSpPr>
            <a:spLocks noGrp="1"/>
          </p:cNvSpPr>
          <p:nvPr/>
        </p:nvSpPr>
        <p:spPr>
          <a:xfrm>
            <a:off x="6934200" y="3857625"/>
            <a:ext cx="76200" cy="76200"/>
          </a:xfrm>
          <a:prstGeom prst="ellipse">
            <a:avLst/>
          </a:prstGeom>
          <a:solidFill>
            <a:srgbClr val="D4872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3A0F792A-37D7-4DDB-ABB0-143510A6B200}"/>
              </a:ext>
            </a:extLst>
          </p:cNvPr>
          <p:cNvSpPr>
            <a:spLocks noGrp="1"/>
          </p:cNvSpPr>
          <p:nvPr/>
        </p:nvSpPr>
        <p:spPr>
          <a:xfrm>
            <a:off x="7143750" y="3771900"/>
            <a:ext cx="40767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Built from multi-source Earth observation data</a:t>
            </a:r>
          </a:p>
        </p:txBody>
      </p:sp>
      <p:sp>
        <p:nvSpPr>
          <p:cNvPr id="13" name="Oval 12">
            <a:extLst>
              <a:ext uri="{FF2B5EF4-FFF2-40B4-BE49-F238E27FC236}">
                <a16:creationId xmlns:a16="http://schemas.microsoft.com/office/drawing/2014/main" id="{D20D8A09-6E4B-4098-A7F4-6198E969D438}"/>
              </a:ext>
            </a:extLst>
          </p:cNvPr>
          <p:cNvSpPr>
            <a:spLocks noGrp="1"/>
          </p:cNvSpPr>
          <p:nvPr/>
        </p:nvSpPr>
        <p:spPr>
          <a:xfrm>
            <a:off x="6934200" y="4410075"/>
            <a:ext cx="76200" cy="76200"/>
          </a:xfrm>
          <a:prstGeom prst="ellipse">
            <a:avLst/>
          </a:prstGeom>
          <a:solidFill>
            <a:srgbClr val="D4872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4B57B552-097B-4A2D-9A49-DCB597C245F1}"/>
              </a:ext>
            </a:extLst>
          </p:cNvPr>
          <p:cNvSpPr>
            <a:spLocks noGrp="1"/>
          </p:cNvSpPr>
          <p:nvPr/>
        </p:nvSpPr>
        <p:spPr>
          <a:xfrm>
            <a:off x="7143750" y="4324350"/>
            <a:ext cx="40767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Consistent embedding space across years</a:t>
            </a:r>
          </a:p>
        </p:txBody>
      </p:sp>
      <p:sp>
        <p:nvSpPr>
          <p:cNvPr id="15" name="Oval 14">
            <a:extLst>
              <a:ext uri="{FF2B5EF4-FFF2-40B4-BE49-F238E27FC236}">
                <a16:creationId xmlns:a16="http://schemas.microsoft.com/office/drawing/2014/main" id="{2C1D2952-02E4-4701-82EE-D2DA02285B5F}"/>
              </a:ext>
            </a:extLst>
          </p:cNvPr>
          <p:cNvSpPr>
            <a:spLocks noGrp="1"/>
          </p:cNvSpPr>
          <p:nvPr/>
        </p:nvSpPr>
        <p:spPr>
          <a:xfrm>
            <a:off x="6934200" y="4962525"/>
            <a:ext cx="76200" cy="76200"/>
          </a:xfrm>
          <a:prstGeom prst="ellipse">
            <a:avLst/>
          </a:prstGeom>
          <a:solidFill>
            <a:srgbClr val="D4872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4AFAF5BC-1EBA-4360-84A3-4FA9051C1231}"/>
              </a:ext>
            </a:extLst>
          </p:cNvPr>
          <p:cNvSpPr>
            <a:spLocks noGrp="1"/>
          </p:cNvSpPr>
          <p:nvPr/>
        </p:nvSpPr>
        <p:spPr>
          <a:xfrm>
            <a:off x="7143750" y="4876800"/>
            <a:ext cx="40767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All 64 values work together; individual axes have no simple label</a:t>
            </a:r>
          </a:p>
        </p:txBody>
      </p:sp>
      <p:sp>
        <p:nvSpPr>
          <p:cNvPr id="17" name="Straight Connector 16">
            <a:extLst>
              <a:ext uri="{FF2B5EF4-FFF2-40B4-BE49-F238E27FC236}">
                <a16:creationId xmlns:a16="http://schemas.microsoft.com/office/drawing/2014/main" id="{444504FB-F6EC-412A-A7CD-DFD3469DA59D}"/>
              </a:ext>
            </a:extLst>
          </p:cNvPr>
          <p:cNvSpPr>
            <a:spLocks noGrp="1"/>
          </p:cNvSpPr>
          <p:nvPr/>
        </p:nvSpPr>
        <p:spPr>
          <a:xfrm>
            <a:off x="609600" y="6229350"/>
            <a:ext cx="10972800" cy="0"/>
          </a:xfrm>
          <a:prstGeom prst="line">
            <a:avLst/>
          </a:prstGeom>
          <a:noFill/>
          <a:ln w="9525">
            <a:solidFill>
              <a:srgbClr val="D4DDE2"/>
            </a:solidFill>
            <a:prstDash val="solid"/>
          </a:ln>
        </p:spPr>
        <p:txBody>
          <a:bodyPr/>
          <a:lstStyle/>
          <a:p>
            <a:endParaRPr lang="en-US"/>
          </a:p>
        </p:txBody>
      </p:sp>
      <p:sp>
        <p:nvSpPr>
          <p:cNvPr id="18" name="Rectangle 17">
            <a:extLst>
              <a:ext uri="{FF2B5EF4-FFF2-40B4-BE49-F238E27FC236}">
                <a16:creationId xmlns:a16="http://schemas.microsoft.com/office/drawing/2014/main" id="{06273647-248E-4DCD-BEA9-D5F8096EC7F7}"/>
              </a:ext>
            </a:extLst>
          </p:cNvPr>
          <p:cNvSpPr>
            <a:spLocks noGrp="1"/>
          </p:cNvSpPr>
          <p:nvPr/>
        </p:nvSpPr>
        <p:spPr>
          <a:xfrm>
            <a:off x="609600" y="6324600"/>
            <a:ext cx="1428750" cy="228600"/>
          </a:xfrm>
          <a:prstGeom prst="rect">
            <a:avLst/>
          </a:prstGeom>
          <a:noFill/>
          <a:ln w="0">
            <a:noFill/>
            <a:prstDash val="solid"/>
          </a:ln>
        </p:spPr>
        <p:txBody>
          <a:bodyPr anchor="t"/>
          <a:lstStyle/>
          <a:p>
            <a:pPr algn="l">
              <a:defRPr sz="975" b="1" i="0">
                <a:solidFill>
                  <a:srgbClr val="08065C"/>
                </a:solidFill>
              </a:defRPr>
            </a:pPr>
            <a:r>
              <a:rPr sz="975" b="1" i="0">
                <a:solidFill>
                  <a:srgbClr val="08065C"/>
                </a:solidFill>
              </a:rPr>
              <a:t>Embedding:</a:t>
            </a:r>
          </a:p>
        </p:txBody>
      </p:sp>
      <p:sp>
        <p:nvSpPr>
          <p:cNvPr id="19" name="Rectangle 18">
            <a:extLst>
              <a:ext uri="{FF2B5EF4-FFF2-40B4-BE49-F238E27FC236}">
                <a16:creationId xmlns:a16="http://schemas.microsoft.com/office/drawing/2014/main" id="{55C002FB-AFE3-4058-AD94-958C47FEEEED}"/>
              </a:ext>
            </a:extLst>
          </p:cNvPr>
          <p:cNvSpPr>
            <a:spLocks noGrp="1"/>
          </p:cNvSpPr>
          <p:nvPr/>
        </p:nvSpPr>
        <p:spPr>
          <a:xfrm>
            <a:off x="1752600" y="6324600"/>
            <a:ext cx="9144000" cy="247650"/>
          </a:xfrm>
          <a:prstGeom prst="rect">
            <a:avLst/>
          </a:prstGeom>
          <a:noFill/>
          <a:ln w="0">
            <a:noFill/>
            <a:prstDash val="solid"/>
          </a:ln>
        </p:spPr>
        <p:txBody>
          <a:bodyPr anchor="t"/>
          <a:lstStyle/>
          <a:p>
            <a:pPr algn="l">
              <a:defRPr sz="975" b="0" i="0">
                <a:solidFill>
                  <a:srgbClr val="5E6B75"/>
                </a:solidFill>
              </a:defRPr>
            </a:pPr>
            <a:r>
              <a:rPr sz="975" b="0" i="0">
                <a:solidFill>
                  <a:srgbClr val="5E6B75"/>
                </a:solidFill>
              </a:rPr>
              <a:t>A compact numerical vector that represents learned relationships in satellite observations.</a:t>
            </a:r>
          </a:p>
        </p:txBody>
      </p:sp>
    </p:spTree>
    <p:extLst>
      <p:ext uri="{BB962C8B-B14F-4D97-AF65-F5344CB8AC3E}">
        <p14:creationId xmlns:p14="http://schemas.microsoft.com/office/powerpoint/2010/main" val="233867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84461F7-B5BE-48C8-946E-453F24641A13}"/>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DATASET 2</a:t>
            </a:r>
          </a:p>
        </p:txBody>
      </p:sp>
      <p:sp>
        <p:nvSpPr>
          <p:cNvPr id="2" name="slide-8-title">
            <a:extLst>
              <a:ext uri="{FF2B5EF4-FFF2-40B4-BE49-F238E27FC236}">
                <a16:creationId xmlns:a16="http://schemas.microsoft.com/office/drawing/2014/main" id="{D5C9EDDC-C7C5-439F-84D1-A254B45DA74B}"/>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DEA Land Cover adds categorical context</a:t>
            </a:r>
          </a:p>
        </p:txBody>
      </p:sp>
      <p:sp>
        <p:nvSpPr>
          <p:cNvPr id="3" name="Straight Connector 2">
            <a:extLst>
              <a:ext uri="{FF2B5EF4-FFF2-40B4-BE49-F238E27FC236}">
                <a16:creationId xmlns:a16="http://schemas.microsoft.com/office/drawing/2014/main" id="{5FA7FAAA-C664-4941-9EAB-3C0A33FA84FA}"/>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56D31BE5-B183-499B-B114-0A8EE637CA93}"/>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08</a:t>
            </a:r>
          </a:p>
        </p:txBody>
      </p:sp>
      <p:pic>
        <p:nvPicPr>
          <p:cNvPr id="20" name="Picture 19"/>
          <p:cNvPicPr>
            <a:picLocks noChangeAspect="1"/>
          </p:cNvPicPr>
          <p:nvPr/>
        </p:nvPicPr>
        <p:blipFill>
          <a:blip r:embed="rId3"/>
          <a:srcRect l="1250" r="1250"/>
          <a:stretch>
            <a:fillRect/>
          </a:stretch>
        </p:blipFill>
        <p:spPr>
          <a:xfrm>
            <a:off x="609600" y="1466850"/>
            <a:ext cx="4953000" cy="2857500"/>
          </a:xfrm>
          <a:prstGeom prst="roundRect">
            <a:avLst>
              <a:gd name="adj" fmla="val 2333"/>
            </a:avLst>
          </a:prstGeom>
        </p:spPr>
      </p:pic>
      <p:pic>
        <p:nvPicPr>
          <p:cNvPr id="21" name="Picture 20"/>
          <p:cNvPicPr>
            <a:picLocks noChangeAspect="1"/>
          </p:cNvPicPr>
          <p:nvPr/>
        </p:nvPicPr>
        <p:blipFill>
          <a:blip r:embed="rId4"/>
          <a:stretch/>
        </p:blipFill>
        <p:spPr>
          <a:xfrm>
            <a:off x="5660993" y="1836800"/>
            <a:ext cx="6461963" cy="2301629"/>
          </a:xfrm>
          <a:prstGeom prst="rect">
            <a:avLst/>
          </a:prstGeom>
        </p:spPr>
      </p:pic>
      <p:sp>
        <p:nvSpPr>
          <p:cNvPr id="7" name="Rectangle 6">
            <a:extLst>
              <a:ext uri="{FF2B5EF4-FFF2-40B4-BE49-F238E27FC236}">
                <a16:creationId xmlns:a16="http://schemas.microsoft.com/office/drawing/2014/main" id="{4326A670-1725-4E05-A3BD-DF44C2A9731D}"/>
              </a:ext>
            </a:extLst>
          </p:cNvPr>
          <p:cNvSpPr>
            <a:spLocks noGrp="1"/>
          </p:cNvSpPr>
          <p:nvPr/>
        </p:nvSpPr>
        <p:spPr>
          <a:xfrm>
            <a:off x="2398081" y="4698878"/>
            <a:ext cx="1714500" cy="323850"/>
          </a:xfrm>
          <a:prstGeom prst="rect">
            <a:avLst/>
          </a:prstGeom>
          <a:noFill/>
          <a:ln w="0">
            <a:noFill/>
            <a:prstDash val="solid"/>
          </a:ln>
        </p:spPr>
        <p:txBody>
          <a:bodyPr anchor="t"/>
          <a:lstStyle/>
          <a:p>
            <a:pPr algn="l">
              <a:defRPr sz="1800" b="1" i="0">
                <a:solidFill>
                  <a:srgbClr val="234E8A"/>
                </a:solidFill>
              </a:defRPr>
            </a:pPr>
            <a:r>
              <a:rPr sz="1800" b="1" i="0" dirty="0">
                <a:solidFill>
                  <a:srgbClr val="234E8A"/>
                </a:solidFill>
              </a:rPr>
              <a:t>Level 3</a:t>
            </a:r>
          </a:p>
        </p:txBody>
      </p:sp>
      <p:sp>
        <p:nvSpPr>
          <p:cNvPr id="8" name="Rectangle 7">
            <a:extLst>
              <a:ext uri="{FF2B5EF4-FFF2-40B4-BE49-F238E27FC236}">
                <a16:creationId xmlns:a16="http://schemas.microsoft.com/office/drawing/2014/main" id="{B924D277-BD21-4207-82FB-9C69ACE44DF5}"/>
              </a:ext>
            </a:extLst>
          </p:cNvPr>
          <p:cNvSpPr>
            <a:spLocks noGrp="1"/>
          </p:cNvSpPr>
          <p:nvPr/>
        </p:nvSpPr>
        <p:spPr>
          <a:xfrm>
            <a:off x="2398081" y="5060828"/>
            <a:ext cx="1714500" cy="285750"/>
          </a:xfrm>
          <a:prstGeom prst="rect">
            <a:avLst/>
          </a:prstGeom>
          <a:noFill/>
          <a:ln w="0">
            <a:noFill/>
            <a:prstDash val="solid"/>
          </a:ln>
        </p:spPr>
        <p:txBody>
          <a:bodyPr anchor="t"/>
          <a:lstStyle/>
          <a:p>
            <a:pPr algn="l">
              <a:defRPr sz="1350" b="0" i="0">
                <a:solidFill>
                  <a:srgbClr val="5E6B75"/>
                </a:solidFill>
              </a:defRPr>
            </a:pPr>
            <a:r>
              <a:rPr sz="1350" b="0" i="0">
                <a:solidFill>
                  <a:srgbClr val="5E6B75"/>
                </a:solidFill>
              </a:rPr>
              <a:t>Broad classes</a:t>
            </a:r>
          </a:p>
        </p:txBody>
      </p:sp>
      <p:sp>
        <p:nvSpPr>
          <p:cNvPr id="9" name="Rectangle 8">
            <a:extLst>
              <a:ext uri="{FF2B5EF4-FFF2-40B4-BE49-F238E27FC236}">
                <a16:creationId xmlns:a16="http://schemas.microsoft.com/office/drawing/2014/main" id="{0F566CDD-8B1C-48FC-973F-2A13B7C5972E}"/>
              </a:ext>
            </a:extLst>
          </p:cNvPr>
          <p:cNvSpPr>
            <a:spLocks noGrp="1"/>
          </p:cNvSpPr>
          <p:nvPr/>
        </p:nvSpPr>
        <p:spPr>
          <a:xfrm>
            <a:off x="4199970" y="4900429"/>
            <a:ext cx="6416521" cy="320798"/>
          </a:xfrm>
          <a:prstGeom prst="rect">
            <a:avLst/>
          </a:prstGeom>
          <a:noFill/>
          <a:ln w="0">
            <a:noFill/>
            <a:prstDash val="solid"/>
          </a:ln>
        </p:spPr>
        <p:txBody>
          <a:bodyPr anchor="t"/>
          <a:lstStyle/>
          <a:p>
            <a:pPr algn="l">
              <a:defRPr sz="1350" b="0" i="0">
                <a:solidFill>
                  <a:srgbClr val="18232B"/>
                </a:solidFill>
              </a:defRPr>
            </a:pPr>
            <a:r>
              <a:rPr sz="1350" b="0" i="0" dirty="0">
                <a:solidFill>
                  <a:srgbClr val="18232B"/>
                </a:solidFill>
              </a:rPr>
              <a:t>Natural vegetation · cultivated vegetation · artificial surface · bare surface · water</a:t>
            </a:r>
          </a:p>
        </p:txBody>
      </p:sp>
      <p:sp>
        <p:nvSpPr>
          <p:cNvPr id="10" name="Rectangle 9">
            <a:extLst>
              <a:ext uri="{FF2B5EF4-FFF2-40B4-BE49-F238E27FC236}">
                <a16:creationId xmlns:a16="http://schemas.microsoft.com/office/drawing/2014/main" id="{428E24B9-5961-4149-9B1F-C01C57F6B9B5}"/>
              </a:ext>
            </a:extLst>
          </p:cNvPr>
          <p:cNvSpPr>
            <a:spLocks noGrp="1"/>
          </p:cNvSpPr>
          <p:nvPr/>
        </p:nvSpPr>
        <p:spPr>
          <a:xfrm>
            <a:off x="2398081" y="5486401"/>
            <a:ext cx="1714500" cy="323850"/>
          </a:xfrm>
          <a:prstGeom prst="rect">
            <a:avLst/>
          </a:prstGeom>
          <a:noFill/>
          <a:ln w="0">
            <a:noFill/>
            <a:prstDash val="solid"/>
          </a:ln>
        </p:spPr>
        <p:txBody>
          <a:bodyPr anchor="t"/>
          <a:lstStyle/>
          <a:p>
            <a:pPr algn="l">
              <a:defRPr sz="1800" b="1" i="0">
                <a:solidFill>
                  <a:srgbClr val="147D70"/>
                </a:solidFill>
              </a:defRPr>
            </a:pPr>
            <a:r>
              <a:rPr sz="1800" b="1" i="0">
                <a:solidFill>
                  <a:srgbClr val="147D70"/>
                </a:solidFill>
              </a:rPr>
              <a:t>Level 4</a:t>
            </a:r>
          </a:p>
        </p:txBody>
      </p:sp>
      <p:sp>
        <p:nvSpPr>
          <p:cNvPr id="11" name="Rectangle 10">
            <a:extLst>
              <a:ext uri="{FF2B5EF4-FFF2-40B4-BE49-F238E27FC236}">
                <a16:creationId xmlns:a16="http://schemas.microsoft.com/office/drawing/2014/main" id="{4DB33856-17A3-4C76-A5E3-085697AB90B3}"/>
              </a:ext>
            </a:extLst>
          </p:cNvPr>
          <p:cNvSpPr>
            <a:spLocks noGrp="1"/>
          </p:cNvSpPr>
          <p:nvPr/>
        </p:nvSpPr>
        <p:spPr>
          <a:xfrm>
            <a:off x="2398081" y="5848351"/>
            <a:ext cx="2000250" cy="285750"/>
          </a:xfrm>
          <a:prstGeom prst="rect">
            <a:avLst/>
          </a:prstGeom>
          <a:noFill/>
          <a:ln w="0">
            <a:noFill/>
            <a:prstDash val="solid"/>
          </a:ln>
        </p:spPr>
        <p:txBody>
          <a:bodyPr anchor="t"/>
          <a:lstStyle/>
          <a:p>
            <a:pPr algn="l">
              <a:defRPr sz="1350" b="0" i="0">
                <a:solidFill>
                  <a:srgbClr val="5E6B75"/>
                </a:solidFill>
              </a:defRPr>
            </a:pPr>
            <a:r>
              <a:rPr sz="1350" b="0" i="0">
                <a:solidFill>
                  <a:srgbClr val="5E6B75"/>
                </a:solidFill>
              </a:rPr>
              <a:t>More structural detail</a:t>
            </a:r>
          </a:p>
        </p:txBody>
      </p:sp>
      <p:sp>
        <p:nvSpPr>
          <p:cNvPr id="12" name="Rectangle 11">
            <a:extLst>
              <a:ext uri="{FF2B5EF4-FFF2-40B4-BE49-F238E27FC236}">
                <a16:creationId xmlns:a16="http://schemas.microsoft.com/office/drawing/2014/main" id="{09337A55-3EAA-48B0-8FEE-7E01EA39B90A}"/>
              </a:ext>
            </a:extLst>
          </p:cNvPr>
          <p:cNvSpPr>
            <a:spLocks noGrp="1"/>
          </p:cNvSpPr>
          <p:nvPr/>
        </p:nvSpPr>
        <p:spPr>
          <a:xfrm>
            <a:off x="4199970" y="5648326"/>
            <a:ext cx="4449562" cy="320798"/>
          </a:xfrm>
          <a:prstGeom prst="rect">
            <a:avLst/>
          </a:prstGeom>
          <a:noFill/>
          <a:ln w="0">
            <a:noFill/>
            <a:prstDash val="solid"/>
          </a:ln>
        </p:spPr>
        <p:txBody>
          <a:bodyPr anchor="t"/>
          <a:lstStyle/>
          <a:p>
            <a:pPr algn="l">
              <a:defRPr sz="1350" b="0" i="0">
                <a:solidFill>
                  <a:srgbClr val="18232B"/>
                </a:solidFill>
              </a:defRPr>
            </a:pPr>
            <a:r>
              <a:rPr sz="1350" b="0" i="0" dirty="0">
                <a:solidFill>
                  <a:srgbClr val="18232B"/>
                </a:solidFill>
              </a:rPr>
              <a:t>Woody or herbaceous vegetation; open or closed cover</a:t>
            </a:r>
          </a:p>
        </p:txBody>
      </p:sp>
      <p:sp>
        <p:nvSpPr>
          <p:cNvPr id="13" name="Straight Connector 12">
            <a:extLst>
              <a:ext uri="{FF2B5EF4-FFF2-40B4-BE49-F238E27FC236}">
                <a16:creationId xmlns:a16="http://schemas.microsoft.com/office/drawing/2014/main" id="{0DF8C2FD-298C-43D0-B5D6-CC4E09B2F8CE}"/>
              </a:ext>
            </a:extLst>
          </p:cNvPr>
          <p:cNvSpPr>
            <a:spLocks noGrp="1"/>
          </p:cNvSpPr>
          <p:nvPr/>
        </p:nvSpPr>
        <p:spPr>
          <a:xfrm>
            <a:off x="609600" y="6229350"/>
            <a:ext cx="10972800" cy="0"/>
          </a:xfrm>
          <a:prstGeom prst="line">
            <a:avLst/>
          </a:prstGeom>
          <a:noFill/>
          <a:ln w="9525">
            <a:solidFill>
              <a:srgbClr val="D4DDE2"/>
            </a:solidFill>
            <a:prstDash val="solid"/>
          </a:ln>
        </p:spPr>
        <p:txBody>
          <a:bodyPr/>
          <a:lstStyle/>
          <a:p>
            <a:endParaRPr lang="en-US"/>
          </a:p>
        </p:txBody>
      </p:sp>
      <p:sp>
        <p:nvSpPr>
          <p:cNvPr id="14" name="Rectangle 13">
            <a:extLst>
              <a:ext uri="{FF2B5EF4-FFF2-40B4-BE49-F238E27FC236}">
                <a16:creationId xmlns:a16="http://schemas.microsoft.com/office/drawing/2014/main" id="{EEC6C210-27B9-4517-AE49-EB653ECB3361}"/>
              </a:ext>
            </a:extLst>
          </p:cNvPr>
          <p:cNvSpPr>
            <a:spLocks noGrp="1"/>
          </p:cNvSpPr>
          <p:nvPr/>
        </p:nvSpPr>
        <p:spPr>
          <a:xfrm>
            <a:off x="609600" y="6324600"/>
            <a:ext cx="1428750" cy="228600"/>
          </a:xfrm>
          <a:prstGeom prst="rect">
            <a:avLst/>
          </a:prstGeom>
          <a:noFill/>
          <a:ln w="0">
            <a:noFill/>
            <a:prstDash val="solid"/>
          </a:ln>
        </p:spPr>
        <p:txBody>
          <a:bodyPr anchor="t"/>
          <a:lstStyle/>
          <a:p>
            <a:pPr algn="l">
              <a:defRPr sz="975" b="1" i="0">
                <a:solidFill>
                  <a:srgbClr val="08065C"/>
                </a:solidFill>
              </a:defRPr>
            </a:pPr>
            <a:r>
              <a:rPr sz="975" b="1" i="0">
                <a:solidFill>
                  <a:srgbClr val="08065C"/>
                </a:solidFill>
              </a:rPr>
              <a:t>DEA Land Cover:</a:t>
            </a:r>
          </a:p>
        </p:txBody>
      </p:sp>
      <p:sp>
        <p:nvSpPr>
          <p:cNvPr id="15" name="Rectangle 14">
            <a:extLst>
              <a:ext uri="{FF2B5EF4-FFF2-40B4-BE49-F238E27FC236}">
                <a16:creationId xmlns:a16="http://schemas.microsoft.com/office/drawing/2014/main" id="{68118723-AC98-44FB-A853-67E8F46B2C7E}"/>
              </a:ext>
            </a:extLst>
          </p:cNvPr>
          <p:cNvSpPr>
            <a:spLocks noGrp="1"/>
          </p:cNvSpPr>
          <p:nvPr/>
        </p:nvSpPr>
        <p:spPr>
          <a:xfrm>
            <a:off x="1752600" y="6324600"/>
            <a:ext cx="9144000" cy="247650"/>
          </a:xfrm>
          <a:prstGeom prst="rect">
            <a:avLst/>
          </a:prstGeom>
          <a:noFill/>
          <a:ln w="0">
            <a:noFill/>
            <a:prstDash val="solid"/>
          </a:ln>
        </p:spPr>
        <p:txBody>
          <a:bodyPr anchor="t"/>
          <a:lstStyle/>
          <a:p>
            <a:pPr algn="l">
              <a:defRPr sz="975" b="0" i="0">
                <a:solidFill>
                  <a:srgbClr val="5E6B75"/>
                </a:solidFill>
              </a:defRPr>
            </a:pPr>
            <a:r>
              <a:rPr sz="975" b="0" i="0">
                <a:solidFill>
                  <a:srgbClr val="5E6B75"/>
                </a:solidFill>
              </a:rPr>
              <a:t>Australia-wide annual land-cover classification derived from Landsat observations.</a:t>
            </a:r>
          </a:p>
        </p:txBody>
      </p:sp>
    </p:spTree>
    <p:extLst>
      <p:ext uri="{BB962C8B-B14F-4D97-AF65-F5344CB8AC3E}">
        <p14:creationId xmlns:p14="http://schemas.microsoft.com/office/powerpoint/2010/main" val="403884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51DD829-63FF-4EB8-92AC-D3F8EC7DB342}"/>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DATASET 3</a:t>
            </a:r>
          </a:p>
        </p:txBody>
      </p:sp>
      <p:sp>
        <p:nvSpPr>
          <p:cNvPr id="2" name="slide-9-title">
            <a:extLst>
              <a:ext uri="{FF2B5EF4-FFF2-40B4-BE49-F238E27FC236}">
                <a16:creationId xmlns:a16="http://schemas.microsoft.com/office/drawing/2014/main" id="{D5DC66FC-092C-43EC-A99D-9DC491E7FBE1}"/>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NDVI adds vegetation direction</a:t>
            </a:r>
          </a:p>
        </p:txBody>
      </p:sp>
      <p:sp>
        <p:nvSpPr>
          <p:cNvPr id="3" name="Straight Connector 2">
            <a:extLst>
              <a:ext uri="{FF2B5EF4-FFF2-40B4-BE49-F238E27FC236}">
                <a16:creationId xmlns:a16="http://schemas.microsoft.com/office/drawing/2014/main" id="{55D660F2-DAC6-47E4-BBC1-FA3AE41164DD}"/>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CF47308E-EFCE-4277-9D8E-379E1D3BFFD7}"/>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09</a:t>
            </a:r>
          </a:p>
        </p:txBody>
      </p:sp>
      <p:pic>
        <p:nvPicPr>
          <p:cNvPr id="31" name="Picture 30"/>
          <p:cNvPicPr>
            <a:picLocks noChangeAspect="1"/>
          </p:cNvPicPr>
          <p:nvPr/>
        </p:nvPicPr>
        <p:blipFill>
          <a:blip r:embed="rId3"/>
          <a:srcRect l="4297" r="4297"/>
          <a:stretch>
            <a:fillRect/>
          </a:stretch>
        </p:blipFill>
        <p:spPr>
          <a:xfrm>
            <a:off x="663181" y="1876426"/>
            <a:ext cx="5432819" cy="3343273"/>
          </a:xfrm>
          <a:prstGeom prst="roundRect">
            <a:avLst>
              <a:gd name="adj" fmla="val 2188"/>
            </a:avLst>
          </a:prstGeom>
        </p:spPr>
      </p:pic>
      <p:sp>
        <p:nvSpPr>
          <p:cNvPr id="6" name="Rectangle 5">
            <a:extLst>
              <a:ext uri="{FF2B5EF4-FFF2-40B4-BE49-F238E27FC236}">
                <a16:creationId xmlns:a16="http://schemas.microsoft.com/office/drawing/2014/main" id="{F3666251-A140-4B3A-9A7B-1A60CF686A53}"/>
              </a:ext>
            </a:extLst>
          </p:cNvPr>
          <p:cNvSpPr>
            <a:spLocks noGrp="1"/>
          </p:cNvSpPr>
          <p:nvPr/>
        </p:nvSpPr>
        <p:spPr>
          <a:xfrm>
            <a:off x="6496050" y="1762124"/>
            <a:ext cx="5048250" cy="495300"/>
          </a:xfrm>
          <a:prstGeom prst="rect">
            <a:avLst/>
          </a:prstGeom>
          <a:noFill/>
          <a:ln w="0">
            <a:noFill/>
            <a:prstDash val="solid"/>
          </a:ln>
        </p:spPr>
        <p:txBody>
          <a:bodyPr anchor="t"/>
          <a:lstStyle/>
          <a:p>
            <a:pPr algn="ctr">
              <a:defRPr sz="2100" b="1" i="0">
                <a:solidFill>
                  <a:srgbClr val="08065C"/>
                </a:solidFill>
              </a:defRPr>
            </a:pPr>
            <a:r>
              <a:rPr sz="2100" b="1" i="0">
                <a:solidFill>
                  <a:srgbClr val="08065C"/>
                </a:solidFill>
              </a:rPr>
              <a:t>NDVI = (NIR − Red) / (NIR + Red)</a:t>
            </a:r>
          </a:p>
        </p:txBody>
      </p:sp>
      <p:sp>
        <p:nvSpPr>
          <p:cNvPr id="7" name="Rectangle 6">
            <a:extLst>
              <a:ext uri="{FF2B5EF4-FFF2-40B4-BE49-F238E27FC236}">
                <a16:creationId xmlns:a16="http://schemas.microsoft.com/office/drawing/2014/main" id="{A6BD040B-EBC4-4B78-88FB-87C80B80577E}"/>
              </a:ext>
            </a:extLst>
          </p:cNvPr>
          <p:cNvSpPr>
            <a:spLocks noGrp="1"/>
          </p:cNvSpPr>
          <p:nvPr/>
        </p:nvSpPr>
        <p:spPr>
          <a:xfrm>
            <a:off x="6896100" y="2619374"/>
            <a:ext cx="4191000" cy="304800"/>
          </a:xfrm>
          <a:prstGeom prst="rect">
            <a:avLst/>
          </a:prstGeom>
          <a:ln w="0">
            <a:noFill/>
            <a:prstDash val="solid"/>
          </a:ln>
        </p:spPr>
        <p:txBody>
          <a:bodyPr/>
          <a:lstStyle/>
          <a:p>
            <a:endParaRPr lang="en-US"/>
          </a:p>
        </p:txBody>
      </p:sp>
      <p:sp>
        <p:nvSpPr>
          <p:cNvPr id="8" name="Rectangle 7">
            <a:extLst>
              <a:ext uri="{FF2B5EF4-FFF2-40B4-BE49-F238E27FC236}">
                <a16:creationId xmlns:a16="http://schemas.microsoft.com/office/drawing/2014/main" id="{E76BBC36-F33F-477F-81AA-DE89F6FA20E6}"/>
              </a:ext>
            </a:extLst>
          </p:cNvPr>
          <p:cNvSpPr>
            <a:spLocks noGrp="1"/>
          </p:cNvSpPr>
          <p:nvPr/>
        </p:nvSpPr>
        <p:spPr>
          <a:xfrm>
            <a:off x="6896100" y="2619374"/>
            <a:ext cx="838200" cy="304800"/>
          </a:xfrm>
          <a:prstGeom prst="rect">
            <a:avLst/>
          </a:prstGeom>
          <a:solidFill>
            <a:srgbClr val="7B4C2D"/>
          </a:solidFill>
          <a:ln w="0">
            <a:noFill/>
            <a:prstDash val="solid"/>
          </a:ln>
        </p:spPr>
        <p:txBody>
          <a:bodyPr/>
          <a:lstStyle/>
          <a:p>
            <a:endParaRPr lang="en-US"/>
          </a:p>
        </p:txBody>
      </p:sp>
      <p:sp>
        <p:nvSpPr>
          <p:cNvPr id="9" name="Rectangle 8">
            <a:extLst>
              <a:ext uri="{FF2B5EF4-FFF2-40B4-BE49-F238E27FC236}">
                <a16:creationId xmlns:a16="http://schemas.microsoft.com/office/drawing/2014/main" id="{68B8FC63-B2E7-4B74-9835-4D0C0FF377C4}"/>
              </a:ext>
            </a:extLst>
          </p:cNvPr>
          <p:cNvSpPr>
            <a:spLocks noGrp="1"/>
          </p:cNvSpPr>
          <p:nvPr/>
        </p:nvSpPr>
        <p:spPr>
          <a:xfrm>
            <a:off x="7734300" y="2619374"/>
            <a:ext cx="838200" cy="304800"/>
          </a:xfrm>
          <a:prstGeom prst="rect">
            <a:avLst/>
          </a:prstGeom>
          <a:solidFill>
            <a:srgbClr val="BE8C4A"/>
          </a:solidFill>
          <a:ln w="0">
            <a:noFill/>
            <a:prstDash val="solid"/>
          </a:ln>
        </p:spPr>
        <p:txBody>
          <a:bodyPr/>
          <a:lstStyle/>
          <a:p>
            <a:endParaRPr lang="en-US"/>
          </a:p>
        </p:txBody>
      </p:sp>
      <p:sp>
        <p:nvSpPr>
          <p:cNvPr id="10" name="Rectangle 9">
            <a:extLst>
              <a:ext uri="{FF2B5EF4-FFF2-40B4-BE49-F238E27FC236}">
                <a16:creationId xmlns:a16="http://schemas.microsoft.com/office/drawing/2014/main" id="{74D2CA3D-1F00-4168-80CA-B46D881B577B}"/>
              </a:ext>
            </a:extLst>
          </p:cNvPr>
          <p:cNvSpPr>
            <a:spLocks noGrp="1"/>
          </p:cNvSpPr>
          <p:nvPr/>
        </p:nvSpPr>
        <p:spPr>
          <a:xfrm>
            <a:off x="8572500" y="2619374"/>
            <a:ext cx="838200" cy="304800"/>
          </a:xfrm>
          <a:prstGeom prst="rect">
            <a:avLst/>
          </a:prstGeom>
          <a:solidFill>
            <a:srgbClr val="D7C66D"/>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8A53B841-3440-4736-ADCD-4C88B11E83DB}"/>
              </a:ext>
            </a:extLst>
          </p:cNvPr>
          <p:cNvSpPr>
            <a:spLocks noGrp="1"/>
          </p:cNvSpPr>
          <p:nvPr/>
        </p:nvSpPr>
        <p:spPr>
          <a:xfrm>
            <a:off x="9410700" y="2619374"/>
            <a:ext cx="838200" cy="304800"/>
          </a:xfrm>
          <a:prstGeom prst="rect">
            <a:avLst/>
          </a:prstGeom>
          <a:solidFill>
            <a:srgbClr val="88B75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3A136C58-9CA4-4708-91FF-7E331C688D22}"/>
              </a:ext>
            </a:extLst>
          </p:cNvPr>
          <p:cNvSpPr>
            <a:spLocks noGrp="1"/>
          </p:cNvSpPr>
          <p:nvPr/>
        </p:nvSpPr>
        <p:spPr>
          <a:xfrm>
            <a:off x="10248900" y="2619374"/>
            <a:ext cx="838200" cy="304800"/>
          </a:xfrm>
          <a:prstGeom prst="rect">
            <a:avLst/>
          </a:prstGeom>
          <a:solidFill>
            <a:srgbClr val="2C7A47"/>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A286ECE6-A300-406E-AD87-148BF8A9DC79}"/>
              </a:ext>
            </a:extLst>
          </p:cNvPr>
          <p:cNvSpPr>
            <a:spLocks noGrp="1"/>
          </p:cNvSpPr>
          <p:nvPr/>
        </p:nvSpPr>
        <p:spPr>
          <a:xfrm>
            <a:off x="6838950" y="3000374"/>
            <a:ext cx="476250" cy="22860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−1</a:t>
            </a:r>
          </a:p>
        </p:txBody>
      </p:sp>
      <p:sp>
        <p:nvSpPr>
          <p:cNvPr id="14" name="Rectangle 13">
            <a:extLst>
              <a:ext uri="{FF2B5EF4-FFF2-40B4-BE49-F238E27FC236}">
                <a16:creationId xmlns:a16="http://schemas.microsoft.com/office/drawing/2014/main" id="{1FCC656D-B4C2-460B-93CB-7C54A420CBA5}"/>
              </a:ext>
            </a:extLst>
          </p:cNvPr>
          <p:cNvSpPr>
            <a:spLocks noGrp="1"/>
          </p:cNvSpPr>
          <p:nvPr/>
        </p:nvSpPr>
        <p:spPr>
          <a:xfrm>
            <a:off x="8896350" y="3000374"/>
            <a:ext cx="381000" cy="228600"/>
          </a:xfrm>
          <a:prstGeom prst="rect">
            <a:avLst/>
          </a:prstGeom>
          <a:noFill/>
          <a:ln w="0">
            <a:noFill/>
            <a:prstDash val="solid"/>
          </a:ln>
        </p:spPr>
        <p:txBody>
          <a:bodyPr anchor="t"/>
          <a:lstStyle/>
          <a:p>
            <a:pPr algn="ctr">
              <a:defRPr sz="1125" b="0" i="0">
                <a:solidFill>
                  <a:srgbClr val="5E6B75"/>
                </a:solidFill>
              </a:defRPr>
            </a:pPr>
            <a:r>
              <a:rPr sz="1125" b="0" i="0">
                <a:solidFill>
                  <a:srgbClr val="5E6B75"/>
                </a:solidFill>
              </a:rPr>
              <a:t>0</a:t>
            </a:r>
          </a:p>
        </p:txBody>
      </p:sp>
      <p:sp>
        <p:nvSpPr>
          <p:cNvPr id="15" name="Rectangle 14">
            <a:extLst>
              <a:ext uri="{FF2B5EF4-FFF2-40B4-BE49-F238E27FC236}">
                <a16:creationId xmlns:a16="http://schemas.microsoft.com/office/drawing/2014/main" id="{6063A551-724B-4E43-BE45-D232C02BA3A2}"/>
              </a:ext>
            </a:extLst>
          </p:cNvPr>
          <p:cNvSpPr>
            <a:spLocks noGrp="1"/>
          </p:cNvSpPr>
          <p:nvPr/>
        </p:nvSpPr>
        <p:spPr>
          <a:xfrm>
            <a:off x="10706100" y="3000374"/>
            <a:ext cx="438150" cy="228600"/>
          </a:xfrm>
          <a:prstGeom prst="rect">
            <a:avLst/>
          </a:prstGeom>
          <a:noFill/>
          <a:ln w="0">
            <a:noFill/>
            <a:prstDash val="solid"/>
          </a:ln>
        </p:spPr>
        <p:txBody>
          <a:bodyPr anchor="t"/>
          <a:lstStyle/>
          <a:p>
            <a:pPr algn="r">
              <a:defRPr sz="1125" b="0" i="0">
                <a:solidFill>
                  <a:srgbClr val="5E6B75"/>
                </a:solidFill>
              </a:defRPr>
            </a:pPr>
            <a:r>
              <a:rPr sz="1125" b="0" i="0">
                <a:solidFill>
                  <a:srgbClr val="5E6B75"/>
                </a:solidFill>
              </a:rPr>
              <a:t>+1</a:t>
            </a:r>
          </a:p>
        </p:txBody>
      </p:sp>
      <p:sp>
        <p:nvSpPr>
          <p:cNvPr id="16" name="Rectangle 15">
            <a:extLst>
              <a:ext uri="{FF2B5EF4-FFF2-40B4-BE49-F238E27FC236}">
                <a16:creationId xmlns:a16="http://schemas.microsoft.com/office/drawing/2014/main" id="{31D89FD1-4824-478D-A6EB-9206B41E6740}"/>
              </a:ext>
            </a:extLst>
          </p:cNvPr>
          <p:cNvSpPr>
            <a:spLocks noGrp="1"/>
          </p:cNvSpPr>
          <p:nvPr/>
        </p:nvSpPr>
        <p:spPr>
          <a:xfrm>
            <a:off x="6838950" y="3305174"/>
            <a:ext cx="1714500" cy="266700"/>
          </a:xfrm>
          <a:prstGeom prst="rect">
            <a:avLst/>
          </a:prstGeom>
          <a:noFill/>
          <a:ln w="0">
            <a:noFill/>
            <a:prstDash val="solid"/>
          </a:ln>
        </p:spPr>
        <p:txBody>
          <a:bodyPr anchor="t"/>
          <a:lstStyle/>
          <a:p>
            <a:pPr algn="l">
              <a:defRPr sz="1200" b="0" i="0">
                <a:solidFill>
                  <a:srgbClr val="5E6B75"/>
                </a:solidFill>
              </a:defRPr>
            </a:pPr>
            <a:r>
              <a:rPr sz="1200" b="0" i="0">
                <a:solidFill>
                  <a:srgbClr val="5E6B75"/>
                </a:solidFill>
              </a:rPr>
              <a:t>less vegetation signal</a:t>
            </a:r>
          </a:p>
        </p:txBody>
      </p:sp>
      <p:sp>
        <p:nvSpPr>
          <p:cNvPr id="17" name="Rectangle 16">
            <a:extLst>
              <a:ext uri="{FF2B5EF4-FFF2-40B4-BE49-F238E27FC236}">
                <a16:creationId xmlns:a16="http://schemas.microsoft.com/office/drawing/2014/main" id="{A90C4156-E127-46F3-A2D4-6FAF5A18E4E6}"/>
              </a:ext>
            </a:extLst>
          </p:cNvPr>
          <p:cNvSpPr>
            <a:spLocks noGrp="1"/>
          </p:cNvSpPr>
          <p:nvPr/>
        </p:nvSpPr>
        <p:spPr>
          <a:xfrm>
            <a:off x="9372600" y="3305174"/>
            <a:ext cx="1809750" cy="266700"/>
          </a:xfrm>
          <a:prstGeom prst="rect">
            <a:avLst/>
          </a:prstGeom>
          <a:noFill/>
          <a:ln w="0">
            <a:noFill/>
            <a:prstDash val="solid"/>
          </a:ln>
        </p:spPr>
        <p:txBody>
          <a:bodyPr anchor="t"/>
          <a:lstStyle/>
          <a:p>
            <a:pPr algn="r">
              <a:defRPr sz="1200" b="0" i="0">
                <a:solidFill>
                  <a:srgbClr val="5E6B75"/>
                </a:solidFill>
              </a:defRPr>
            </a:pPr>
            <a:r>
              <a:rPr sz="1200" b="0" i="0">
                <a:solidFill>
                  <a:srgbClr val="5E6B75"/>
                </a:solidFill>
              </a:rPr>
              <a:t>stronger greenness signal</a:t>
            </a:r>
          </a:p>
        </p:txBody>
      </p:sp>
      <p:sp>
        <p:nvSpPr>
          <p:cNvPr id="18" name="Oval 17">
            <a:extLst>
              <a:ext uri="{FF2B5EF4-FFF2-40B4-BE49-F238E27FC236}">
                <a16:creationId xmlns:a16="http://schemas.microsoft.com/office/drawing/2014/main" id="{020DBB9F-C0AC-41A3-B04C-2A49EDE3AF4D}"/>
              </a:ext>
            </a:extLst>
          </p:cNvPr>
          <p:cNvSpPr>
            <a:spLocks noGrp="1"/>
          </p:cNvSpPr>
          <p:nvPr/>
        </p:nvSpPr>
        <p:spPr>
          <a:xfrm>
            <a:off x="6496050" y="4038599"/>
            <a:ext cx="76200" cy="76200"/>
          </a:xfrm>
          <a:prstGeom prst="ellipse">
            <a:avLst/>
          </a:prstGeom>
          <a:solidFill>
            <a:srgbClr val="147D70"/>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978A0FAC-40DC-4FF8-8B83-22305BF69B7D}"/>
              </a:ext>
            </a:extLst>
          </p:cNvPr>
          <p:cNvSpPr>
            <a:spLocks noGrp="1"/>
          </p:cNvSpPr>
          <p:nvPr/>
        </p:nvSpPr>
        <p:spPr>
          <a:xfrm>
            <a:off x="6705600" y="3952874"/>
            <a:ext cx="48387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Annual 30 m Landsat GeoMAD composite</a:t>
            </a:r>
          </a:p>
        </p:txBody>
      </p:sp>
      <p:sp>
        <p:nvSpPr>
          <p:cNvPr id="20" name="Oval 19">
            <a:extLst>
              <a:ext uri="{FF2B5EF4-FFF2-40B4-BE49-F238E27FC236}">
                <a16:creationId xmlns:a16="http://schemas.microsoft.com/office/drawing/2014/main" id="{E34631AC-A09D-4E61-8D40-4A9CF44F9EC5}"/>
              </a:ext>
            </a:extLst>
          </p:cNvPr>
          <p:cNvSpPr>
            <a:spLocks noGrp="1"/>
          </p:cNvSpPr>
          <p:nvPr/>
        </p:nvSpPr>
        <p:spPr>
          <a:xfrm>
            <a:off x="6496050" y="4591049"/>
            <a:ext cx="76200" cy="76200"/>
          </a:xfrm>
          <a:prstGeom prst="ellipse">
            <a:avLst/>
          </a:prstGeom>
          <a:solidFill>
            <a:srgbClr val="147D70"/>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A03246DF-2150-4B15-B96D-CE2BB72D61F1}"/>
              </a:ext>
            </a:extLst>
          </p:cNvPr>
          <p:cNvSpPr>
            <a:spLocks noGrp="1"/>
          </p:cNvSpPr>
          <p:nvPr/>
        </p:nvSpPr>
        <p:spPr>
          <a:xfrm>
            <a:off x="6705600" y="4505324"/>
            <a:ext cx="48387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Signed evidence: greening or browning</a:t>
            </a:r>
          </a:p>
        </p:txBody>
      </p:sp>
      <p:sp>
        <p:nvSpPr>
          <p:cNvPr id="22" name="Oval 21">
            <a:extLst>
              <a:ext uri="{FF2B5EF4-FFF2-40B4-BE49-F238E27FC236}">
                <a16:creationId xmlns:a16="http://schemas.microsoft.com/office/drawing/2014/main" id="{70AFC0A6-4676-41E0-8CDF-159791B6BED9}"/>
              </a:ext>
            </a:extLst>
          </p:cNvPr>
          <p:cNvSpPr>
            <a:spLocks noGrp="1"/>
          </p:cNvSpPr>
          <p:nvPr/>
        </p:nvSpPr>
        <p:spPr>
          <a:xfrm>
            <a:off x="6496050" y="5143499"/>
            <a:ext cx="76200" cy="76200"/>
          </a:xfrm>
          <a:prstGeom prst="ellipse">
            <a:avLst/>
          </a:prstGeom>
          <a:solidFill>
            <a:srgbClr val="147D70"/>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83EDC900-033F-435C-B430-7D59C7129680}"/>
              </a:ext>
            </a:extLst>
          </p:cNvPr>
          <p:cNvSpPr>
            <a:spLocks noGrp="1"/>
          </p:cNvSpPr>
          <p:nvPr/>
        </p:nvSpPr>
        <p:spPr>
          <a:xfrm>
            <a:off x="6705600" y="5057774"/>
            <a:ext cx="4838700" cy="514350"/>
          </a:xfrm>
          <a:prstGeom prst="rect">
            <a:avLst/>
          </a:prstGeom>
          <a:noFill/>
          <a:ln w="0">
            <a:noFill/>
            <a:prstDash val="solid"/>
          </a:ln>
        </p:spPr>
        <p:txBody>
          <a:bodyPr anchor="t"/>
          <a:lstStyle/>
          <a:p>
            <a:pPr algn="l">
              <a:defRPr sz="1350" b="0" i="0">
                <a:solidFill>
                  <a:srgbClr val="18232B"/>
                </a:solidFill>
              </a:defRPr>
            </a:pPr>
            <a:r>
              <a:rPr sz="1350" b="0" i="0" dirty="0">
                <a:solidFill>
                  <a:srgbClr val="18232B"/>
                </a:solidFill>
              </a:rPr>
              <a:t>Complements an embedding distance that has magnitude but no ecological direction</a:t>
            </a:r>
          </a:p>
        </p:txBody>
      </p:sp>
      <p:sp>
        <p:nvSpPr>
          <p:cNvPr id="24" name="Straight Connector 23">
            <a:extLst>
              <a:ext uri="{FF2B5EF4-FFF2-40B4-BE49-F238E27FC236}">
                <a16:creationId xmlns:a16="http://schemas.microsoft.com/office/drawing/2014/main" id="{A44100AF-6E4D-42BA-849C-46BF9C6DEC69}"/>
              </a:ext>
            </a:extLst>
          </p:cNvPr>
          <p:cNvSpPr>
            <a:spLocks noGrp="1"/>
          </p:cNvSpPr>
          <p:nvPr/>
        </p:nvSpPr>
        <p:spPr>
          <a:xfrm>
            <a:off x="609600" y="6229350"/>
            <a:ext cx="10972800" cy="0"/>
          </a:xfrm>
          <a:prstGeom prst="line">
            <a:avLst/>
          </a:prstGeom>
          <a:noFill/>
          <a:ln w="9525">
            <a:solidFill>
              <a:srgbClr val="D4DDE2"/>
            </a:solidFill>
            <a:prstDash val="solid"/>
          </a:ln>
        </p:spPr>
        <p:txBody>
          <a:bodyPr/>
          <a:lstStyle/>
          <a:p>
            <a:endParaRPr lang="en-US"/>
          </a:p>
        </p:txBody>
      </p:sp>
      <p:sp>
        <p:nvSpPr>
          <p:cNvPr id="25" name="Rectangle 24">
            <a:extLst>
              <a:ext uri="{FF2B5EF4-FFF2-40B4-BE49-F238E27FC236}">
                <a16:creationId xmlns:a16="http://schemas.microsoft.com/office/drawing/2014/main" id="{77A8CD1C-A205-4DA9-BCA3-CF7A70065865}"/>
              </a:ext>
            </a:extLst>
          </p:cNvPr>
          <p:cNvSpPr>
            <a:spLocks noGrp="1"/>
          </p:cNvSpPr>
          <p:nvPr/>
        </p:nvSpPr>
        <p:spPr>
          <a:xfrm>
            <a:off x="609600" y="6324600"/>
            <a:ext cx="1428750" cy="228600"/>
          </a:xfrm>
          <a:prstGeom prst="rect">
            <a:avLst/>
          </a:prstGeom>
          <a:noFill/>
          <a:ln w="0">
            <a:noFill/>
            <a:prstDash val="solid"/>
          </a:ln>
        </p:spPr>
        <p:txBody>
          <a:bodyPr anchor="t"/>
          <a:lstStyle/>
          <a:p>
            <a:pPr algn="l">
              <a:defRPr sz="975" b="1" i="0">
                <a:solidFill>
                  <a:srgbClr val="08065C"/>
                </a:solidFill>
              </a:defRPr>
            </a:pPr>
            <a:r>
              <a:rPr sz="975" b="1" i="0">
                <a:solidFill>
                  <a:srgbClr val="08065C"/>
                </a:solidFill>
              </a:rPr>
              <a:t>NDVI:</a:t>
            </a:r>
          </a:p>
        </p:txBody>
      </p:sp>
      <p:sp>
        <p:nvSpPr>
          <p:cNvPr id="26" name="Rectangle 25">
            <a:extLst>
              <a:ext uri="{FF2B5EF4-FFF2-40B4-BE49-F238E27FC236}">
                <a16:creationId xmlns:a16="http://schemas.microsoft.com/office/drawing/2014/main" id="{B6BCDAB8-E1D7-49E2-A651-676F7015D5B9}"/>
              </a:ext>
            </a:extLst>
          </p:cNvPr>
          <p:cNvSpPr>
            <a:spLocks noGrp="1"/>
          </p:cNvSpPr>
          <p:nvPr/>
        </p:nvSpPr>
        <p:spPr>
          <a:xfrm>
            <a:off x="1752600" y="6324600"/>
            <a:ext cx="9144000" cy="247650"/>
          </a:xfrm>
          <a:prstGeom prst="rect">
            <a:avLst/>
          </a:prstGeom>
          <a:noFill/>
          <a:ln w="0">
            <a:noFill/>
            <a:prstDash val="solid"/>
          </a:ln>
        </p:spPr>
        <p:txBody>
          <a:bodyPr anchor="t"/>
          <a:lstStyle/>
          <a:p>
            <a:pPr algn="l">
              <a:defRPr sz="975" b="0" i="0">
                <a:solidFill>
                  <a:srgbClr val="5E6B75"/>
                </a:solidFill>
              </a:defRPr>
            </a:pPr>
            <a:r>
              <a:rPr sz="975" b="0" i="0">
                <a:solidFill>
                  <a:srgbClr val="5E6B75"/>
                </a:solidFill>
              </a:rPr>
              <a:t>A spectral index between −1 and +1 that indicates relative vegetation greenness.</a:t>
            </a:r>
          </a:p>
        </p:txBody>
      </p:sp>
    </p:spTree>
    <p:extLst>
      <p:ext uri="{BB962C8B-B14F-4D97-AF65-F5344CB8AC3E}">
        <p14:creationId xmlns:p14="http://schemas.microsoft.com/office/powerpoint/2010/main" val="1014366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182564C6-F855-45E9-AC4B-CC2810D0F627}"/>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APPROACH</a:t>
            </a:r>
          </a:p>
        </p:txBody>
      </p:sp>
      <p:sp>
        <p:nvSpPr>
          <p:cNvPr id="2" name="slide-10-title">
            <a:extLst>
              <a:ext uri="{FF2B5EF4-FFF2-40B4-BE49-F238E27FC236}">
                <a16:creationId xmlns:a16="http://schemas.microsoft.com/office/drawing/2014/main" id="{211F6CC7-992B-40BE-9E46-5E06DEA9F13A}"/>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One pipeline connects signals to usable evidence</a:t>
            </a:r>
          </a:p>
        </p:txBody>
      </p:sp>
      <p:sp>
        <p:nvSpPr>
          <p:cNvPr id="3" name="Straight Connector 2">
            <a:extLst>
              <a:ext uri="{FF2B5EF4-FFF2-40B4-BE49-F238E27FC236}">
                <a16:creationId xmlns:a16="http://schemas.microsoft.com/office/drawing/2014/main" id="{DF2F47D6-FBBE-4239-967D-332D71AAADA1}"/>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CD7AE059-43C3-424C-8B05-4EDBE00216E6}"/>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10</a:t>
            </a:r>
          </a:p>
        </p:txBody>
      </p:sp>
      <p:sp>
        <p:nvSpPr>
          <p:cNvPr id="5" name="Rounded Rectangle 4">
            <a:extLst>
              <a:ext uri="{FF2B5EF4-FFF2-40B4-BE49-F238E27FC236}">
                <a16:creationId xmlns:a16="http://schemas.microsoft.com/office/drawing/2014/main" id="{0B1936AF-3193-42D7-80A4-59851C15872E}"/>
              </a:ext>
            </a:extLst>
          </p:cNvPr>
          <p:cNvSpPr>
            <a:spLocks noGrp="1"/>
          </p:cNvSpPr>
          <p:nvPr/>
        </p:nvSpPr>
        <p:spPr>
          <a:xfrm>
            <a:off x="666750" y="1524000"/>
            <a:ext cx="2857500" cy="1524000"/>
          </a:xfrm>
          <a:prstGeom prst="roundRect">
            <a:avLst>
              <a:gd name="adj" fmla="val 6250"/>
            </a:avLst>
          </a:prstGeom>
          <a:solidFill>
            <a:srgbClr val="FFFFFF"/>
          </a:solidFill>
          <a:ln w="11430">
            <a:solidFill>
              <a:srgbClr val="D4DDE2"/>
            </a:solidFill>
            <a:prstDash val="solid"/>
          </a:ln>
        </p:spPr>
        <p:txBody>
          <a:bodyPr/>
          <a:lstStyle/>
          <a:p>
            <a:endParaRPr lang="en-US"/>
          </a:p>
        </p:txBody>
      </p:sp>
      <p:sp>
        <p:nvSpPr>
          <p:cNvPr id="6" name="Rectangle 5">
            <a:extLst>
              <a:ext uri="{FF2B5EF4-FFF2-40B4-BE49-F238E27FC236}">
                <a16:creationId xmlns:a16="http://schemas.microsoft.com/office/drawing/2014/main" id="{19A771EE-4967-4458-BEFD-506125413AD0}"/>
              </a:ext>
            </a:extLst>
          </p:cNvPr>
          <p:cNvSpPr>
            <a:spLocks noGrp="1"/>
          </p:cNvSpPr>
          <p:nvPr/>
        </p:nvSpPr>
        <p:spPr>
          <a:xfrm>
            <a:off x="666750" y="1524000"/>
            <a:ext cx="95250" cy="1524000"/>
          </a:xfrm>
          <a:prstGeom prst="rect">
            <a:avLst/>
          </a:prstGeom>
          <a:solidFill>
            <a:srgbClr val="D48728"/>
          </a:solidFill>
          <a:ln w="0">
            <a:noFill/>
            <a:prstDash val="solid"/>
          </a:ln>
        </p:spPr>
        <p:txBody>
          <a:bodyPr/>
          <a:lstStyle/>
          <a:p>
            <a:endParaRPr lang="en-US"/>
          </a:p>
        </p:txBody>
      </p:sp>
      <p:sp>
        <p:nvSpPr>
          <p:cNvPr id="7" name="Rectangle 6">
            <a:extLst>
              <a:ext uri="{FF2B5EF4-FFF2-40B4-BE49-F238E27FC236}">
                <a16:creationId xmlns:a16="http://schemas.microsoft.com/office/drawing/2014/main" id="{1A550257-C79B-40CD-90C9-7927E36F8202}"/>
              </a:ext>
            </a:extLst>
          </p:cNvPr>
          <p:cNvSpPr>
            <a:spLocks noGrp="1"/>
          </p:cNvSpPr>
          <p:nvPr/>
        </p:nvSpPr>
        <p:spPr>
          <a:xfrm>
            <a:off x="876300" y="1676400"/>
            <a:ext cx="457200" cy="228600"/>
          </a:xfrm>
          <a:prstGeom prst="rect">
            <a:avLst/>
          </a:prstGeom>
          <a:noFill/>
          <a:ln w="0">
            <a:noFill/>
            <a:prstDash val="solid"/>
          </a:ln>
        </p:spPr>
        <p:txBody>
          <a:bodyPr anchor="t"/>
          <a:lstStyle/>
          <a:p>
            <a:pPr algn="l">
              <a:defRPr sz="1050" b="1" i="0">
                <a:solidFill>
                  <a:srgbClr val="D48728"/>
                </a:solidFill>
              </a:defRPr>
            </a:pPr>
            <a:r>
              <a:rPr sz="1050" b="1" i="0">
                <a:solidFill>
                  <a:srgbClr val="D48728"/>
                </a:solidFill>
              </a:rPr>
              <a:t>01</a:t>
            </a:r>
          </a:p>
        </p:txBody>
      </p:sp>
      <p:sp>
        <p:nvSpPr>
          <p:cNvPr id="8" name="Rectangle 7">
            <a:extLst>
              <a:ext uri="{FF2B5EF4-FFF2-40B4-BE49-F238E27FC236}">
                <a16:creationId xmlns:a16="http://schemas.microsoft.com/office/drawing/2014/main" id="{BC2DEF2F-BF48-44D7-B1E8-4993BE881278}"/>
              </a:ext>
            </a:extLst>
          </p:cNvPr>
          <p:cNvSpPr>
            <a:spLocks noGrp="1"/>
          </p:cNvSpPr>
          <p:nvPr/>
        </p:nvSpPr>
        <p:spPr>
          <a:xfrm>
            <a:off x="876300" y="1924050"/>
            <a:ext cx="2457450" cy="381000"/>
          </a:xfrm>
          <a:prstGeom prst="rect">
            <a:avLst/>
          </a:prstGeom>
          <a:noFill/>
          <a:ln w="0">
            <a:noFill/>
            <a:prstDash val="solid"/>
          </a:ln>
        </p:spPr>
        <p:txBody>
          <a:bodyPr anchor="t"/>
          <a:lstStyle/>
          <a:p>
            <a:pPr algn="l">
              <a:defRPr sz="1425" b="1" i="0">
                <a:solidFill>
                  <a:srgbClr val="18232B"/>
                </a:solidFill>
              </a:defRPr>
            </a:pPr>
            <a:r>
              <a:rPr sz="1425" b="1" i="0">
                <a:solidFill>
                  <a:srgbClr val="18232B"/>
                </a:solidFill>
              </a:rPr>
              <a:t>Annual embeddings</a:t>
            </a:r>
          </a:p>
        </p:txBody>
      </p:sp>
      <p:sp>
        <p:nvSpPr>
          <p:cNvPr id="9" name="Rectangle 8">
            <a:extLst>
              <a:ext uri="{FF2B5EF4-FFF2-40B4-BE49-F238E27FC236}">
                <a16:creationId xmlns:a16="http://schemas.microsoft.com/office/drawing/2014/main" id="{DC060F93-976F-44B4-9199-B6FCA866836C}"/>
              </a:ext>
            </a:extLst>
          </p:cNvPr>
          <p:cNvSpPr>
            <a:spLocks noGrp="1"/>
          </p:cNvSpPr>
          <p:nvPr/>
        </p:nvSpPr>
        <p:spPr>
          <a:xfrm>
            <a:off x="876300" y="2362200"/>
            <a:ext cx="2457450" cy="57150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GEE mosaics and land mask</a:t>
            </a:r>
          </a:p>
        </p:txBody>
      </p:sp>
      <p:sp>
        <p:nvSpPr>
          <p:cNvPr id="10" name="Rounded Rectangle 9">
            <a:extLst>
              <a:ext uri="{FF2B5EF4-FFF2-40B4-BE49-F238E27FC236}">
                <a16:creationId xmlns:a16="http://schemas.microsoft.com/office/drawing/2014/main" id="{0932BBFB-965B-4F95-AC60-7FFB7E905665}"/>
              </a:ext>
            </a:extLst>
          </p:cNvPr>
          <p:cNvSpPr>
            <a:spLocks noGrp="1"/>
          </p:cNvSpPr>
          <p:nvPr/>
        </p:nvSpPr>
        <p:spPr>
          <a:xfrm>
            <a:off x="4286250" y="1524000"/>
            <a:ext cx="2857500" cy="1524000"/>
          </a:xfrm>
          <a:prstGeom prst="roundRect">
            <a:avLst>
              <a:gd name="adj" fmla="val 6250"/>
            </a:avLst>
          </a:prstGeom>
          <a:solidFill>
            <a:srgbClr val="FFFFFF"/>
          </a:solidFill>
          <a:ln w="11430">
            <a:solidFill>
              <a:srgbClr val="D4DDE2"/>
            </a:solidFill>
            <a:prstDash val="solid"/>
          </a:ln>
        </p:spPr>
        <p:txBody>
          <a:bodyPr/>
          <a:lstStyle/>
          <a:p>
            <a:endParaRPr lang="en-US"/>
          </a:p>
        </p:txBody>
      </p:sp>
      <p:sp>
        <p:nvSpPr>
          <p:cNvPr id="11" name="Rectangle 10">
            <a:extLst>
              <a:ext uri="{FF2B5EF4-FFF2-40B4-BE49-F238E27FC236}">
                <a16:creationId xmlns:a16="http://schemas.microsoft.com/office/drawing/2014/main" id="{19EFB7CF-73B8-4A96-8657-1F7799BD7FE6}"/>
              </a:ext>
            </a:extLst>
          </p:cNvPr>
          <p:cNvSpPr>
            <a:spLocks noGrp="1"/>
          </p:cNvSpPr>
          <p:nvPr/>
        </p:nvSpPr>
        <p:spPr>
          <a:xfrm>
            <a:off x="4286250" y="1524000"/>
            <a:ext cx="95250" cy="1524000"/>
          </a:xfrm>
          <a:prstGeom prst="rect">
            <a:avLst/>
          </a:prstGeom>
          <a:solidFill>
            <a:srgbClr val="AD354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26D178B-BCF0-406E-9A73-B8B7B2657ABB}"/>
              </a:ext>
            </a:extLst>
          </p:cNvPr>
          <p:cNvSpPr>
            <a:spLocks noGrp="1"/>
          </p:cNvSpPr>
          <p:nvPr/>
        </p:nvSpPr>
        <p:spPr>
          <a:xfrm>
            <a:off x="4495800" y="1676400"/>
            <a:ext cx="457200" cy="228600"/>
          </a:xfrm>
          <a:prstGeom prst="rect">
            <a:avLst/>
          </a:prstGeom>
          <a:noFill/>
          <a:ln w="0">
            <a:noFill/>
            <a:prstDash val="solid"/>
          </a:ln>
        </p:spPr>
        <p:txBody>
          <a:bodyPr anchor="t"/>
          <a:lstStyle/>
          <a:p>
            <a:pPr algn="l">
              <a:defRPr sz="1050" b="1" i="0">
                <a:solidFill>
                  <a:srgbClr val="AD354A"/>
                </a:solidFill>
              </a:defRPr>
            </a:pPr>
            <a:r>
              <a:rPr sz="1050" b="1" i="0">
                <a:solidFill>
                  <a:srgbClr val="AD354A"/>
                </a:solidFill>
              </a:rPr>
              <a:t>02</a:t>
            </a:r>
          </a:p>
        </p:txBody>
      </p:sp>
      <p:sp>
        <p:nvSpPr>
          <p:cNvPr id="13" name="Rectangle 12">
            <a:extLst>
              <a:ext uri="{FF2B5EF4-FFF2-40B4-BE49-F238E27FC236}">
                <a16:creationId xmlns:a16="http://schemas.microsoft.com/office/drawing/2014/main" id="{ABC63631-334B-4C77-8135-14E0DACCCB6A}"/>
              </a:ext>
            </a:extLst>
          </p:cNvPr>
          <p:cNvSpPr>
            <a:spLocks noGrp="1"/>
          </p:cNvSpPr>
          <p:nvPr/>
        </p:nvSpPr>
        <p:spPr>
          <a:xfrm>
            <a:off x="4495800" y="1924050"/>
            <a:ext cx="2457450" cy="381000"/>
          </a:xfrm>
          <a:prstGeom prst="rect">
            <a:avLst/>
          </a:prstGeom>
          <a:noFill/>
          <a:ln w="0">
            <a:noFill/>
            <a:prstDash val="solid"/>
          </a:ln>
        </p:spPr>
        <p:txBody>
          <a:bodyPr anchor="t"/>
          <a:lstStyle/>
          <a:p>
            <a:pPr algn="l">
              <a:defRPr sz="1425" b="1" i="0">
                <a:solidFill>
                  <a:srgbClr val="18232B"/>
                </a:solidFill>
              </a:defRPr>
            </a:pPr>
            <a:r>
              <a:rPr sz="1425" b="1" i="0">
                <a:solidFill>
                  <a:srgbClr val="18232B"/>
                </a:solidFill>
              </a:rPr>
              <a:t>Change rasters</a:t>
            </a:r>
          </a:p>
        </p:txBody>
      </p:sp>
      <p:sp>
        <p:nvSpPr>
          <p:cNvPr id="14" name="Rectangle 13">
            <a:extLst>
              <a:ext uri="{FF2B5EF4-FFF2-40B4-BE49-F238E27FC236}">
                <a16:creationId xmlns:a16="http://schemas.microsoft.com/office/drawing/2014/main" id="{4F5F29B8-9F67-4E5B-83A2-270AF4E18E78}"/>
              </a:ext>
            </a:extLst>
          </p:cNvPr>
          <p:cNvSpPr>
            <a:spLocks noGrp="1"/>
          </p:cNvSpPr>
          <p:nvPr/>
        </p:nvSpPr>
        <p:spPr>
          <a:xfrm>
            <a:off x="4495800" y="2362200"/>
            <a:ext cx="2457450" cy="57150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Endpoint, annual and temporal metrics</a:t>
            </a:r>
          </a:p>
        </p:txBody>
      </p:sp>
      <p:sp>
        <p:nvSpPr>
          <p:cNvPr id="15" name="Rounded Rectangle 14">
            <a:extLst>
              <a:ext uri="{FF2B5EF4-FFF2-40B4-BE49-F238E27FC236}">
                <a16:creationId xmlns:a16="http://schemas.microsoft.com/office/drawing/2014/main" id="{02943CDC-33F9-4413-9FD7-ED38DE61C879}"/>
              </a:ext>
            </a:extLst>
          </p:cNvPr>
          <p:cNvSpPr>
            <a:spLocks noGrp="1"/>
          </p:cNvSpPr>
          <p:nvPr/>
        </p:nvSpPr>
        <p:spPr>
          <a:xfrm>
            <a:off x="7905750" y="1524000"/>
            <a:ext cx="2857500" cy="1524000"/>
          </a:xfrm>
          <a:prstGeom prst="roundRect">
            <a:avLst>
              <a:gd name="adj" fmla="val 6250"/>
            </a:avLst>
          </a:prstGeom>
          <a:solidFill>
            <a:srgbClr val="FFFFFF"/>
          </a:solidFill>
          <a:ln w="11430">
            <a:solidFill>
              <a:srgbClr val="D4DDE2"/>
            </a:solidFill>
            <a:prstDash val="solid"/>
          </a:ln>
        </p:spPr>
        <p:txBody>
          <a:bodyPr/>
          <a:lstStyle/>
          <a:p>
            <a:endParaRPr lang="en-US"/>
          </a:p>
        </p:txBody>
      </p:sp>
      <p:sp>
        <p:nvSpPr>
          <p:cNvPr id="16" name="Rectangle 15">
            <a:extLst>
              <a:ext uri="{FF2B5EF4-FFF2-40B4-BE49-F238E27FC236}">
                <a16:creationId xmlns:a16="http://schemas.microsoft.com/office/drawing/2014/main" id="{A9B4CCFF-7E93-4C6D-A93D-AF42C2D118C2}"/>
              </a:ext>
            </a:extLst>
          </p:cNvPr>
          <p:cNvSpPr>
            <a:spLocks noGrp="1"/>
          </p:cNvSpPr>
          <p:nvPr/>
        </p:nvSpPr>
        <p:spPr>
          <a:xfrm>
            <a:off x="7905750" y="1524000"/>
            <a:ext cx="95250" cy="1524000"/>
          </a:xfrm>
          <a:prstGeom prst="rect">
            <a:avLst/>
          </a:prstGeom>
          <a:solidFill>
            <a:srgbClr val="234E8A"/>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183A9CD0-AE92-437A-A56D-9B41A32A8BFB}"/>
              </a:ext>
            </a:extLst>
          </p:cNvPr>
          <p:cNvSpPr>
            <a:spLocks noGrp="1"/>
          </p:cNvSpPr>
          <p:nvPr/>
        </p:nvSpPr>
        <p:spPr>
          <a:xfrm>
            <a:off x="8115300" y="1676400"/>
            <a:ext cx="457200" cy="228600"/>
          </a:xfrm>
          <a:prstGeom prst="rect">
            <a:avLst/>
          </a:prstGeom>
          <a:noFill/>
          <a:ln w="0">
            <a:noFill/>
            <a:prstDash val="solid"/>
          </a:ln>
        </p:spPr>
        <p:txBody>
          <a:bodyPr anchor="t"/>
          <a:lstStyle/>
          <a:p>
            <a:pPr algn="l">
              <a:defRPr sz="1050" b="1" i="0">
                <a:solidFill>
                  <a:srgbClr val="234E8A"/>
                </a:solidFill>
              </a:defRPr>
            </a:pPr>
            <a:r>
              <a:rPr sz="1050" b="1" i="0">
                <a:solidFill>
                  <a:srgbClr val="234E8A"/>
                </a:solidFill>
              </a:rPr>
              <a:t>03</a:t>
            </a:r>
          </a:p>
        </p:txBody>
      </p:sp>
      <p:sp>
        <p:nvSpPr>
          <p:cNvPr id="18" name="Rectangle 17">
            <a:extLst>
              <a:ext uri="{FF2B5EF4-FFF2-40B4-BE49-F238E27FC236}">
                <a16:creationId xmlns:a16="http://schemas.microsoft.com/office/drawing/2014/main" id="{47CC11C5-8516-4907-B494-B65866565938}"/>
              </a:ext>
            </a:extLst>
          </p:cNvPr>
          <p:cNvSpPr>
            <a:spLocks noGrp="1"/>
          </p:cNvSpPr>
          <p:nvPr/>
        </p:nvSpPr>
        <p:spPr>
          <a:xfrm>
            <a:off x="8115300" y="1924050"/>
            <a:ext cx="2457450" cy="381000"/>
          </a:xfrm>
          <a:prstGeom prst="rect">
            <a:avLst/>
          </a:prstGeom>
          <a:noFill/>
          <a:ln w="0">
            <a:noFill/>
            <a:prstDash val="solid"/>
          </a:ln>
        </p:spPr>
        <p:txBody>
          <a:bodyPr anchor="t"/>
          <a:lstStyle/>
          <a:p>
            <a:pPr algn="l">
              <a:defRPr sz="1425" b="1" i="0">
                <a:solidFill>
                  <a:srgbClr val="18232B"/>
                </a:solidFill>
              </a:defRPr>
            </a:pPr>
            <a:r>
              <a:rPr sz="1425" b="1" i="0">
                <a:solidFill>
                  <a:srgbClr val="18232B"/>
                </a:solidFill>
              </a:rPr>
              <a:t>Quality checks + sampling</a:t>
            </a:r>
          </a:p>
        </p:txBody>
      </p:sp>
      <p:sp>
        <p:nvSpPr>
          <p:cNvPr id="19" name="Rectangle 18">
            <a:extLst>
              <a:ext uri="{FF2B5EF4-FFF2-40B4-BE49-F238E27FC236}">
                <a16:creationId xmlns:a16="http://schemas.microsoft.com/office/drawing/2014/main" id="{23CA0513-2498-4762-8E85-8D17EC5A61E7}"/>
              </a:ext>
            </a:extLst>
          </p:cNvPr>
          <p:cNvSpPr>
            <a:spLocks noGrp="1"/>
          </p:cNvSpPr>
          <p:nvPr/>
        </p:nvSpPr>
        <p:spPr>
          <a:xfrm>
            <a:off x="8115300" y="2362200"/>
            <a:ext cx="2457450" cy="57150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Alignment, distributions and behavioural tests</a:t>
            </a:r>
          </a:p>
        </p:txBody>
      </p:sp>
      <p:sp>
        <p:nvSpPr>
          <p:cNvPr id="20" name="Rounded Rectangle 19">
            <a:extLst>
              <a:ext uri="{FF2B5EF4-FFF2-40B4-BE49-F238E27FC236}">
                <a16:creationId xmlns:a16="http://schemas.microsoft.com/office/drawing/2014/main" id="{D0755C08-1746-47FE-A05C-897D16827001}"/>
              </a:ext>
            </a:extLst>
          </p:cNvPr>
          <p:cNvSpPr>
            <a:spLocks noGrp="1"/>
          </p:cNvSpPr>
          <p:nvPr/>
        </p:nvSpPr>
        <p:spPr>
          <a:xfrm>
            <a:off x="7905750" y="3619500"/>
            <a:ext cx="2857500" cy="1524000"/>
          </a:xfrm>
          <a:prstGeom prst="roundRect">
            <a:avLst>
              <a:gd name="adj" fmla="val 6250"/>
            </a:avLst>
          </a:prstGeom>
          <a:solidFill>
            <a:srgbClr val="FFFFFF"/>
          </a:solidFill>
          <a:ln w="11430">
            <a:solidFill>
              <a:srgbClr val="D4DDE2"/>
            </a:solidFill>
            <a:prstDash val="solid"/>
          </a:ln>
        </p:spPr>
        <p:txBody>
          <a:bodyPr/>
          <a:lstStyle/>
          <a:p>
            <a:endParaRPr lang="en-US"/>
          </a:p>
        </p:txBody>
      </p:sp>
      <p:sp>
        <p:nvSpPr>
          <p:cNvPr id="21" name="Rectangle 20">
            <a:extLst>
              <a:ext uri="{FF2B5EF4-FFF2-40B4-BE49-F238E27FC236}">
                <a16:creationId xmlns:a16="http://schemas.microsoft.com/office/drawing/2014/main" id="{731E487C-38E9-4DE5-83BC-213AB941B4A5}"/>
              </a:ext>
            </a:extLst>
          </p:cNvPr>
          <p:cNvSpPr>
            <a:spLocks noGrp="1"/>
          </p:cNvSpPr>
          <p:nvPr/>
        </p:nvSpPr>
        <p:spPr>
          <a:xfrm>
            <a:off x="7905750" y="3619500"/>
            <a:ext cx="95250" cy="1524000"/>
          </a:xfrm>
          <a:prstGeom prst="rect">
            <a:avLst/>
          </a:prstGeom>
          <a:solidFill>
            <a:srgbClr val="147D70"/>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40D06218-A94C-4F9F-BDB8-78570EA24B1F}"/>
              </a:ext>
            </a:extLst>
          </p:cNvPr>
          <p:cNvSpPr>
            <a:spLocks noGrp="1"/>
          </p:cNvSpPr>
          <p:nvPr/>
        </p:nvSpPr>
        <p:spPr>
          <a:xfrm>
            <a:off x="8115300" y="3771900"/>
            <a:ext cx="457200" cy="228600"/>
          </a:xfrm>
          <a:prstGeom prst="rect">
            <a:avLst/>
          </a:prstGeom>
          <a:noFill/>
          <a:ln w="0">
            <a:noFill/>
            <a:prstDash val="solid"/>
          </a:ln>
        </p:spPr>
        <p:txBody>
          <a:bodyPr anchor="t"/>
          <a:lstStyle/>
          <a:p>
            <a:pPr algn="l">
              <a:defRPr sz="1050" b="1" i="0">
                <a:solidFill>
                  <a:srgbClr val="147D70"/>
                </a:solidFill>
              </a:defRPr>
            </a:pPr>
            <a:r>
              <a:rPr sz="1050" b="1" i="0">
                <a:solidFill>
                  <a:srgbClr val="147D70"/>
                </a:solidFill>
              </a:rPr>
              <a:t>04</a:t>
            </a:r>
          </a:p>
        </p:txBody>
      </p:sp>
      <p:sp>
        <p:nvSpPr>
          <p:cNvPr id="23" name="Rectangle 22">
            <a:extLst>
              <a:ext uri="{FF2B5EF4-FFF2-40B4-BE49-F238E27FC236}">
                <a16:creationId xmlns:a16="http://schemas.microsoft.com/office/drawing/2014/main" id="{E65218BF-AA64-42B6-B7E0-72C43C114C6F}"/>
              </a:ext>
            </a:extLst>
          </p:cNvPr>
          <p:cNvSpPr>
            <a:spLocks noGrp="1"/>
          </p:cNvSpPr>
          <p:nvPr/>
        </p:nvSpPr>
        <p:spPr>
          <a:xfrm>
            <a:off x="8115300" y="4019550"/>
            <a:ext cx="2457450" cy="381000"/>
          </a:xfrm>
          <a:prstGeom prst="rect">
            <a:avLst/>
          </a:prstGeom>
          <a:noFill/>
          <a:ln w="0">
            <a:noFill/>
            <a:prstDash val="solid"/>
          </a:ln>
        </p:spPr>
        <p:txBody>
          <a:bodyPr anchor="t"/>
          <a:lstStyle/>
          <a:p>
            <a:pPr algn="l">
              <a:defRPr sz="1425" b="1" i="0">
                <a:solidFill>
                  <a:srgbClr val="18232B"/>
                </a:solidFill>
              </a:defRPr>
            </a:pPr>
            <a:r>
              <a:rPr sz="1425" b="1" i="0">
                <a:solidFill>
                  <a:srgbClr val="18232B"/>
                </a:solidFill>
              </a:rPr>
              <a:t>Evidence context</a:t>
            </a:r>
          </a:p>
        </p:txBody>
      </p:sp>
      <p:sp>
        <p:nvSpPr>
          <p:cNvPr id="24" name="Rectangle 23">
            <a:extLst>
              <a:ext uri="{FF2B5EF4-FFF2-40B4-BE49-F238E27FC236}">
                <a16:creationId xmlns:a16="http://schemas.microsoft.com/office/drawing/2014/main" id="{709FFF44-C6AA-48A7-8422-B0D6EBD0F843}"/>
              </a:ext>
            </a:extLst>
          </p:cNvPr>
          <p:cNvSpPr>
            <a:spLocks noGrp="1"/>
          </p:cNvSpPr>
          <p:nvPr/>
        </p:nvSpPr>
        <p:spPr>
          <a:xfrm>
            <a:off x="8115300" y="4457700"/>
            <a:ext cx="2457450" cy="57150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Annual DEA classes and NDVI</a:t>
            </a:r>
          </a:p>
        </p:txBody>
      </p:sp>
      <p:sp>
        <p:nvSpPr>
          <p:cNvPr id="25" name="Rounded Rectangle 24">
            <a:extLst>
              <a:ext uri="{FF2B5EF4-FFF2-40B4-BE49-F238E27FC236}">
                <a16:creationId xmlns:a16="http://schemas.microsoft.com/office/drawing/2014/main" id="{A36FE00E-AAB8-48EE-B21B-4925190CC8EB}"/>
              </a:ext>
            </a:extLst>
          </p:cNvPr>
          <p:cNvSpPr>
            <a:spLocks noGrp="1"/>
          </p:cNvSpPr>
          <p:nvPr/>
        </p:nvSpPr>
        <p:spPr>
          <a:xfrm>
            <a:off x="4286250" y="3619500"/>
            <a:ext cx="2857500" cy="1524000"/>
          </a:xfrm>
          <a:prstGeom prst="roundRect">
            <a:avLst>
              <a:gd name="adj" fmla="val 6250"/>
            </a:avLst>
          </a:prstGeom>
          <a:solidFill>
            <a:srgbClr val="FFFFFF"/>
          </a:solidFill>
          <a:ln w="11430">
            <a:solidFill>
              <a:srgbClr val="D4DDE2"/>
            </a:solidFill>
            <a:prstDash val="solid"/>
          </a:ln>
        </p:spPr>
        <p:txBody>
          <a:bodyPr/>
          <a:lstStyle/>
          <a:p>
            <a:endParaRPr lang="en-US"/>
          </a:p>
        </p:txBody>
      </p:sp>
      <p:sp>
        <p:nvSpPr>
          <p:cNvPr id="26" name="Rectangle 25">
            <a:extLst>
              <a:ext uri="{FF2B5EF4-FFF2-40B4-BE49-F238E27FC236}">
                <a16:creationId xmlns:a16="http://schemas.microsoft.com/office/drawing/2014/main" id="{25CA24A4-B7A8-4191-9ECD-F0D99EF4EE16}"/>
              </a:ext>
            </a:extLst>
          </p:cNvPr>
          <p:cNvSpPr>
            <a:spLocks noGrp="1"/>
          </p:cNvSpPr>
          <p:nvPr/>
        </p:nvSpPr>
        <p:spPr>
          <a:xfrm>
            <a:off x="4286250" y="3619500"/>
            <a:ext cx="95250" cy="1524000"/>
          </a:xfrm>
          <a:prstGeom prst="rect">
            <a:avLst/>
          </a:prstGeom>
          <a:solidFill>
            <a:srgbClr val="D48728"/>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BE623CAD-1571-42E4-A5B7-DB251EB37F98}"/>
              </a:ext>
            </a:extLst>
          </p:cNvPr>
          <p:cNvSpPr>
            <a:spLocks noGrp="1"/>
          </p:cNvSpPr>
          <p:nvPr/>
        </p:nvSpPr>
        <p:spPr>
          <a:xfrm>
            <a:off x="4495800" y="3771900"/>
            <a:ext cx="457200" cy="228600"/>
          </a:xfrm>
          <a:prstGeom prst="rect">
            <a:avLst/>
          </a:prstGeom>
          <a:noFill/>
          <a:ln w="0">
            <a:noFill/>
            <a:prstDash val="solid"/>
          </a:ln>
        </p:spPr>
        <p:txBody>
          <a:bodyPr anchor="t"/>
          <a:lstStyle/>
          <a:p>
            <a:pPr algn="l">
              <a:defRPr sz="1050" b="1" i="0">
                <a:solidFill>
                  <a:srgbClr val="D48728"/>
                </a:solidFill>
              </a:defRPr>
            </a:pPr>
            <a:r>
              <a:rPr sz="1050" b="1" i="0">
                <a:solidFill>
                  <a:srgbClr val="D48728"/>
                </a:solidFill>
              </a:rPr>
              <a:t>05</a:t>
            </a:r>
          </a:p>
        </p:txBody>
      </p:sp>
      <p:sp>
        <p:nvSpPr>
          <p:cNvPr id="28" name="Rectangle 27">
            <a:extLst>
              <a:ext uri="{FF2B5EF4-FFF2-40B4-BE49-F238E27FC236}">
                <a16:creationId xmlns:a16="http://schemas.microsoft.com/office/drawing/2014/main" id="{5BF43C87-5814-4AB9-97D7-015A5C662C8C}"/>
              </a:ext>
            </a:extLst>
          </p:cNvPr>
          <p:cNvSpPr>
            <a:spLocks noGrp="1"/>
          </p:cNvSpPr>
          <p:nvPr/>
        </p:nvSpPr>
        <p:spPr>
          <a:xfrm>
            <a:off x="4495800" y="4019550"/>
            <a:ext cx="2457450" cy="381000"/>
          </a:xfrm>
          <a:prstGeom prst="rect">
            <a:avLst/>
          </a:prstGeom>
          <a:noFill/>
          <a:ln w="0">
            <a:noFill/>
            <a:prstDash val="solid"/>
          </a:ln>
        </p:spPr>
        <p:txBody>
          <a:bodyPr anchor="t"/>
          <a:lstStyle/>
          <a:p>
            <a:pPr algn="l">
              <a:defRPr sz="1425" b="1" i="0">
                <a:solidFill>
                  <a:srgbClr val="18232B"/>
                </a:solidFill>
              </a:defRPr>
            </a:pPr>
            <a:r>
              <a:rPr sz="1425" b="1" i="0">
                <a:solidFill>
                  <a:srgbClr val="18232B"/>
                </a:solidFill>
              </a:rPr>
              <a:t>30 m regions</a:t>
            </a:r>
          </a:p>
        </p:txBody>
      </p:sp>
      <p:sp>
        <p:nvSpPr>
          <p:cNvPr id="29" name="Rectangle 28">
            <a:extLst>
              <a:ext uri="{FF2B5EF4-FFF2-40B4-BE49-F238E27FC236}">
                <a16:creationId xmlns:a16="http://schemas.microsoft.com/office/drawing/2014/main" id="{0934CF23-1160-4CF9-99AE-C8A1C2A8EDA0}"/>
              </a:ext>
            </a:extLst>
          </p:cNvPr>
          <p:cNvSpPr>
            <a:spLocks noGrp="1"/>
          </p:cNvSpPr>
          <p:nvPr/>
        </p:nvSpPr>
        <p:spPr>
          <a:xfrm>
            <a:off x="4495800" y="4457700"/>
            <a:ext cx="2457450" cy="57150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Common support and connected areas</a:t>
            </a:r>
          </a:p>
        </p:txBody>
      </p:sp>
      <p:sp>
        <p:nvSpPr>
          <p:cNvPr id="30" name="Rounded Rectangle 29">
            <a:extLst>
              <a:ext uri="{FF2B5EF4-FFF2-40B4-BE49-F238E27FC236}">
                <a16:creationId xmlns:a16="http://schemas.microsoft.com/office/drawing/2014/main" id="{FF08DDB8-6A62-4A83-9753-43EF092C1AAC}"/>
              </a:ext>
            </a:extLst>
          </p:cNvPr>
          <p:cNvSpPr>
            <a:spLocks noGrp="1"/>
          </p:cNvSpPr>
          <p:nvPr/>
        </p:nvSpPr>
        <p:spPr>
          <a:xfrm>
            <a:off x="666750" y="3619500"/>
            <a:ext cx="2857500" cy="1524000"/>
          </a:xfrm>
          <a:prstGeom prst="roundRect">
            <a:avLst>
              <a:gd name="adj" fmla="val 6250"/>
            </a:avLst>
          </a:prstGeom>
          <a:solidFill>
            <a:srgbClr val="FFFFFF"/>
          </a:solidFill>
          <a:ln w="11430">
            <a:solidFill>
              <a:srgbClr val="D4DDE2"/>
            </a:solidFill>
            <a:prstDash val="solid"/>
          </a:ln>
        </p:spPr>
        <p:txBody>
          <a:bodyPr/>
          <a:lstStyle/>
          <a:p>
            <a:endParaRPr lang="en-US"/>
          </a:p>
        </p:txBody>
      </p:sp>
      <p:sp>
        <p:nvSpPr>
          <p:cNvPr id="31" name="Rectangle 30">
            <a:extLst>
              <a:ext uri="{FF2B5EF4-FFF2-40B4-BE49-F238E27FC236}">
                <a16:creationId xmlns:a16="http://schemas.microsoft.com/office/drawing/2014/main" id="{42A04640-63FD-497A-BDF4-AB99862142F0}"/>
              </a:ext>
            </a:extLst>
          </p:cNvPr>
          <p:cNvSpPr>
            <a:spLocks noGrp="1"/>
          </p:cNvSpPr>
          <p:nvPr/>
        </p:nvSpPr>
        <p:spPr>
          <a:xfrm>
            <a:off x="666750" y="3619500"/>
            <a:ext cx="95250" cy="1524000"/>
          </a:xfrm>
          <a:prstGeom prst="rect">
            <a:avLst/>
          </a:prstGeom>
          <a:solidFill>
            <a:srgbClr val="08065C"/>
          </a:solidFill>
          <a:ln w="0">
            <a:noFill/>
            <a:prstDash val="solid"/>
          </a:ln>
        </p:spPr>
        <p:txBody>
          <a:bodyPr/>
          <a:lstStyle/>
          <a:p>
            <a:endParaRPr lang="en-US"/>
          </a:p>
        </p:txBody>
      </p:sp>
      <p:sp>
        <p:nvSpPr>
          <p:cNvPr id="32" name="Rectangle 31">
            <a:extLst>
              <a:ext uri="{FF2B5EF4-FFF2-40B4-BE49-F238E27FC236}">
                <a16:creationId xmlns:a16="http://schemas.microsoft.com/office/drawing/2014/main" id="{FBE98297-5BA7-4C5F-B267-089F9C63A4B9}"/>
              </a:ext>
            </a:extLst>
          </p:cNvPr>
          <p:cNvSpPr>
            <a:spLocks noGrp="1"/>
          </p:cNvSpPr>
          <p:nvPr/>
        </p:nvSpPr>
        <p:spPr>
          <a:xfrm>
            <a:off x="876300" y="3771900"/>
            <a:ext cx="457200" cy="228600"/>
          </a:xfrm>
          <a:prstGeom prst="rect">
            <a:avLst/>
          </a:prstGeom>
          <a:noFill/>
          <a:ln w="0">
            <a:noFill/>
            <a:prstDash val="solid"/>
          </a:ln>
        </p:spPr>
        <p:txBody>
          <a:bodyPr anchor="t"/>
          <a:lstStyle/>
          <a:p>
            <a:pPr algn="l">
              <a:defRPr sz="1050" b="1" i="0">
                <a:solidFill>
                  <a:srgbClr val="08065C"/>
                </a:solidFill>
              </a:defRPr>
            </a:pPr>
            <a:r>
              <a:rPr sz="1050" b="1" i="0">
                <a:solidFill>
                  <a:srgbClr val="08065C"/>
                </a:solidFill>
              </a:rPr>
              <a:t>06</a:t>
            </a:r>
          </a:p>
        </p:txBody>
      </p:sp>
      <p:sp>
        <p:nvSpPr>
          <p:cNvPr id="33" name="Rectangle 32">
            <a:extLst>
              <a:ext uri="{FF2B5EF4-FFF2-40B4-BE49-F238E27FC236}">
                <a16:creationId xmlns:a16="http://schemas.microsoft.com/office/drawing/2014/main" id="{12234686-0E0B-48CA-A6EF-88CA3D2B0D96}"/>
              </a:ext>
            </a:extLst>
          </p:cNvPr>
          <p:cNvSpPr>
            <a:spLocks noGrp="1"/>
          </p:cNvSpPr>
          <p:nvPr/>
        </p:nvSpPr>
        <p:spPr>
          <a:xfrm>
            <a:off x="876300" y="4019550"/>
            <a:ext cx="2457450" cy="381000"/>
          </a:xfrm>
          <a:prstGeom prst="rect">
            <a:avLst/>
          </a:prstGeom>
          <a:noFill/>
          <a:ln w="0">
            <a:noFill/>
            <a:prstDash val="solid"/>
          </a:ln>
        </p:spPr>
        <p:txBody>
          <a:bodyPr anchor="t"/>
          <a:lstStyle/>
          <a:p>
            <a:pPr algn="l">
              <a:defRPr sz="1425" b="1" i="0">
                <a:solidFill>
                  <a:srgbClr val="18232B"/>
                </a:solidFill>
              </a:defRPr>
            </a:pPr>
            <a:r>
              <a:rPr sz="1425" b="1" i="0">
                <a:solidFill>
                  <a:srgbClr val="18232B"/>
                </a:solidFill>
              </a:rPr>
              <a:t>AusHabitat</a:t>
            </a:r>
          </a:p>
        </p:txBody>
      </p:sp>
      <p:sp>
        <p:nvSpPr>
          <p:cNvPr id="34" name="Rectangle 33">
            <a:extLst>
              <a:ext uri="{FF2B5EF4-FFF2-40B4-BE49-F238E27FC236}">
                <a16:creationId xmlns:a16="http://schemas.microsoft.com/office/drawing/2014/main" id="{8714FF5C-CDD9-4166-BE69-1C4537EB60C9}"/>
              </a:ext>
            </a:extLst>
          </p:cNvPr>
          <p:cNvSpPr>
            <a:spLocks noGrp="1"/>
          </p:cNvSpPr>
          <p:nvPr/>
        </p:nvSpPr>
        <p:spPr>
          <a:xfrm>
            <a:off x="876300" y="4457700"/>
            <a:ext cx="2457450" cy="57150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Interactive filters, histories and maps</a:t>
            </a:r>
          </a:p>
        </p:txBody>
      </p:sp>
      <p:cxnSp>
        <p:nvCxnSpPr>
          <p:cNvPr id="75" name="Straight Arrow Connector 74"/>
          <p:cNvCxnSpPr>
            <a:stCxn id="5" idx="3"/>
            <a:endCxn id="10" idx="1"/>
          </p:cNvCxnSpPr>
          <p:nvPr/>
        </p:nvCxnSpPr>
        <p:spPr>
          <a:xfrm>
            <a:off x="3524250" y="2286000"/>
            <a:ext cx="762000" cy="0"/>
          </a:xfrm>
          <a:prstGeom prst="straightConnector1">
            <a:avLst/>
          </a:prstGeom>
          <a:ln w="19050">
            <a:solidFill>
              <a:srgbClr val="D4DDE2"/>
            </a:solidFill>
            <a:prstDash val="solid"/>
            <a:tailEnd type="arrow" w="sm" len="sm"/>
          </a:ln>
        </p:spPr>
      </p:cxnSp>
      <p:cxnSp>
        <p:nvCxnSpPr>
          <p:cNvPr id="76" name="Straight Arrow Connector 75"/>
          <p:cNvCxnSpPr>
            <a:stCxn id="10" idx="3"/>
            <a:endCxn id="15" idx="1"/>
          </p:cNvCxnSpPr>
          <p:nvPr/>
        </p:nvCxnSpPr>
        <p:spPr>
          <a:xfrm>
            <a:off x="7143750" y="2286000"/>
            <a:ext cx="762000" cy="0"/>
          </a:xfrm>
          <a:prstGeom prst="straightConnector1">
            <a:avLst/>
          </a:prstGeom>
          <a:ln w="19050">
            <a:solidFill>
              <a:srgbClr val="D4DDE2"/>
            </a:solidFill>
            <a:prstDash val="solid"/>
            <a:tailEnd type="arrow" w="sm" len="sm"/>
          </a:ln>
        </p:spPr>
      </p:cxnSp>
      <p:cxnSp>
        <p:nvCxnSpPr>
          <p:cNvPr id="77" name="Straight Arrow Connector 76"/>
          <p:cNvCxnSpPr>
            <a:stCxn id="15" idx="2"/>
            <a:endCxn id="20" idx="0"/>
          </p:cNvCxnSpPr>
          <p:nvPr/>
        </p:nvCxnSpPr>
        <p:spPr>
          <a:xfrm>
            <a:off x="9334500" y="3048000"/>
            <a:ext cx="0" cy="571500"/>
          </a:xfrm>
          <a:prstGeom prst="straightConnector1">
            <a:avLst/>
          </a:prstGeom>
          <a:ln w="19050">
            <a:solidFill>
              <a:srgbClr val="D4DDE2"/>
            </a:solidFill>
            <a:prstDash val="solid"/>
            <a:tailEnd type="arrow" w="sm" len="sm"/>
          </a:ln>
        </p:spPr>
      </p:cxnSp>
      <p:cxnSp>
        <p:nvCxnSpPr>
          <p:cNvPr id="78" name="Straight Arrow Connector 77"/>
          <p:cNvCxnSpPr>
            <a:stCxn id="20" idx="1"/>
            <a:endCxn id="25" idx="3"/>
          </p:cNvCxnSpPr>
          <p:nvPr/>
        </p:nvCxnSpPr>
        <p:spPr>
          <a:xfrm flipH="1">
            <a:off x="7143750" y="4381500"/>
            <a:ext cx="762000" cy="0"/>
          </a:xfrm>
          <a:prstGeom prst="straightConnector1">
            <a:avLst/>
          </a:prstGeom>
          <a:ln w="19050">
            <a:solidFill>
              <a:srgbClr val="D4DDE2"/>
            </a:solidFill>
            <a:prstDash val="solid"/>
            <a:tailEnd type="arrow" w="sm" len="sm"/>
          </a:ln>
        </p:spPr>
      </p:cxnSp>
      <p:cxnSp>
        <p:nvCxnSpPr>
          <p:cNvPr id="79" name="Straight Arrow Connector 78"/>
          <p:cNvCxnSpPr>
            <a:stCxn id="25" idx="1"/>
            <a:endCxn id="30" idx="3"/>
          </p:cNvCxnSpPr>
          <p:nvPr/>
        </p:nvCxnSpPr>
        <p:spPr>
          <a:xfrm flipH="1">
            <a:off x="3524250" y="4381500"/>
            <a:ext cx="762000" cy="0"/>
          </a:xfrm>
          <a:prstGeom prst="straightConnector1">
            <a:avLst/>
          </a:prstGeom>
          <a:ln w="19050">
            <a:solidFill>
              <a:srgbClr val="D4DDE2"/>
            </a:solidFill>
            <a:prstDash val="solid"/>
            <a:tailEnd type="arrow" w="sm" len="sm"/>
          </a:ln>
        </p:spPr>
      </p:cxnSp>
      <p:sp>
        <p:nvSpPr>
          <p:cNvPr id="40" name="Rectangle 39">
            <a:extLst>
              <a:ext uri="{FF2B5EF4-FFF2-40B4-BE49-F238E27FC236}">
                <a16:creationId xmlns:a16="http://schemas.microsoft.com/office/drawing/2014/main" id="{BCE7F156-AA1E-421F-A475-888ADDDC74B0}"/>
              </a:ext>
            </a:extLst>
          </p:cNvPr>
          <p:cNvSpPr>
            <a:spLocks noGrp="1"/>
          </p:cNvSpPr>
          <p:nvPr/>
        </p:nvSpPr>
        <p:spPr>
          <a:xfrm>
            <a:off x="1809750" y="5486400"/>
            <a:ext cx="8572500" cy="381000"/>
          </a:xfrm>
          <a:prstGeom prst="rect">
            <a:avLst/>
          </a:prstGeom>
          <a:noFill/>
          <a:ln w="0">
            <a:noFill/>
            <a:prstDash val="solid"/>
          </a:ln>
        </p:spPr>
        <p:txBody>
          <a:bodyPr anchor="t"/>
          <a:lstStyle/>
          <a:p>
            <a:pPr algn="ctr">
              <a:defRPr sz="1725" b="1" i="0">
                <a:solidFill>
                  <a:srgbClr val="08065C"/>
                </a:solidFill>
              </a:defRPr>
            </a:pPr>
            <a:r>
              <a:rPr sz="1725" b="1" i="0">
                <a:solidFill>
                  <a:srgbClr val="08065C"/>
                </a:solidFill>
              </a:rPr>
              <a:t>Each stage leaves an auditable output before the next begins.</a:t>
            </a:r>
          </a:p>
        </p:txBody>
      </p:sp>
    </p:spTree>
    <p:extLst>
      <p:ext uri="{BB962C8B-B14F-4D97-AF65-F5344CB8AC3E}">
        <p14:creationId xmlns:p14="http://schemas.microsoft.com/office/powerpoint/2010/main" val="313509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5D9370-0775-9ECB-0284-837A692F884D}"/>
              </a:ext>
            </a:extLst>
          </p:cNvPr>
          <p:cNvPicPr>
            <a:picLocks noChangeAspect="1"/>
          </p:cNvPicPr>
          <p:nvPr/>
        </p:nvPicPr>
        <p:blipFill>
          <a:blip r:embed="rId2"/>
          <a:stretch>
            <a:fillRect/>
          </a:stretch>
        </p:blipFill>
        <p:spPr>
          <a:xfrm>
            <a:off x="823742" y="374803"/>
            <a:ext cx="10544516" cy="2113216"/>
          </a:xfrm>
          <a:prstGeom prst="rect">
            <a:avLst/>
          </a:prstGeom>
        </p:spPr>
      </p:pic>
      <p:pic>
        <p:nvPicPr>
          <p:cNvPr id="3" name="Picture 2">
            <a:extLst>
              <a:ext uri="{FF2B5EF4-FFF2-40B4-BE49-F238E27FC236}">
                <a16:creationId xmlns:a16="http://schemas.microsoft.com/office/drawing/2014/main" id="{6EECD619-EB1E-763A-8CE5-FEF0D26C37F2}"/>
              </a:ext>
            </a:extLst>
          </p:cNvPr>
          <p:cNvPicPr>
            <a:picLocks noChangeAspect="1"/>
          </p:cNvPicPr>
          <p:nvPr/>
        </p:nvPicPr>
        <p:blipFill>
          <a:blip r:embed="rId3"/>
          <a:stretch>
            <a:fillRect/>
          </a:stretch>
        </p:blipFill>
        <p:spPr>
          <a:xfrm>
            <a:off x="823742" y="4138728"/>
            <a:ext cx="10544516" cy="2113216"/>
          </a:xfrm>
          <a:prstGeom prst="rect">
            <a:avLst/>
          </a:prstGeom>
        </p:spPr>
      </p:pic>
      <p:sp>
        <p:nvSpPr>
          <p:cNvPr id="5" name="TextBox 4">
            <a:extLst>
              <a:ext uri="{FF2B5EF4-FFF2-40B4-BE49-F238E27FC236}">
                <a16:creationId xmlns:a16="http://schemas.microsoft.com/office/drawing/2014/main" id="{8D2DB370-32DF-63DD-FDB7-86C7ECB071E6}"/>
              </a:ext>
            </a:extLst>
          </p:cNvPr>
          <p:cNvSpPr txBox="1"/>
          <p:nvPr/>
        </p:nvSpPr>
        <p:spPr>
          <a:xfrm>
            <a:off x="3044456" y="2828835"/>
            <a:ext cx="6103088" cy="1200329"/>
          </a:xfrm>
          <a:prstGeom prst="rect">
            <a:avLst/>
          </a:prstGeom>
          <a:noFill/>
        </p:spPr>
        <p:txBody>
          <a:bodyPr wrap="square">
            <a:spAutoFit/>
          </a:bodyPr>
          <a:lstStyle/>
          <a:p>
            <a:pPr algn="ctr"/>
            <a:r>
              <a:rPr lang="en-US" sz="1350" dirty="0">
                <a:solidFill>
                  <a:srgbClr val="18232B"/>
                </a:solidFill>
              </a:rPr>
              <a:t>.</a:t>
            </a:r>
          </a:p>
          <a:p>
            <a:pPr algn="ctr"/>
            <a:r>
              <a:rPr lang="en-US" sz="1350" dirty="0">
                <a:solidFill>
                  <a:srgbClr val="18232B"/>
                </a:solidFill>
              </a:rPr>
              <a:t>.</a:t>
            </a:r>
          </a:p>
          <a:p>
            <a:pPr algn="ctr"/>
            <a:r>
              <a:rPr lang="en-US" sz="1350" dirty="0">
                <a:solidFill>
                  <a:srgbClr val="18232B"/>
                </a:solidFill>
              </a:rPr>
              <a:t>.</a:t>
            </a:r>
          </a:p>
          <a:p>
            <a:pPr algn="ctr"/>
            <a:r>
              <a:rPr lang="en-US" sz="1350" dirty="0">
                <a:solidFill>
                  <a:srgbClr val="18232B"/>
                </a:solidFill>
              </a:rPr>
              <a:t>.</a:t>
            </a:r>
          </a:p>
          <a:p>
            <a:pPr algn="ctr"/>
            <a:endParaRPr lang="en-US" dirty="0"/>
          </a:p>
        </p:txBody>
      </p:sp>
    </p:spTree>
    <p:extLst>
      <p:ext uri="{BB962C8B-B14F-4D97-AF65-F5344CB8AC3E}">
        <p14:creationId xmlns:p14="http://schemas.microsoft.com/office/powerpoint/2010/main" val="1791571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B20AF1F-FF6D-4E26-BC99-397F6AC20D40}"/>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METHOD 1</a:t>
            </a:r>
          </a:p>
        </p:txBody>
      </p:sp>
      <p:sp>
        <p:nvSpPr>
          <p:cNvPr id="2" name="slide-11-title">
            <a:extLst>
              <a:ext uri="{FF2B5EF4-FFF2-40B4-BE49-F238E27FC236}">
                <a16:creationId xmlns:a16="http://schemas.microsoft.com/office/drawing/2014/main" id="{99683D04-9B48-4BAA-8AC4-034FC1E8A0CB}"/>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Change begins as distance between annual vectors</a:t>
            </a:r>
          </a:p>
        </p:txBody>
      </p:sp>
      <p:sp>
        <p:nvSpPr>
          <p:cNvPr id="3" name="Straight Connector 2">
            <a:extLst>
              <a:ext uri="{FF2B5EF4-FFF2-40B4-BE49-F238E27FC236}">
                <a16:creationId xmlns:a16="http://schemas.microsoft.com/office/drawing/2014/main" id="{FAF51287-8FC8-47C5-98F0-9398B1C61919}"/>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A1828354-5E34-4E69-A2F1-F4E1F504154C}"/>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11</a:t>
            </a:r>
          </a:p>
        </p:txBody>
      </p:sp>
      <p:sp>
        <p:nvSpPr>
          <p:cNvPr id="5" name="Rounded Rectangle 4">
            <a:extLst>
              <a:ext uri="{FF2B5EF4-FFF2-40B4-BE49-F238E27FC236}">
                <a16:creationId xmlns:a16="http://schemas.microsoft.com/office/drawing/2014/main" id="{EA635F57-DE8A-4459-94FB-F33A522F35E9}"/>
              </a:ext>
            </a:extLst>
          </p:cNvPr>
          <p:cNvSpPr>
            <a:spLocks noGrp="1"/>
          </p:cNvSpPr>
          <p:nvPr/>
        </p:nvSpPr>
        <p:spPr>
          <a:xfrm>
            <a:off x="857250" y="2133600"/>
            <a:ext cx="2857500" cy="1524000"/>
          </a:xfrm>
          <a:prstGeom prst="roundRect">
            <a:avLst>
              <a:gd name="adj" fmla="val 5000"/>
            </a:avLst>
          </a:prstGeom>
          <a:solidFill>
            <a:srgbClr val="E9EFF8"/>
          </a:solidFill>
          <a:ln w="14288">
            <a:solidFill>
              <a:srgbClr val="234E8A"/>
            </a:solidFill>
            <a:prstDash val="solid"/>
          </a:ln>
        </p:spPr>
        <p:txBody>
          <a:bodyPr/>
          <a:lstStyle/>
          <a:p>
            <a:endParaRPr lang="en-US"/>
          </a:p>
        </p:txBody>
      </p:sp>
      <p:sp>
        <p:nvSpPr>
          <p:cNvPr id="6" name="Rounded Rectangle 5">
            <a:extLst>
              <a:ext uri="{FF2B5EF4-FFF2-40B4-BE49-F238E27FC236}">
                <a16:creationId xmlns:a16="http://schemas.microsoft.com/office/drawing/2014/main" id="{C6898198-CEDA-47BA-8177-DB4F9B2FE04B}"/>
              </a:ext>
            </a:extLst>
          </p:cNvPr>
          <p:cNvSpPr>
            <a:spLocks noGrp="1"/>
          </p:cNvSpPr>
          <p:nvPr/>
        </p:nvSpPr>
        <p:spPr>
          <a:xfrm>
            <a:off x="8477250" y="2133600"/>
            <a:ext cx="2857500" cy="1524000"/>
          </a:xfrm>
          <a:prstGeom prst="roundRect">
            <a:avLst>
              <a:gd name="adj" fmla="val 5000"/>
            </a:avLst>
          </a:prstGeom>
          <a:solidFill>
            <a:srgbClr val="F7EAD8"/>
          </a:solidFill>
          <a:ln w="14288">
            <a:solidFill>
              <a:srgbClr val="D48728"/>
            </a:solidFill>
            <a:prstDash val="solid"/>
          </a:ln>
        </p:spPr>
        <p:txBody>
          <a:bodyPr/>
          <a:lstStyle/>
          <a:p>
            <a:endParaRPr lang="en-US"/>
          </a:p>
        </p:txBody>
      </p:sp>
      <p:cxnSp>
        <p:nvCxnSpPr>
          <p:cNvPr id="26" name="Straight Arrow Connector 25"/>
          <p:cNvCxnSpPr>
            <a:stCxn id="5" idx="3"/>
            <a:endCxn id="6" idx="1"/>
          </p:cNvCxnSpPr>
          <p:nvPr/>
        </p:nvCxnSpPr>
        <p:spPr>
          <a:xfrm>
            <a:off x="3714750" y="2895600"/>
            <a:ext cx="4762500" cy="0"/>
          </a:xfrm>
          <a:prstGeom prst="straightConnector1">
            <a:avLst/>
          </a:prstGeom>
          <a:ln w="28575">
            <a:solidFill>
              <a:srgbClr val="147D70"/>
            </a:solidFill>
            <a:prstDash val="solid"/>
            <a:headEnd type="arrow" w="med" len="med"/>
            <a:tailEnd type="arrow" w="med" len="med"/>
          </a:ln>
        </p:spPr>
      </p:cxnSp>
      <p:sp>
        <p:nvSpPr>
          <p:cNvPr id="8" name="Rectangle 7">
            <a:extLst>
              <a:ext uri="{FF2B5EF4-FFF2-40B4-BE49-F238E27FC236}">
                <a16:creationId xmlns:a16="http://schemas.microsoft.com/office/drawing/2014/main" id="{54EF97C5-DDAE-41DA-B18F-43BC719D1604}"/>
              </a:ext>
            </a:extLst>
          </p:cNvPr>
          <p:cNvSpPr>
            <a:spLocks noGrp="1"/>
          </p:cNvSpPr>
          <p:nvPr/>
        </p:nvSpPr>
        <p:spPr>
          <a:xfrm>
            <a:off x="1085850" y="2324100"/>
            <a:ext cx="762000" cy="304800"/>
          </a:xfrm>
          <a:prstGeom prst="rect">
            <a:avLst/>
          </a:prstGeom>
          <a:noFill/>
          <a:ln w="0">
            <a:noFill/>
            <a:prstDash val="solid"/>
          </a:ln>
        </p:spPr>
        <p:txBody>
          <a:bodyPr anchor="t"/>
          <a:lstStyle/>
          <a:p>
            <a:pPr algn="l">
              <a:defRPr sz="1275" b="1" i="0">
                <a:solidFill>
                  <a:srgbClr val="234E8A"/>
                </a:solidFill>
              </a:defRPr>
            </a:pPr>
            <a:r>
              <a:rPr sz="1275" b="1" i="0">
                <a:solidFill>
                  <a:srgbClr val="234E8A"/>
                </a:solidFill>
              </a:rPr>
              <a:t>2019</a:t>
            </a:r>
          </a:p>
        </p:txBody>
      </p:sp>
      <p:sp>
        <p:nvSpPr>
          <p:cNvPr id="9" name="Rectangle 8">
            <a:extLst>
              <a:ext uri="{FF2B5EF4-FFF2-40B4-BE49-F238E27FC236}">
                <a16:creationId xmlns:a16="http://schemas.microsoft.com/office/drawing/2014/main" id="{40F0628F-AB84-495F-A6A1-0959B2DC1E48}"/>
              </a:ext>
            </a:extLst>
          </p:cNvPr>
          <p:cNvSpPr>
            <a:spLocks noGrp="1"/>
          </p:cNvSpPr>
          <p:nvPr/>
        </p:nvSpPr>
        <p:spPr>
          <a:xfrm>
            <a:off x="1085850" y="2800350"/>
            <a:ext cx="2381250" cy="381000"/>
          </a:xfrm>
          <a:prstGeom prst="rect">
            <a:avLst/>
          </a:prstGeom>
          <a:noFill/>
          <a:ln w="0">
            <a:noFill/>
            <a:prstDash val="solid"/>
          </a:ln>
        </p:spPr>
        <p:txBody>
          <a:bodyPr anchor="t"/>
          <a:lstStyle/>
          <a:p>
            <a:pPr algn="l">
              <a:defRPr sz="1650" b="1" i="0">
                <a:solidFill>
                  <a:srgbClr val="08065C"/>
                </a:solidFill>
              </a:defRPr>
            </a:pPr>
            <a:r>
              <a:rPr sz="1650" b="1" i="0">
                <a:solidFill>
                  <a:srgbClr val="08065C"/>
                </a:solidFill>
              </a:rPr>
              <a:t>v₍₂₀₁₉₎ = [a₀, a₁, …, a₆₃]</a:t>
            </a:r>
          </a:p>
        </p:txBody>
      </p:sp>
      <p:sp>
        <p:nvSpPr>
          <p:cNvPr id="10" name="Rectangle 9">
            <a:extLst>
              <a:ext uri="{FF2B5EF4-FFF2-40B4-BE49-F238E27FC236}">
                <a16:creationId xmlns:a16="http://schemas.microsoft.com/office/drawing/2014/main" id="{7362E286-7C9C-4732-AB7C-E87F8E796559}"/>
              </a:ext>
            </a:extLst>
          </p:cNvPr>
          <p:cNvSpPr>
            <a:spLocks noGrp="1"/>
          </p:cNvSpPr>
          <p:nvPr/>
        </p:nvSpPr>
        <p:spPr>
          <a:xfrm>
            <a:off x="1085850" y="3276600"/>
            <a:ext cx="2095500" cy="266700"/>
          </a:xfrm>
          <a:prstGeom prst="rect">
            <a:avLst/>
          </a:prstGeom>
          <a:noFill/>
          <a:ln w="0">
            <a:noFill/>
            <a:prstDash val="solid"/>
          </a:ln>
        </p:spPr>
        <p:txBody>
          <a:bodyPr anchor="t"/>
          <a:lstStyle/>
          <a:p>
            <a:pPr algn="l">
              <a:defRPr sz="1200" b="0" i="0">
                <a:solidFill>
                  <a:srgbClr val="5E6B75"/>
                </a:solidFill>
              </a:defRPr>
            </a:pPr>
            <a:r>
              <a:rPr sz="1200" b="0" i="0">
                <a:solidFill>
                  <a:srgbClr val="5E6B75"/>
                </a:solidFill>
              </a:rPr>
              <a:t>Same coordinate</a:t>
            </a:r>
          </a:p>
        </p:txBody>
      </p:sp>
      <p:sp>
        <p:nvSpPr>
          <p:cNvPr id="11" name="Rectangle 10">
            <a:extLst>
              <a:ext uri="{FF2B5EF4-FFF2-40B4-BE49-F238E27FC236}">
                <a16:creationId xmlns:a16="http://schemas.microsoft.com/office/drawing/2014/main" id="{C660BF6D-D9B0-48C7-8847-9CB112B8DA2E}"/>
              </a:ext>
            </a:extLst>
          </p:cNvPr>
          <p:cNvSpPr>
            <a:spLocks noGrp="1"/>
          </p:cNvSpPr>
          <p:nvPr/>
        </p:nvSpPr>
        <p:spPr>
          <a:xfrm>
            <a:off x="8705850" y="2324100"/>
            <a:ext cx="762000" cy="304800"/>
          </a:xfrm>
          <a:prstGeom prst="rect">
            <a:avLst/>
          </a:prstGeom>
          <a:noFill/>
          <a:ln w="0">
            <a:noFill/>
            <a:prstDash val="solid"/>
          </a:ln>
        </p:spPr>
        <p:txBody>
          <a:bodyPr anchor="t"/>
          <a:lstStyle/>
          <a:p>
            <a:pPr algn="l">
              <a:defRPr sz="1275" b="1" i="0">
                <a:solidFill>
                  <a:srgbClr val="D48728"/>
                </a:solidFill>
              </a:defRPr>
            </a:pPr>
            <a:r>
              <a:rPr sz="1275" b="1" i="0">
                <a:solidFill>
                  <a:srgbClr val="D48728"/>
                </a:solidFill>
              </a:rPr>
              <a:t>2020</a:t>
            </a:r>
          </a:p>
        </p:txBody>
      </p:sp>
      <p:sp>
        <p:nvSpPr>
          <p:cNvPr id="12" name="Rectangle 11">
            <a:extLst>
              <a:ext uri="{FF2B5EF4-FFF2-40B4-BE49-F238E27FC236}">
                <a16:creationId xmlns:a16="http://schemas.microsoft.com/office/drawing/2014/main" id="{42C3DDDA-174E-407B-B0F2-6EBA8FFF3B47}"/>
              </a:ext>
            </a:extLst>
          </p:cNvPr>
          <p:cNvSpPr>
            <a:spLocks noGrp="1"/>
          </p:cNvSpPr>
          <p:nvPr/>
        </p:nvSpPr>
        <p:spPr>
          <a:xfrm>
            <a:off x="8705850" y="2800350"/>
            <a:ext cx="2381250" cy="381000"/>
          </a:xfrm>
          <a:prstGeom prst="rect">
            <a:avLst/>
          </a:prstGeom>
          <a:noFill/>
          <a:ln w="0">
            <a:noFill/>
            <a:prstDash val="solid"/>
          </a:ln>
        </p:spPr>
        <p:txBody>
          <a:bodyPr anchor="t"/>
          <a:lstStyle/>
          <a:p>
            <a:pPr algn="l">
              <a:defRPr sz="1650" b="1" i="0">
                <a:solidFill>
                  <a:srgbClr val="08065C"/>
                </a:solidFill>
              </a:defRPr>
            </a:pPr>
            <a:r>
              <a:rPr sz="1650" b="1" i="0">
                <a:solidFill>
                  <a:srgbClr val="08065C"/>
                </a:solidFill>
              </a:rPr>
              <a:t>v₍₂₀₂₀₎ = [b₀, b₁, …, b₆₃]</a:t>
            </a:r>
          </a:p>
        </p:txBody>
      </p:sp>
      <p:sp>
        <p:nvSpPr>
          <p:cNvPr id="13" name="Rectangle 12">
            <a:extLst>
              <a:ext uri="{FF2B5EF4-FFF2-40B4-BE49-F238E27FC236}">
                <a16:creationId xmlns:a16="http://schemas.microsoft.com/office/drawing/2014/main" id="{3653A742-BA8F-466C-8D08-D55BFCA13F7F}"/>
              </a:ext>
            </a:extLst>
          </p:cNvPr>
          <p:cNvSpPr>
            <a:spLocks noGrp="1"/>
          </p:cNvSpPr>
          <p:nvPr/>
        </p:nvSpPr>
        <p:spPr>
          <a:xfrm>
            <a:off x="8705850" y="3276600"/>
            <a:ext cx="2095500" cy="266700"/>
          </a:xfrm>
          <a:prstGeom prst="rect">
            <a:avLst/>
          </a:prstGeom>
          <a:noFill/>
          <a:ln w="0">
            <a:noFill/>
            <a:prstDash val="solid"/>
          </a:ln>
        </p:spPr>
        <p:txBody>
          <a:bodyPr anchor="t"/>
          <a:lstStyle/>
          <a:p>
            <a:pPr algn="l">
              <a:defRPr sz="1200" b="0" i="0">
                <a:solidFill>
                  <a:srgbClr val="5E6B75"/>
                </a:solidFill>
              </a:defRPr>
            </a:pPr>
            <a:r>
              <a:rPr sz="1200" b="0" i="0">
                <a:solidFill>
                  <a:srgbClr val="5E6B75"/>
                </a:solidFill>
              </a:rPr>
              <a:t>Same coordinate</a:t>
            </a:r>
          </a:p>
        </p:txBody>
      </p:sp>
      <p:sp>
        <p:nvSpPr>
          <p:cNvPr id="14" name="Rectangle 13">
            <a:extLst>
              <a:ext uri="{FF2B5EF4-FFF2-40B4-BE49-F238E27FC236}">
                <a16:creationId xmlns:a16="http://schemas.microsoft.com/office/drawing/2014/main" id="{7CFD8A61-AD3A-4324-B7EC-E92F34D30D1C}"/>
              </a:ext>
            </a:extLst>
          </p:cNvPr>
          <p:cNvSpPr>
            <a:spLocks noGrp="1"/>
          </p:cNvSpPr>
          <p:nvPr/>
        </p:nvSpPr>
        <p:spPr>
          <a:xfrm>
            <a:off x="4324350" y="2343150"/>
            <a:ext cx="3524250" cy="514350"/>
          </a:xfrm>
          <a:prstGeom prst="rect">
            <a:avLst/>
          </a:prstGeom>
          <a:noFill/>
          <a:ln w="0">
            <a:noFill/>
            <a:prstDash val="solid"/>
          </a:ln>
        </p:spPr>
        <p:txBody>
          <a:bodyPr anchor="t"/>
          <a:lstStyle/>
          <a:p>
            <a:pPr algn="ctr">
              <a:defRPr sz="2400" b="1" i="0">
                <a:solidFill>
                  <a:srgbClr val="147D70"/>
                </a:solidFill>
              </a:defRPr>
            </a:pPr>
            <a:r>
              <a:rPr sz="2400" b="1" i="0">
                <a:solidFill>
                  <a:srgbClr val="147D70"/>
                </a:solidFill>
              </a:rPr>
              <a:t>d = √Σ(aᵢ − bᵢ)²</a:t>
            </a:r>
          </a:p>
        </p:txBody>
      </p:sp>
      <p:sp>
        <p:nvSpPr>
          <p:cNvPr id="15" name="Rectangle 14">
            <a:extLst>
              <a:ext uri="{FF2B5EF4-FFF2-40B4-BE49-F238E27FC236}">
                <a16:creationId xmlns:a16="http://schemas.microsoft.com/office/drawing/2014/main" id="{9B12F09D-7208-473B-9A4D-1AA940C8F920}"/>
              </a:ext>
            </a:extLst>
          </p:cNvPr>
          <p:cNvSpPr>
            <a:spLocks noGrp="1"/>
          </p:cNvSpPr>
          <p:nvPr/>
        </p:nvSpPr>
        <p:spPr>
          <a:xfrm>
            <a:off x="4095750" y="3009900"/>
            <a:ext cx="4000500" cy="647700"/>
          </a:xfrm>
          <a:prstGeom prst="rect">
            <a:avLst/>
          </a:prstGeom>
          <a:noFill/>
          <a:ln w="0">
            <a:noFill/>
            <a:prstDash val="solid"/>
          </a:ln>
        </p:spPr>
        <p:txBody>
          <a:bodyPr anchor="t"/>
          <a:lstStyle/>
          <a:p>
            <a:pPr algn="ctr">
              <a:defRPr sz="1500" b="0" i="0">
                <a:solidFill>
                  <a:srgbClr val="18232B"/>
                </a:solidFill>
              </a:defRPr>
            </a:pPr>
            <a:r>
              <a:rPr sz="1500" b="0" i="0">
                <a:solidFill>
                  <a:srgbClr val="18232B"/>
                </a:solidFill>
              </a:rPr>
              <a:t>Larger distance = stronger change in the encoded landscape signal</a:t>
            </a:r>
          </a:p>
        </p:txBody>
      </p:sp>
      <p:sp>
        <p:nvSpPr>
          <p:cNvPr id="16" name="Rectangle 15">
            <a:extLst>
              <a:ext uri="{FF2B5EF4-FFF2-40B4-BE49-F238E27FC236}">
                <a16:creationId xmlns:a16="http://schemas.microsoft.com/office/drawing/2014/main" id="{0D57A58C-40A9-47FE-92C2-DDC7F3A88F0B}"/>
              </a:ext>
            </a:extLst>
          </p:cNvPr>
          <p:cNvSpPr>
            <a:spLocks noGrp="1"/>
          </p:cNvSpPr>
          <p:nvPr/>
        </p:nvSpPr>
        <p:spPr>
          <a:xfrm>
            <a:off x="2000250" y="4533900"/>
            <a:ext cx="8191500" cy="685800"/>
          </a:xfrm>
          <a:prstGeom prst="rect">
            <a:avLst/>
          </a:prstGeom>
          <a:noFill/>
          <a:ln w="0">
            <a:noFill/>
            <a:prstDash val="solid"/>
          </a:ln>
        </p:spPr>
        <p:txBody>
          <a:bodyPr anchor="t"/>
          <a:lstStyle/>
          <a:p>
            <a:pPr algn="ctr">
              <a:defRPr sz="1800" b="1" i="0">
                <a:solidFill>
                  <a:srgbClr val="08065C"/>
                </a:solidFill>
              </a:defRPr>
            </a:pPr>
            <a:r>
              <a:rPr sz="1800" b="1" i="0">
                <a:solidFill>
                  <a:srgbClr val="08065C"/>
                </a:solidFill>
              </a:rPr>
              <a:t>Distance measures magnitude. It does not tell us whether the change is beneficial, harmful, or caused by a specific event.</a:t>
            </a:r>
          </a:p>
        </p:txBody>
      </p:sp>
      <p:sp>
        <p:nvSpPr>
          <p:cNvPr id="17" name="Straight Connector 16">
            <a:extLst>
              <a:ext uri="{FF2B5EF4-FFF2-40B4-BE49-F238E27FC236}">
                <a16:creationId xmlns:a16="http://schemas.microsoft.com/office/drawing/2014/main" id="{4A1591C7-681B-44F1-90A5-536B74CDC102}"/>
              </a:ext>
            </a:extLst>
          </p:cNvPr>
          <p:cNvSpPr>
            <a:spLocks noGrp="1"/>
          </p:cNvSpPr>
          <p:nvPr/>
        </p:nvSpPr>
        <p:spPr>
          <a:xfrm>
            <a:off x="609600" y="6229350"/>
            <a:ext cx="10972800" cy="0"/>
          </a:xfrm>
          <a:prstGeom prst="line">
            <a:avLst/>
          </a:prstGeom>
          <a:noFill/>
          <a:ln w="9525">
            <a:solidFill>
              <a:srgbClr val="D4DDE2"/>
            </a:solidFill>
            <a:prstDash val="solid"/>
          </a:ln>
        </p:spPr>
        <p:txBody>
          <a:bodyPr/>
          <a:lstStyle/>
          <a:p>
            <a:endParaRPr lang="en-US"/>
          </a:p>
        </p:txBody>
      </p:sp>
      <p:sp>
        <p:nvSpPr>
          <p:cNvPr id="18" name="Rectangle 17">
            <a:extLst>
              <a:ext uri="{FF2B5EF4-FFF2-40B4-BE49-F238E27FC236}">
                <a16:creationId xmlns:a16="http://schemas.microsoft.com/office/drawing/2014/main" id="{7978BBB6-54E9-4D28-9FDB-E5C1690B86F1}"/>
              </a:ext>
            </a:extLst>
          </p:cNvPr>
          <p:cNvSpPr>
            <a:spLocks noGrp="1"/>
          </p:cNvSpPr>
          <p:nvPr/>
        </p:nvSpPr>
        <p:spPr>
          <a:xfrm>
            <a:off x="609600" y="6324600"/>
            <a:ext cx="1428750" cy="228600"/>
          </a:xfrm>
          <a:prstGeom prst="rect">
            <a:avLst/>
          </a:prstGeom>
          <a:noFill/>
          <a:ln w="0">
            <a:noFill/>
            <a:prstDash val="solid"/>
          </a:ln>
        </p:spPr>
        <p:txBody>
          <a:bodyPr anchor="t"/>
          <a:lstStyle/>
          <a:p>
            <a:pPr algn="l">
              <a:defRPr sz="975" b="1" i="0">
                <a:solidFill>
                  <a:srgbClr val="08065C"/>
                </a:solidFill>
              </a:defRPr>
            </a:pPr>
            <a:r>
              <a:rPr sz="975" b="1" i="0">
                <a:solidFill>
                  <a:srgbClr val="08065C"/>
                </a:solidFill>
              </a:rPr>
              <a:t>Raster:</a:t>
            </a:r>
          </a:p>
        </p:txBody>
      </p:sp>
      <p:sp>
        <p:nvSpPr>
          <p:cNvPr id="19" name="Rectangle 18">
            <a:extLst>
              <a:ext uri="{FF2B5EF4-FFF2-40B4-BE49-F238E27FC236}">
                <a16:creationId xmlns:a16="http://schemas.microsoft.com/office/drawing/2014/main" id="{392B6D0F-2AA6-4E06-8CE0-55317723CC68}"/>
              </a:ext>
            </a:extLst>
          </p:cNvPr>
          <p:cNvSpPr>
            <a:spLocks noGrp="1"/>
          </p:cNvSpPr>
          <p:nvPr/>
        </p:nvSpPr>
        <p:spPr>
          <a:xfrm>
            <a:off x="1752600" y="6324600"/>
            <a:ext cx="9144000" cy="247650"/>
          </a:xfrm>
          <a:prstGeom prst="rect">
            <a:avLst/>
          </a:prstGeom>
          <a:noFill/>
          <a:ln w="0">
            <a:noFill/>
            <a:prstDash val="solid"/>
          </a:ln>
        </p:spPr>
        <p:txBody>
          <a:bodyPr anchor="t"/>
          <a:lstStyle/>
          <a:p>
            <a:pPr algn="l">
              <a:defRPr sz="975" b="0" i="0">
                <a:solidFill>
                  <a:srgbClr val="5E6B75"/>
                </a:solidFill>
              </a:defRPr>
            </a:pPr>
            <a:r>
              <a:rPr sz="975" b="0" i="0">
                <a:solidFill>
                  <a:srgbClr val="5E6B75"/>
                </a:solidFill>
              </a:rPr>
              <a:t>A geographic grid in which every cell stores a value; here, each location has annual embedding vectors and derived change metrics.</a:t>
            </a:r>
          </a:p>
        </p:txBody>
      </p:sp>
    </p:spTree>
    <p:extLst>
      <p:ext uri="{BB962C8B-B14F-4D97-AF65-F5344CB8AC3E}">
        <p14:creationId xmlns:p14="http://schemas.microsoft.com/office/powerpoint/2010/main" val="435956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F85EE8D-EFAA-41E1-874C-6FCCE1E5B73A}"/>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METHOD 1</a:t>
            </a:r>
          </a:p>
        </p:txBody>
      </p:sp>
      <p:sp>
        <p:nvSpPr>
          <p:cNvPr id="2" name="slide-12-title">
            <a:extLst>
              <a:ext uri="{FF2B5EF4-FFF2-40B4-BE49-F238E27FC236}">
                <a16:creationId xmlns:a16="http://schemas.microsoft.com/office/drawing/2014/main" id="{8F4D3D22-D677-4428-B8C2-25BAD89C1DE3}"/>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Seven annual comparisons reveal how change unfolds</a:t>
            </a:r>
          </a:p>
        </p:txBody>
      </p:sp>
      <p:sp>
        <p:nvSpPr>
          <p:cNvPr id="3" name="Straight Connector 2">
            <a:extLst>
              <a:ext uri="{FF2B5EF4-FFF2-40B4-BE49-F238E27FC236}">
                <a16:creationId xmlns:a16="http://schemas.microsoft.com/office/drawing/2014/main" id="{9D148402-FC94-4E77-8FE9-70EECEC77587}"/>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D5BB3B6C-8932-4518-A78A-097D10EDD805}"/>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12</a:t>
            </a:r>
          </a:p>
        </p:txBody>
      </p:sp>
      <p:graphicFrame>
        <p:nvGraphicFramePr>
          <p:cNvPr id="27" name="Chart"/>
          <p:cNvGraphicFramePr/>
          <p:nvPr/>
        </p:nvGraphicFramePr>
        <p:xfrm>
          <a:off x="666750" y="1714500"/>
          <a:ext cx="6381750"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a:extLst>
              <a:ext uri="{FF2B5EF4-FFF2-40B4-BE49-F238E27FC236}">
                <a16:creationId xmlns:a16="http://schemas.microsoft.com/office/drawing/2014/main" id="{635D0074-E869-41D5-B970-C08A6974FEC9}"/>
              </a:ext>
            </a:extLst>
          </p:cNvPr>
          <p:cNvSpPr>
            <a:spLocks noGrp="1"/>
          </p:cNvSpPr>
          <p:nvPr/>
        </p:nvSpPr>
        <p:spPr>
          <a:xfrm>
            <a:off x="7524750" y="1524000"/>
            <a:ext cx="3810000" cy="895350"/>
          </a:xfrm>
          <a:prstGeom prst="roundRect">
            <a:avLst>
              <a:gd name="adj" fmla="val 6383"/>
            </a:avLst>
          </a:prstGeom>
          <a:solidFill>
            <a:srgbClr val="FFFFFF"/>
          </a:solidFill>
          <a:ln w="9525">
            <a:solidFill>
              <a:srgbClr val="D4DDE2"/>
            </a:solidFill>
            <a:prstDash val="solid"/>
          </a:ln>
        </p:spPr>
        <p:txBody>
          <a:bodyPr/>
          <a:lstStyle/>
          <a:p>
            <a:endParaRPr lang="en-US"/>
          </a:p>
        </p:txBody>
      </p:sp>
      <p:sp>
        <p:nvSpPr>
          <p:cNvPr id="7" name="Rectangle 6">
            <a:extLst>
              <a:ext uri="{FF2B5EF4-FFF2-40B4-BE49-F238E27FC236}">
                <a16:creationId xmlns:a16="http://schemas.microsoft.com/office/drawing/2014/main" id="{A90FC03F-39AA-49CB-B914-A913235A7ED6}"/>
              </a:ext>
            </a:extLst>
          </p:cNvPr>
          <p:cNvSpPr>
            <a:spLocks noGrp="1"/>
          </p:cNvSpPr>
          <p:nvPr/>
        </p:nvSpPr>
        <p:spPr>
          <a:xfrm>
            <a:off x="7524750" y="1524000"/>
            <a:ext cx="76200" cy="895350"/>
          </a:xfrm>
          <a:prstGeom prst="rect">
            <a:avLst/>
          </a:prstGeom>
          <a:solidFill>
            <a:srgbClr val="AD354A"/>
          </a:solidFill>
          <a:ln w="0">
            <a:noFill/>
            <a:prstDash val="solid"/>
          </a:ln>
        </p:spPr>
        <p:txBody>
          <a:bodyPr/>
          <a:lstStyle/>
          <a:p>
            <a:endParaRPr lang="en-US"/>
          </a:p>
        </p:txBody>
      </p:sp>
      <p:sp>
        <p:nvSpPr>
          <p:cNvPr id="8" name="Rectangle 7">
            <a:extLst>
              <a:ext uri="{FF2B5EF4-FFF2-40B4-BE49-F238E27FC236}">
                <a16:creationId xmlns:a16="http://schemas.microsoft.com/office/drawing/2014/main" id="{58A8A233-4228-41D7-BF75-7B1F82078CE9}"/>
              </a:ext>
            </a:extLst>
          </p:cNvPr>
          <p:cNvSpPr>
            <a:spLocks noGrp="1"/>
          </p:cNvSpPr>
          <p:nvPr/>
        </p:nvSpPr>
        <p:spPr>
          <a:xfrm>
            <a:off x="7753350" y="1657350"/>
            <a:ext cx="1619250" cy="247650"/>
          </a:xfrm>
          <a:prstGeom prst="rect">
            <a:avLst/>
          </a:prstGeom>
          <a:noFill/>
          <a:ln w="0">
            <a:noFill/>
            <a:prstDash val="solid"/>
          </a:ln>
        </p:spPr>
        <p:txBody>
          <a:bodyPr anchor="t"/>
          <a:lstStyle/>
          <a:p>
            <a:pPr algn="l">
              <a:defRPr sz="1425" b="1" i="0">
                <a:solidFill>
                  <a:srgbClr val="AD354A"/>
                </a:solidFill>
              </a:defRPr>
            </a:pPr>
            <a:r>
              <a:rPr sz="1425" b="1" i="0">
                <a:solidFill>
                  <a:srgbClr val="AD354A"/>
                </a:solidFill>
              </a:rPr>
              <a:t>Persistence</a:t>
            </a:r>
          </a:p>
        </p:txBody>
      </p:sp>
      <p:sp>
        <p:nvSpPr>
          <p:cNvPr id="9" name="Rectangle 8">
            <a:extLst>
              <a:ext uri="{FF2B5EF4-FFF2-40B4-BE49-F238E27FC236}">
                <a16:creationId xmlns:a16="http://schemas.microsoft.com/office/drawing/2014/main" id="{50515ACC-80F4-468F-B7D5-CBD07D14C7AC}"/>
              </a:ext>
            </a:extLst>
          </p:cNvPr>
          <p:cNvSpPr>
            <a:spLocks noGrp="1"/>
          </p:cNvSpPr>
          <p:nvPr/>
        </p:nvSpPr>
        <p:spPr>
          <a:xfrm>
            <a:off x="7753350" y="1952625"/>
            <a:ext cx="3333750" cy="40005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How many annual distances cross the strong-change threshold?</a:t>
            </a:r>
          </a:p>
        </p:txBody>
      </p:sp>
      <p:sp>
        <p:nvSpPr>
          <p:cNvPr id="10" name="Rounded Rectangle 9">
            <a:extLst>
              <a:ext uri="{FF2B5EF4-FFF2-40B4-BE49-F238E27FC236}">
                <a16:creationId xmlns:a16="http://schemas.microsoft.com/office/drawing/2014/main" id="{D259EAA4-B651-4F8D-B081-871FBA4B4466}"/>
              </a:ext>
            </a:extLst>
          </p:cNvPr>
          <p:cNvSpPr>
            <a:spLocks noGrp="1"/>
          </p:cNvSpPr>
          <p:nvPr/>
        </p:nvSpPr>
        <p:spPr>
          <a:xfrm>
            <a:off x="7524750" y="2514600"/>
            <a:ext cx="3810000" cy="895350"/>
          </a:xfrm>
          <a:prstGeom prst="roundRect">
            <a:avLst>
              <a:gd name="adj" fmla="val 6383"/>
            </a:avLst>
          </a:prstGeom>
          <a:solidFill>
            <a:srgbClr val="FFFFFF"/>
          </a:solidFill>
          <a:ln w="9525">
            <a:solidFill>
              <a:srgbClr val="D4DDE2"/>
            </a:solidFill>
            <a:prstDash val="solid"/>
          </a:ln>
        </p:spPr>
        <p:txBody>
          <a:bodyPr/>
          <a:lstStyle/>
          <a:p>
            <a:endParaRPr lang="en-US"/>
          </a:p>
        </p:txBody>
      </p:sp>
      <p:sp>
        <p:nvSpPr>
          <p:cNvPr id="11" name="Rectangle 10">
            <a:extLst>
              <a:ext uri="{FF2B5EF4-FFF2-40B4-BE49-F238E27FC236}">
                <a16:creationId xmlns:a16="http://schemas.microsoft.com/office/drawing/2014/main" id="{92554318-ADE7-4795-93AF-EBF474EE538F}"/>
              </a:ext>
            </a:extLst>
          </p:cNvPr>
          <p:cNvSpPr>
            <a:spLocks noGrp="1"/>
          </p:cNvSpPr>
          <p:nvPr/>
        </p:nvSpPr>
        <p:spPr>
          <a:xfrm>
            <a:off x="7524750" y="2514600"/>
            <a:ext cx="76200" cy="895350"/>
          </a:xfrm>
          <a:prstGeom prst="rect">
            <a:avLst/>
          </a:prstGeom>
          <a:solidFill>
            <a:srgbClr val="D4872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B53F4DCB-CAA9-4A29-B7E9-02A40C9FC4AE}"/>
              </a:ext>
            </a:extLst>
          </p:cNvPr>
          <p:cNvSpPr>
            <a:spLocks noGrp="1"/>
          </p:cNvSpPr>
          <p:nvPr/>
        </p:nvSpPr>
        <p:spPr>
          <a:xfrm>
            <a:off x="7753350" y="2647950"/>
            <a:ext cx="1619250" cy="247650"/>
          </a:xfrm>
          <a:prstGeom prst="rect">
            <a:avLst/>
          </a:prstGeom>
          <a:noFill/>
          <a:ln w="0">
            <a:noFill/>
            <a:prstDash val="solid"/>
          </a:ln>
        </p:spPr>
        <p:txBody>
          <a:bodyPr anchor="t"/>
          <a:lstStyle/>
          <a:p>
            <a:pPr algn="l">
              <a:defRPr sz="1425" b="1" i="0">
                <a:solidFill>
                  <a:srgbClr val="D48728"/>
                </a:solidFill>
              </a:defRPr>
            </a:pPr>
            <a:r>
              <a:rPr sz="1425" b="1" i="0">
                <a:solidFill>
                  <a:srgbClr val="D48728"/>
                </a:solidFill>
              </a:rPr>
              <a:t>Variance</a:t>
            </a:r>
          </a:p>
        </p:txBody>
      </p:sp>
      <p:sp>
        <p:nvSpPr>
          <p:cNvPr id="13" name="Rectangle 12">
            <a:extLst>
              <a:ext uri="{FF2B5EF4-FFF2-40B4-BE49-F238E27FC236}">
                <a16:creationId xmlns:a16="http://schemas.microsoft.com/office/drawing/2014/main" id="{B483D509-15D3-4AE6-9E3A-83C70F137F7B}"/>
              </a:ext>
            </a:extLst>
          </p:cNvPr>
          <p:cNvSpPr>
            <a:spLocks noGrp="1"/>
          </p:cNvSpPr>
          <p:nvPr/>
        </p:nvSpPr>
        <p:spPr>
          <a:xfrm>
            <a:off x="7753350" y="2943225"/>
            <a:ext cx="3333750" cy="40005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Do a few years stand out, or are annual values similar?</a:t>
            </a:r>
          </a:p>
        </p:txBody>
      </p:sp>
      <p:sp>
        <p:nvSpPr>
          <p:cNvPr id="14" name="Rounded Rectangle 13">
            <a:extLst>
              <a:ext uri="{FF2B5EF4-FFF2-40B4-BE49-F238E27FC236}">
                <a16:creationId xmlns:a16="http://schemas.microsoft.com/office/drawing/2014/main" id="{D96D9583-0692-42D5-8C3A-EF6A23FB44FE}"/>
              </a:ext>
            </a:extLst>
          </p:cNvPr>
          <p:cNvSpPr>
            <a:spLocks noGrp="1"/>
          </p:cNvSpPr>
          <p:nvPr/>
        </p:nvSpPr>
        <p:spPr>
          <a:xfrm>
            <a:off x="7524750" y="3505200"/>
            <a:ext cx="3810000" cy="895350"/>
          </a:xfrm>
          <a:prstGeom prst="roundRect">
            <a:avLst>
              <a:gd name="adj" fmla="val 6383"/>
            </a:avLst>
          </a:prstGeom>
          <a:solidFill>
            <a:srgbClr val="FFFFFF"/>
          </a:solidFill>
          <a:ln w="9525">
            <a:solidFill>
              <a:srgbClr val="D4DDE2"/>
            </a:solidFill>
            <a:prstDash val="solid"/>
          </a:ln>
        </p:spPr>
        <p:txBody>
          <a:bodyPr/>
          <a:lstStyle/>
          <a:p>
            <a:endParaRPr lang="en-US"/>
          </a:p>
        </p:txBody>
      </p:sp>
      <p:sp>
        <p:nvSpPr>
          <p:cNvPr id="15" name="Rectangle 14">
            <a:extLst>
              <a:ext uri="{FF2B5EF4-FFF2-40B4-BE49-F238E27FC236}">
                <a16:creationId xmlns:a16="http://schemas.microsoft.com/office/drawing/2014/main" id="{47380860-1AAC-4A22-96AC-1D6F0FEA7149}"/>
              </a:ext>
            </a:extLst>
          </p:cNvPr>
          <p:cNvSpPr>
            <a:spLocks noGrp="1"/>
          </p:cNvSpPr>
          <p:nvPr/>
        </p:nvSpPr>
        <p:spPr>
          <a:xfrm>
            <a:off x="7524750" y="3505200"/>
            <a:ext cx="76200" cy="895350"/>
          </a:xfrm>
          <a:prstGeom prst="rect">
            <a:avLst/>
          </a:prstGeom>
          <a:solidFill>
            <a:srgbClr val="147D70"/>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ECEF8812-3F73-49F4-A013-673E2E75D3BD}"/>
              </a:ext>
            </a:extLst>
          </p:cNvPr>
          <p:cNvSpPr>
            <a:spLocks noGrp="1"/>
          </p:cNvSpPr>
          <p:nvPr/>
        </p:nvSpPr>
        <p:spPr>
          <a:xfrm>
            <a:off x="7753350" y="3638550"/>
            <a:ext cx="1619250" cy="247650"/>
          </a:xfrm>
          <a:prstGeom prst="rect">
            <a:avLst/>
          </a:prstGeom>
          <a:noFill/>
          <a:ln w="0">
            <a:noFill/>
            <a:prstDash val="solid"/>
          </a:ln>
        </p:spPr>
        <p:txBody>
          <a:bodyPr anchor="t"/>
          <a:lstStyle/>
          <a:p>
            <a:pPr algn="l">
              <a:defRPr sz="1425" b="1" i="0">
                <a:solidFill>
                  <a:srgbClr val="147D70"/>
                </a:solidFill>
              </a:defRPr>
            </a:pPr>
            <a:r>
              <a:rPr sz="1425" b="1" i="0">
                <a:solidFill>
                  <a:srgbClr val="147D70"/>
                </a:solidFill>
              </a:rPr>
              <a:t>Slope</a:t>
            </a:r>
          </a:p>
        </p:txBody>
      </p:sp>
      <p:sp>
        <p:nvSpPr>
          <p:cNvPr id="17" name="Rectangle 16">
            <a:extLst>
              <a:ext uri="{FF2B5EF4-FFF2-40B4-BE49-F238E27FC236}">
                <a16:creationId xmlns:a16="http://schemas.microsoft.com/office/drawing/2014/main" id="{6346CB52-812C-446C-AE59-B4FEFD9DBE57}"/>
              </a:ext>
            </a:extLst>
          </p:cNvPr>
          <p:cNvSpPr>
            <a:spLocks noGrp="1"/>
          </p:cNvSpPr>
          <p:nvPr/>
        </p:nvSpPr>
        <p:spPr>
          <a:xfrm>
            <a:off x="7753350" y="3933825"/>
            <a:ext cx="3333750" cy="40005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Is change magnitude generally increasing or decreasing?</a:t>
            </a:r>
          </a:p>
        </p:txBody>
      </p:sp>
      <p:sp>
        <p:nvSpPr>
          <p:cNvPr id="18" name="Rounded Rectangle 17">
            <a:extLst>
              <a:ext uri="{FF2B5EF4-FFF2-40B4-BE49-F238E27FC236}">
                <a16:creationId xmlns:a16="http://schemas.microsoft.com/office/drawing/2014/main" id="{11B615D4-AFAC-469D-AF35-063C1ED8160A}"/>
              </a:ext>
            </a:extLst>
          </p:cNvPr>
          <p:cNvSpPr>
            <a:spLocks noGrp="1"/>
          </p:cNvSpPr>
          <p:nvPr/>
        </p:nvSpPr>
        <p:spPr>
          <a:xfrm>
            <a:off x="7524750" y="4495800"/>
            <a:ext cx="3810000" cy="895350"/>
          </a:xfrm>
          <a:prstGeom prst="roundRect">
            <a:avLst>
              <a:gd name="adj" fmla="val 6383"/>
            </a:avLst>
          </a:prstGeom>
          <a:solidFill>
            <a:srgbClr val="FFFFFF"/>
          </a:solidFill>
          <a:ln w="9525">
            <a:solidFill>
              <a:srgbClr val="D4DDE2"/>
            </a:solidFill>
            <a:prstDash val="solid"/>
          </a:ln>
        </p:spPr>
        <p:txBody>
          <a:bodyPr/>
          <a:lstStyle/>
          <a:p>
            <a:endParaRPr lang="en-US"/>
          </a:p>
        </p:txBody>
      </p:sp>
      <p:sp>
        <p:nvSpPr>
          <p:cNvPr id="19" name="Rectangle 18">
            <a:extLst>
              <a:ext uri="{FF2B5EF4-FFF2-40B4-BE49-F238E27FC236}">
                <a16:creationId xmlns:a16="http://schemas.microsoft.com/office/drawing/2014/main" id="{71C5741A-F3C0-4E2D-B7A0-55D05C852E7B}"/>
              </a:ext>
            </a:extLst>
          </p:cNvPr>
          <p:cNvSpPr>
            <a:spLocks noGrp="1"/>
          </p:cNvSpPr>
          <p:nvPr/>
        </p:nvSpPr>
        <p:spPr>
          <a:xfrm>
            <a:off x="7524750" y="4495800"/>
            <a:ext cx="76200" cy="895350"/>
          </a:xfrm>
          <a:prstGeom prst="rect">
            <a:avLst/>
          </a:prstGeom>
          <a:solidFill>
            <a:srgbClr val="234E8A"/>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B6709AF3-9F7F-40F5-98B3-CA8268B839B1}"/>
              </a:ext>
            </a:extLst>
          </p:cNvPr>
          <p:cNvSpPr>
            <a:spLocks noGrp="1"/>
          </p:cNvSpPr>
          <p:nvPr/>
        </p:nvSpPr>
        <p:spPr>
          <a:xfrm>
            <a:off x="7753350" y="4629150"/>
            <a:ext cx="1619250" cy="247650"/>
          </a:xfrm>
          <a:prstGeom prst="rect">
            <a:avLst/>
          </a:prstGeom>
          <a:noFill/>
          <a:ln w="0">
            <a:noFill/>
            <a:prstDash val="solid"/>
          </a:ln>
        </p:spPr>
        <p:txBody>
          <a:bodyPr anchor="t"/>
          <a:lstStyle/>
          <a:p>
            <a:pPr algn="l">
              <a:defRPr sz="1425" b="1" i="0">
                <a:solidFill>
                  <a:srgbClr val="234E8A"/>
                </a:solidFill>
              </a:defRPr>
            </a:pPr>
            <a:r>
              <a:rPr sz="1425" b="1" i="0">
                <a:solidFill>
                  <a:srgbClr val="234E8A"/>
                </a:solidFill>
              </a:rPr>
              <a:t>Maximum year</a:t>
            </a:r>
          </a:p>
        </p:txBody>
      </p:sp>
      <p:sp>
        <p:nvSpPr>
          <p:cNvPr id="21" name="Rectangle 20">
            <a:extLst>
              <a:ext uri="{FF2B5EF4-FFF2-40B4-BE49-F238E27FC236}">
                <a16:creationId xmlns:a16="http://schemas.microsoft.com/office/drawing/2014/main" id="{4E54C184-7358-40DC-A5C6-148C0D61D02D}"/>
              </a:ext>
            </a:extLst>
          </p:cNvPr>
          <p:cNvSpPr>
            <a:spLocks noGrp="1"/>
          </p:cNvSpPr>
          <p:nvPr/>
        </p:nvSpPr>
        <p:spPr>
          <a:xfrm>
            <a:off x="7753350" y="4924425"/>
            <a:ext cx="3333750" cy="400050"/>
          </a:xfrm>
          <a:prstGeom prst="rect">
            <a:avLst/>
          </a:prstGeom>
          <a:noFill/>
          <a:ln w="0">
            <a:noFill/>
            <a:prstDash val="solid"/>
          </a:ln>
        </p:spPr>
        <p:txBody>
          <a:bodyPr anchor="t"/>
          <a:lstStyle/>
          <a:p>
            <a:pPr algn="l">
              <a:defRPr sz="1125" b="0" i="0">
                <a:solidFill>
                  <a:srgbClr val="5E6B75"/>
                </a:solidFill>
              </a:defRPr>
            </a:pPr>
            <a:r>
              <a:rPr sz="1125" b="0" i="0">
                <a:solidFill>
                  <a:srgbClr val="5E6B75"/>
                </a:solidFill>
              </a:rPr>
              <a:t>Which annual interval contains the strongest signal?</a:t>
            </a:r>
          </a:p>
        </p:txBody>
      </p:sp>
      <p:sp>
        <p:nvSpPr>
          <p:cNvPr id="22" name="Rectangle 21">
            <a:extLst>
              <a:ext uri="{FF2B5EF4-FFF2-40B4-BE49-F238E27FC236}">
                <a16:creationId xmlns:a16="http://schemas.microsoft.com/office/drawing/2014/main" id="{CC5E2C61-B37F-4F13-B7F2-37F717C13C28}"/>
              </a:ext>
            </a:extLst>
          </p:cNvPr>
          <p:cNvSpPr>
            <a:spLocks noGrp="1"/>
          </p:cNvSpPr>
          <p:nvPr/>
        </p:nvSpPr>
        <p:spPr>
          <a:xfrm>
            <a:off x="723900" y="4876800"/>
            <a:ext cx="2476500" cy="247650"/>
          </a:xfrm>
          <a:prstGeom prst="rect">
            <a:avLst/>
          </a:prstGeom>
          <a:noFill/>
          <a:ln w="0">
            <a:noFill/>
            <a:prstDash val="solid"/>
          </a:ln>
        </p:spPr>
        <p:txBody>
          <a:bodyPr anchor="t"/>
          <a:lstStyle/>
          <a:p>
            <a:pPr algn="l">
              <a:defRPr sz="975" b="0" i="1">
                <a:solidFill>
                  <a:srgbClr val="5E6B75"/>
                </a:solidFill>
              </a:defRPr>
            </a:pPr>
            <a:r>
              <a:rPr sz="975" b="0" i="1">
                <a:solidFill>
                  <a:srgbClr val="5E6B75"/>
                </a:solidFill>
              </a:rPr>
              <a:t>Illustrative annual sequence</a:t>
            </a:r>
          </a:p>
        </p:txBody>
      </p:sp>
    </p:spTree>
    <p:extLst>
      <p:ext uri="{BB962C8B-B14F-4D97-AF65-F5344CB8AC3E}">
        <p14:creationId xmlns:p14="http://schemas.microsoft.com/office/powerpoint/2010/main" val="1601589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DD1DB47F-036B-445A-8563-1E8CAF0455C9}"/>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METHOD 2</a:t>
            </a:r>
          </a:p>
        </p:txBody>
      </p:sp>
      <p:sp>
        <p:nvSpPr>
          <p:cNvPr id="2" name="slide-13-title">
            <a:extLst>
              <a:ext uri="{FF2B5EF4-FFF2-40B4-BE49-F238E27FC236}">
                <a16:creationId xmlns:a16="http://schemas.microsoft.com/office/drawing/2014/main" id="{125C8CF4-672B-4278-916A-0678031D52DF}"/>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Large maps were processed safely, one block at a time</a:t>
            </a:r>
          </a:p>
        </p:txBody>
      </p:sp>
      <p:sp>
        <p:nvSpPr>
          <p:cNvPr id="3" name="Straight Connector 2">
            <a:extLst>
              <a:ext uri="{FF2B5EF4-FFF2-40B4-BE49-F238E27FC236}">
                <a16:creationId xmlns:a16="http://schemas.microsoft.com/office/drawing/2014/main" id="{2EF70A9D-8C70-4464-96BB-9FAABE0E36FA}"/>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651FA1F7-2C30-44E2-BF4C-C85B4F6B9F0D}"/>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13</a:t>
            </a:r>
          </a:p>
        </p:txBody>
      </p:sp>
      <p:sp>
        <p:nvSpPr>
          <p:cNvPr id="5" name="Rounded Rectangle 4">
            <a:extLst>
              <a:ext uri="{FF2B5EF4-FFF2-40B4-BE49-F238E27FC236}">
                <a16:creationId xmlns:a16="http://schemas.microsoft.com/office/drawing/2014/main" id="{8F357D8C-D4F1-41A0-A463-42798F1EFDAD}"/>
              </a:ext>
            </a:extLst>
          </p:cNvPr>
          <p:cNvSpPr>
            <a:spLocks noGrp="1"/>
          </p:cNvSpPr>
          <p:nvPr/>
        </p:nvSpPr>
        <p:spPr>
          <a:xfrm>
            <a:off x="666750" y="1619250"/>
            <a:ext cx="4762500" cy="4000500"/>
          </a:xfrm>
          <a:prstGeom prst="roundRect">
            <a:avLst>
              <a:gd name="adj" fmla="val 1905"/>
            </a:avLst>
          </a:prstGeom>
          <a:solidFill>
            <a:srgbClr val="EEF2F4"/>
          </a:solidFill>
          <a:ln w="9525">
            <a:solidFill>
              <a:srgbClr val="D4DDE2"/>
            </a:solidFill>
            <a:prstDash val="solid"/>
          </a:ln>
        </p:spPr>
        <p:txBody>
          <a:bodyPr/>
          <a:lstStyle/>
          <a:p>
            <a:endParaRPr lang="en-US"/>
          </a:p>
        </p:txBody>
      </p:sp>
      <p:sp>
        <p:nvSpPr>
          <p:cNvPr id="6" name="Rectangle 5">
            <a:extLst>
              <a:ext uri="{FF2B5EF4-FFF2-40B4-BE49-F238E27FC236}">
                <a16:creationId xmlns:a16="http://schemas.microsoft.com/office/drawing/2014/main" id="{4D25B6EC-6DD2-471E-9E26-48D78ECCF94D}"/>
              </a:ext>
            </a:extLst>
          </p:cNvPr>
          <p:cNvSpPr>
            <a:spLocks noGrp="1"/>
          </p:cNvSpPr>
          <p:nvPr/>
        </p:nvSpPr>
        <p:spPr>
          <a:xfrm>
            <a:off x="971550" y="1847850"/>
            <a:ext cx="4095750" cy="342900"/>
          </a:xfrm>
          <a:prstGeom prst="rect">
            <a:avLst/>
          </a:prstGeom>
          <a:noFill/>
          <a:ln w="0">
            <a:noFill/>
            <a:prstDash val="solid"/>
          </a:ln>
        </p:spPr>
        <p:txBody>
          <a:bodyPr anchor="t"/>
          <a:lstStyle/>
          <a:p>
            <a:pPr algn="ctr">
              <a:defRPr sz="1650" b="1" i="0">
                <a:solidFill>
                  <a:srgbClr val="08065C"/>
                </a:solidFill>
              </a:defRPr>
            </a:pPr>
            <a:r>
              <a:rPr sz="1650" b="1" i="0">
                <a:solidFill>
                  <a:srgbClr val="08065C"/>
                </a:solidFill>
              </a:rPr>
              <a:t>Map processed in small blocks</a:t>
            </a:r>
          </a:p>
        </p:txBody>
      </p:sp>
      <p:sp>
        <p:nvSpPr>
          <p:cNvPr id="7" name="Rectangle 6">
            <a:extLst>
              <a:ext uri="{FF2B5EF4-FFF2-40B4-BE49-F238E27FC236}">
                <a16:creationId xmlns:a16="http://schemas.microsoft.com/office/drawing/2014/main" id="{C955E7FC-827F-42A6-847A-07955E5F53F8}"/>
              </a:ext>
            </a:extLst>
          </p:cNvPr>
          <p:cNvSpPr>
            <a:spLocks noGrp="1"/>
          </p:cNvSpPr>
          <p:nvPr/>
        </p:nvSpPr>
        <p:spPr>
          <a:xfrm>
            <a:off x="1371600" y="2438400"/>
            <a:ext cx="466725" cy="466725"/>
          </a:xfrm>
          <a:prstGeom prst="rect">
            <a:avLst/>
          </a:prstGeom>
          <a:solidFill>
            <a:srgbClr val="FFFFFF"/>
          </a:solidFill>
          <a:ln w="7620">
            <a:solidFill>
              <a:srgbClr val="D4DDE2"/>
            </a:solidFill>
            <a:prstDash val="solid"/>
          </a:ln>
        </p:spPr>
        <p:txBody>
          <a:bodyPr/>
          <a:lstStyle/>
          <a:p>
            <a:endParaRPr lang="en-US"/>
          </a:p>
        </p:txBody>
      </p:sp>
      <p:sp>
        <p:nvSpPr>
          <p:cNvPr id="8" name="Rectangle 7">
            <a:extLst>
              <a:ext uri="{FF2B5EF4-FFF2-40B4-BE49-F238E27FC236}">
                <a16:creationId xmlns:a16="http://schemas.microsoft.com/office/drawing/2014/main" id="{77F1B4D5-6FCA-4816-B865-9E219CA79FD8}"/>
              </a:ext>
            </a:extLst>
          </p:cNvPr>
          <p:cNvSpPr>
            <a:spLocks noGrp="1"/>
          </p:cNvSpPr>
          <p:nvPr/>
        </p:nvSpPr>
        <p:spPr>
          <a:xfrm>
            <a:off x="1866900" y="2438400"/>
            <a:ext cx="466725" cy="466725"/>
          </a:xfrm>
          <a:prstGeom prst="rect">
            <a:avLst/>
          </a:prstGeom>
          <a:solidFill>
            <a:srgbClr val="FFFFFF"/>
          </a:solidFill>
          <a:ln w="7620">
            <a:solidFill>
              <a:srgbClr val="D4DDE2"/>
            </a:solidFill>
            <a:prstDash val="solid"/>
          </a:ln>
        </p:spPr>
        <p:txBody>
          <a:bodyPr/>
          <a:lstStyle/>
          <a:p>
            <a:endParaRPr lang="en-US"/>
          </a:p>
        </p:txBody>
      </p:sp>
      <p:sp>
        <p:nvSpPr>
          <p:cNvPr id="9" name="Rectangle 8">
            <a:extLst>
              <a:ext uri="{FF2B5EF4-FFF2-40B4-BE49-F238E27FC236}">
                <a16:creationId xmlns:a16="http://schemas.microsoft.com/office/drawing/2014/main" id="{F425C1D9-1B7C-4744-9B5F-D14297A30024}"/>
              </a:ext>
            </a:extLst>
          </p:cNvPr>
          <p:cNvSpPr>
            <a:spLocks noGrp="1"/>
          </p:cNvSpPr>
          <p:nvPr/>
        </p:nvSpPr>
        <p:spPr>
          <a:xfrm>
            <a:off x="2362200" y="2438400"/>
            <a:ext cx="466725" cy="466725"/>
          </a:xfrm>
          <a:prstGeom prst="rect">
            <a:avLst/>
          </a:prstGeom>
          <a:solidFill>
            <a:srgbClr val="FFFFFF"/>
          </a:solidFill>
          <a:ln w="7620">
            <a:solidFill>
              <a:srgbClr val="D4DDE2"/>
            </a:solidFill>
            <a:prstDash val="solid"/>
          </a:ln>
        </p:spPr>
        <p:txBody>
          <a:bodyPr/>
          <a:lstStyle/>
          <a:p>
            <a:endParaRPr lang="en-US"/>
          </a:p>
        </p:txBody>
      </p:sp>
      <p:sp>
        <p:nvSpPr>
          <p:cNvPr id="10" name="Rectangle 9">
            <a:extLst>
              <a:ext uri="{FF2B5EF4-FFF2-40B4-BE49-F238E27FC236}">
                <a16:creationId xmlns:a16="http://schemas.microsoft.com/office/drawing/2014/main" id="{EE0F426E-9B86-4BD5-B5C9-595319CD90F8}"/>
              </a:ext>
            </a:extLst>
          </p:cNvPr>
          <p:cNvSpPr>
            <a:spLocks noGrp="1"/>
          </p:cNvSpPr>
          <p:nvPr/>
        </p:nvSpPr>
        <p:spPr>
          <a:xfrm>
            <a:off x="2857500" y="2438400"/>
            <a:ext cx="466725" cy="466725"/>
          </a:xfrm>
          <a:prstGeom prst="rect">
            <a:avLst/>
          </a:prstGeom>
          <a:solidFill>
            <a:srgbClr val="FFFFFF"/>
          </a:solidFill>
          <a:ln w="7620">
            <a:solidFill>
              <a:srgbClr val="D4DDE2"/>
            </a:solidFill>
            <a:prstDash val="solid"/>
          </a:ln>
        </p:spPr>
        <p:txBody>
          <a:bodyPr/>
          <a:lstStyle/>
          <a:p>
            <a:endParaRPr lang="en-US"/>
          </a:p>
        </p:txBody>
      </p:sp>
      <p:sp>
        <p:nvSpPr>
          <p:cNvPr id="11" name="Rectangle 10">
            <a:extLst>
              <a:ext uri="{FF2B5EF4-FFF2-40B4-BE49-F238E27FC236}">
                <a16:creationId xmlns:a16="http://schemas.microsoft.com/office/drawing/2014/main" id="{78C08FD2-2420-4AEA-B72E-B6DB77FA078C}"/>
              </a:ext>
            </a:extLst>
          </p:cNvPr>
          <p:cNvSpPr>
            <a:spLocks noGrp="1"/>
          </p:cNvSpPr>
          <p:nvPr/>
        </p:nvSpPr>
        <p:spPr>
          <a:xfrm>
            <a:off x="3352800" y="2438400"/>
            <a:ext cx="466725" cy="466725"/>
          </a:xfrm>
          <a:prstGeom prst="rect">
            <a:avLst/>
          </a:prstGeom>
          <a:solidFill>
            <a:srgbClr val="FFFFFF"/>
          </a:solidFill>
          <a:ln w="7620">
            <a:solidFill>
              <a:srgbClr val="D4DDE2"/>
            </a:solidFill>
            <a:prstDash val="solid"/>
          </a:ln>
        </p:spPr>
        <p:txBody>
          <a:bodyPr/>
          <a:lstStyle/>
          <a:p>
            <a:endParaRPr lang="en-US"/>
          </a:p>
        </p:txBody>
      </p:sp>
      <p:sp>
        <p:nvSpPr>
          <p:cNvPr id="12" name="Rectangle 11">
            <a:extLst>
              <a:ext uri="{FF2B5EF4-FFF2-40B4-BE49-F238E27FC236}">
                <a16:creationId xmlns:a16="http://schemas.microsoft.com/office/drawing/2014/main" id="{B62F0863-CD00-4E5F-91B2-E65ACA498513}"/>
              </a:ext>
            </a:extLst>
          </p:cNvPr>
          <p:cNvSpPr>
            <a:spLocks noGrp="1"/>
          </p:cNvSpPr>
          <p:nvPr/>
        </p:nvSpPr>
        <p:spPr>
          <a:xfrm>
            <a:off x="3848100" y="2438400"/>
            <a:ext cx="466725" cy="466725"/>
          </a:xfrm>
          <a:prstGeom prst="rect">
            <a:avLst/>
          </a:prstGeom>
          <a:solidFill>
            <a:srgbClr val="FFFFFF"/>
          </a:solidFill>
          <a:ln w="7620">
            <a:solidFill>
              <a:srgbClr val="D4DDE2"/>
            </a:solidFill>
            <a:prstDash val="solid"/>
          </a:ln>
        </p:spPr>
        <p:txBody>
          <a:bodyPr/>
          <a:lstStyle/>
          <a:p>
            <a:endParaRPr lang="en-US"/>
          </a:p>
        </p:txBody>
      </p:sp>
      <p:sp>
        <p:nvSpPr>
          <p:cNvPr id="13" name="Rectangle 12">
            <a:extLst>
              <a:ext uri="{FF2B5EF4-FFF2-40B4-BE49-F238E27FC236}">
                <a16:creationId xmlns:a16="http://schemas.microsoft.com/office/drawing/2014/main" id="{A9EC7E8B-B4F9-4694-A92F-B6C1E68C12B5}"/>
              </a:ext>
            </a:extLst>
          </p:cNvPr>
          <p:cNvSpPr>
            <a:spLocks noGrp="1"/>
          </p:cNvSpPr>
          <p:nvPr/>
        </p:nvSpPr>
        <p:spPr>
          <a:xfrm>
            <a:off x="1371600" y="2933700"/>
            <a:ext cx="466725" cy="466725"/>
          </a:xfrm>
          <a:prstGeom prst="rect">
            <a:avLst/>
          </a:prstGeom>
          <a:solidFill>
            <a:srgbClr val="FFFFFF"/>
          </a:solidFill>
          <a:ln w="7620">
            <a:solidFill>
              <a:srgbClr val="D4DDE2"/>
            </a:solidFill>
            <a:prstDash val="solid"/>
          </a:ln>
        </p:spPr>
        <p:txBody>
          <a:bodyPr/>
          <a:lstStyle/>
          <a:p>
            <a:endParaRPr lang="en-US"/>
          </a:p>
        </p:txBody>
      </p:sp>
      <p:sp>
        <p:nvSpPr>
          <p:cNvPr id="14" name="Rectangle 13">
            <a:extLst>
              <a:ext uri="{FF2B5EF4-FFF2-40B4-BE49-F238E27FC236}">
                <a16:creationId xmlns:a16="http://schemas.microsoft.com/office/drawing/2014/main" id="{90261D80-F8F8-4120-9CFC-6757DD7F63A4}"/>
              </a:ext>
            </a:extLst>
          </p:cNvPr>
          <p:cNvSpPr>
            <a:spLocks noGrp="1"/>
          </p:cNvSpPr>
          <p:nvPr/>
        </p:nvSpPr>
        <p:spPr>
          <a:xfrm>
            <a:off x="1866900" y="2933700"/>
            <a:ext cx="466725" cy="466725"/>
          </a:xfrm>
          <a:prstGeom prst="rect">
            <a:avLst/>
          </a:prstGeom>
          <a:solidFill>
            <a:srgbClr val="F7EAD8"/>
          </a:solidFill>
          <a:ln w="7620">
            <a:solidFill>
              <a:srgbClr val="D4DDE2"/>
            </a:solidFill>
            <a:prstDash val="solid"/>
          </a:ln>
        </p:spPr>
        <p:txBody>
          <a:bodyPr/>
          <a:lstStyle/>
          <a:p>
            <a:endParaRPr lang="en-US"/>
          </a:p>
        </p:txBody>
      </p:sp>
      <p:sp>
        <p:nvSpPr>
          <p:cNvPr id="15" name="Rectangle 14">
            <a:extLst>
              <a:ext uri="{FF2B5EF4-FFF2-40B4-BE49-F238E27FC236}">
                <a16:creationId xmlns:a16="http://schemas.microsoft.com/office/drawing/2014/main" id="{388952FF-EC3E-4F2E-ADF4-BBBCEB45D9AE}"/>
              </a:ext>
            </a:extLst>
          </p:cNvPr>
          <p:cNvSpPr>
            <a:spLocks noGrp="1"/>
          </p:cNvSpPr>
          <p:nvPr/>
        </p:nvSpPr>
        <p:spPr>
          <a:xfrm>
            <a:off x="2362200" y="2933700"/>
            <a:ext cx="466725" cy="466725"/>
          </a:xfrm>
          <a:prstGeom prst="rect">
            <a:avLst/>
          </a:prstGeom>
          <a:solidFill>
            <a:srgbClr val="F7EAD8"/>
          </a:solidFill>
          <a:ln w="7620">
            <a:solidFill>
              <a:srgbClr val="D4DDE2"/>
            </a:solidFill>
            <a:prstDash val="solid"/>
          </a:ln>
        </p:spPr>
        <p:txBody>
          <a:bodyPr/>
          <a:lstStyle/>
          <a:p>
            <a:endParaRPr lang="en-US"/>
          </a:p>
        </p:txBody>
      </p:sp>
      <p:sp>
        <p:nvSpPr>
          <p:cNvPr id="16" name="Rectangle 15">
            <a:extLst>
              <a:ext uri="{FF2B5EF4-FFF2-40B4-BE49-F238E27FC236}">
                <a16:creationId xmlns:a16="http://schemas.microsoft.com/office/drawing/2014/main" id="{4721FF57-AF30-4367-84ED-FEE58B4DBF06}"/>
              </a:ext>
            </a:extLst>
          </p:cNvPr>
          <p:cNvSpPr>
            <a:spLocks noGrp="1"/>
          </p:cNvSpPr>
          <p:nvPr/>
        </p:nvSpPr>
        <p:spPr>
          <a:xfrm>
            <a:off x="2857500" y="2933700"/>
            <a:ext cx="466725" cy="466725"/>
          </a:xfrm>
          <a:prstGeom prst="rect">
            <a:avLst/>
          </a:prstGeom>
          <a:solidFill>
            <a:srgbClr val="F7EAD8"/>
          </a:solidFill>
          <a:ln w="7620">
            <a:solidFill>
              <a:srgbClr val="D4DDE2"/>
            </a:solidFill>
            <a:prstDash val="solid"/>
          </a:ln>
        </p:spPr>
        <p:txBody>
          <a:bodyPr/>
          <a:lstStyle/>
          <a:p>
            <a:endParaRPr lang="en-US"/>
          </a:p>
        </p:txBody>
      </p:sp>
      <p:sp>
        <p:nvSpPr>
          <p:cNvPr id="17" name="Rectangle 16">
            <a:extLst>
              <a:ext uri="{FF2B5EF4-FFF2-40B4-BE49-F238E27FC236}">
                <a16:creationId xmlns:a16="http://schemas.microsoft.com/office/drawing/2014/main" id="{F560BE3A-49B4-402B-A966-DC53C513DF1D}"/>
              </a:ext>
            </a:extLst>
          </p:cNvPr>
          <p:cNvSpPr>
            <a:spLocks noGrp="1"/>
          </p:cNvSpPr>
          <p:nvPr/>
        </p:nvSpPr>
        <p:spPr>
          <a:xfrm>
            <a:off x="3352800" y="2933700"/>
            <a:ext cx="466725" cy="466725"/>
          </a:xfrm>
          <a:prstGeom prst="rect">
            <a:avLst/>
          </a:prstGeom>
          <a:solidFill>
            <a:srgbClr val="FFFFFF"/>
          </a:solidFill>
          <a:ln w="7620">
            <a:solidFill>
              <a:srgbClr val="D4DDE2"/>
            </a:solidFill>
            <a:prstDash val="solid"/>
          </a:ln>
        </p:spPr>
        <p:txBody>
          <a:bodyPr/>
          <a:lstStyle/>
          <a:p>
            <a:endParaRPr lang="en-US"/>
          </a:p>
        </p:txBody>
      </p:sp>
      <p:sp>
        <p:nvSpPr>
          <p:cNvPr id="18" name="Rectangle 17">
            <a:extLst>
              <a:ext uri="{FF2B5EF4-FFF2-40B4-BE49-F238E27FC236}">
                <a16:creationId xmlns:a16="http://schemas.microsoft.com/office/drawing/2014/main" id="{D565C24F-C778-466A-AA77-C16CB73F8667}"/>
              </a:ext>
            </a:extLst>
          </p:cNvPr>
          <p:cNvSpPr>
            <a:spLocks noGrp="1"/>
          </p:cNvSpPr>
          <p:nvPr/>
        </p:nvSpPr>
        <p:spPr>
          <a:xfrm>
            <a:off x="3848100" y="2933700"/>
            <a:ext cx="466725" cy="466725"/>
          </a:xfrm>
          <a:prstGeom prst="rect">
            <a:avLst/>
          </a:prstGeom>
          <a:solidFill>
            <a:srgbClr val="FFFFFF"/>
          </a:solidFill>
          <a:ln w="7620">
            <a:solidFill>
              <a:srgbClr val="D4DDE2"/>
            </a:solidFill>
            <a:prstDash val="solid"/>
          </a:ln>
        </p:spPr>
        <p:txBody>
          <a:bodyPr/>
          <a:lstStyle/>
          <a:p>
            <a:endParaRPr lang="en-US"/>
          </a:p>
        </p:txBody>
      </p:sp>
      <p:sp>
        <p:nvSpPr>
          <p:cNvPr id="19" name="Rectangle 18">
            <a:extLst>
              <a:ext uri="{FF2B5EF4-FFF2-40B4-BE49-F238E27FC236}">
                <a16:creationId xmlns:a16="http://schemas.microsoft.com/office/drawing/2014/main" id="{7D741D0B-AE97-4F19-8071-68CA96350051}"/>
              </a:ext>
            </a:extLst>
          </p:cNvPr>
          <p:cNvSpPr>
            <a:spLocks noGrp="1"/>
          </p:cNvSpPr>
          <p:nvPr/>
        </p:nvSpPr>
        <p:spPr>
          <a:xfrm>
            <a:off x="1371600" y="3429000"/>
            <a:ext cx="466725" cy="466725"/>
          </a:xfrm>
          <a:prstGeom prst="rect">
            <a:avLst/>
          </a:prstGeom>
          <a:solidFill>
            <a:srgbClr val="FFFFFF"/>
          </a:solidFill>
          <a:ln w="7620">
            <a:solidFill>
              <a:srgbClr val="D4DDE2"/>
            </a:solidFill>
            <a:prstDash val="solid"/>
          </a:ln>
        </p:spPr>
        <p:txBody>
          <a:bodyPr/>
          <a:lstStyle/>
          <a:p>
            <a:endParaRPr lang="en-US"/>
          </a:p>
        </p:txBody>
      </p:sp>
      <p:sp>
        <p:nvSpPr>
          <p:cNvPr id="20" name="Rectangle 19">
            <a:extLst>
              <a:ext uri="{FF2B5EF4-FFF2-40B4-BE49-F238E27FC236}">
                <a16:creationId xmlns:a16="http://schemas.microsoft.com/office/drawing/2014/main" id="{365E4B84-1335-40B4-AEF5-F527A9488316}"/>
              </a:ext>
            </a:extLst>
          </p:cNvPr>
          <p:cNvSpPr>
            <a:spLocks noGrp="1"/>
          </p:cNvSpPr>
          <p:nvPr/>
        </p:nvSpPr>
        <p:spPr>
          <a:xfrm>
            <a:off x="1866900" y="3429000"/>
            <a:ext cx="466725" cy="466725"/>
          </a:xfrm>
          <a:prstGeom prst="rect">
            <a:avLst/>
          </a:prstGeom>
          <a:solidFill>
            <a:srgbClr val="F7EAD8"/>
          </a:solidFill>
          <a:ln w="7620">
            <a:solidFill>
              <a:srgbClr val="D4DDE2"/>
            </a:solidFill>
            <a:prstDash val="solid"/>
          </a:ln>
        </p:spPr>
        <p:txBody>
          <a:bodyPr/>
          <a:lstStyle/>
          <a:p>
            <a:endParaRPr lang="en-US"/>
          </a:p>
        </p:txBody>
      </p:sp>
      <p:sp>
        <p:nvSpPr>
          <p:cNvPr id="21" name="Rectangle 20">
            <a:extLst>
              <a:ext uri="{FF2B5EF4-FFF2-40B4-BE49-F238E27FC236}">
                <a16:creationId xmlns:a16="http://schemas.microsoft.com/office/drawing/2014/main" id="{F7026CAB-30A0-4D31-87D5-9E7D6C27B649}"/>
              </a:ext>
            </a:extLst>
          </p:cNvPr>
          <p:cNvSpPr>
            <a:spLocks noGrp="1"/>
          </p:cNvSpPr>
          <p:nvPr/>
        </p:nvSpPr>
        <p:spPr>
          <a:xfrm>
            <a:off x="2362200" y="3429000"/>
            <a:ext cx="466725" cy="466725"/>
          </a:xfrm>
          <a:prstGeom prst="rect">
            <a:avLst/>
          </a:prstGeom>
          <a:solidFill>
            <a:srgbClr val="F7EAD8"/>
          </a:solidFill>
          <a:ln w="7620">
            <a:solidFill>
              <a:srgbClr val="D4DDE2"/>
            </a:solidFill>
            <a:prstDash val="solid"/>
          </a:ln>
        </p:spPr>
        <p:txBody>
          <a:bodyPr/>
          <a:lstStyle/>
          <a:p>
            <a:endParaRPr lang="en-US"/>
          </a:p>
        </p:txBody>
      </p:sp>
      <p:sp>
        <p:nvSpPr>
          <p:cNvPr id="22" name="Rectangle 21">
            <a:extLst>
              <a:ext uri="{FF2B5EF4-FFF2-40B4-BE49-F238E27FC236}">
                <a16:creationId xmlns:a16="http://schemas.microsoft.com/office/drawing/2014/main" id="{19C0F093-5C30-47DB-AF05-D928531979E7}"/>
              </a:ext>
            </a:extLst>
          </p:cNvPr>
          <p:cNvSpPr>
            <a:spLocks noGrp="1"/>
          </p:cNvSpPr>
          <p:nvPr/>
        </p:nvSpPr>
        <p:spPr>
          <a:xfrm>
            <a:off x="2857500" y="3429000"/>
            <a:ext cx="466725" cy="466725"/>
          </a:xfrm>
          <a:prstGeom prst="rect">
            <a:avLst/>
          </a:prstGeom>
          <a:solidFill>
            <a:srgbClr val="F7EAD8"/>
          </a:solidFill>
          <a:ln w="7620">
            <a:solidFill>
              <a:srgbClr val="D4DDE2"/>
            </a:solidFill>
            <a:prstDash val="solid"/>
          </a:ln>
        </p:spPr>
        <p:txBody>
          <a:bodyPr/>
          <a:lstStyle/>
          <a:p>
            <a:endParaRPr lang="en-US"/>
          </a:p>
        </p:txBody>
      </p:sp>
      <p:sp>
        <p:nvSpPr>
          <p:cNvPr id="23" name="Rectangle 22">
            <a:extLst>
              <a:ext uri="{FF2B5EF4-FFF2-40B4-BE49-F238E27FC236}">
                <a16:creationId xmlns:a16="http://schemas.microsoft.com/office/drawing/2014/main" id="{795D9B80-7630-4EC4-A75D-461B9241CA9B}"/>
              </a:ext>
            </a:extLst>
          </p:cNvPr>
          <p:cNvSpPr>
            <a:spLocks noGrp="1"/>
          </p:cNvSpPr>
          <p:nvPr/>
        </p:nvSpPr>
        <p:spPr>
          <a:xfrm>
            <a:off x="3352800" y="3429000"/>
            <a:ext cx="466725" cy="466725"/>
          </a:xfrm>
          <a:prstGeom prst="rect">
            <a:avLst/>
          </a:prstGeom>
          <a:solidFill>
            <a:srgbClr val="FFFFFF"/>
          </a:solidFill>
          <a:ln w="7620">
            <a:solidFill>
              <a:srgbClr val="D4DDE2"/>
            </a:solidFill>
            <a:prstDash val="solid"/>
          </a:ln>
        </p:spPr>
        <p:txBody>
          <a:bodyPr/>
          <a:lstStyle/>
          <a:p>
            <a:endParaRPr lang="en-US"/>
          </a:p>
        </p:txBody>
      </p:sp>
      <p:sp>
        <p:nvSpPr>
          <p:cNvPr id="24" name="Rectangle 23">
            <a:extLst>
              <a:ext uri="{FF2B5EF4-FFF2-40B4-BE49-F238E27FC236}">
                <a16:creationId xmlns:a16="http://schemas.microsoft.com/office/drawing/2014/main" id="{B9E935D9-BB91-42BE-9BB5-DB2BDB712666}"/>
              </a:ext>
            </a:extLst>
          </p:cNvPr>
          <p:cNvSpPr>
            <a:spLocks noGrp="1"/>
          </p:cNvSpPr>
          <p:nvPr/>
        </p:nvSpPr>
        <p:spPr>
          <a:xfrm>
            <a:off x="3848100" y="3429000"/>
            <a:ext cx="466725" cy="466725"/>
          </a:xfrm>
          <a:prstGeom prst="rect">
            <a:avLst/>
          </a:prstGeom>
          <a:solidFill>
            <a:srgbClr val="FFFFFF"/>
          </a:solidFill>
          <a:ln w="7620">
            <a:solidFill>
              <a:srgbClr val="D4DDE2"/>
            </a:solidFill>
            <a:prstDash val="solid"/>
          </a:ln>
        </p:spPr>
        <p:txBody>
          <a:bodyPr/>
          <a:lstStyle/>
          <a:p>
            <a:endParaRPr lang="en-US"/>
          </a:p>
        </p:txBody>
      </p:sp>
      <p:sp>
        <p:nvSpPr>
          <p:cNvPr id="25" name="Rectangle 24">
            <a:extLst>
              <a:ext uri="{FF2B5EF4-FFF2-40B4-BE49-F238E27FC236}">
                <a16:creationId xmlns:a16="http://schemas.microsoft.com/office/drawing/2014/main" id="{BB508A41-7B6E-4E70-913B-E018CC0A3ACF}"/>
              </a:ext>
            </a:extLst>
          </p:cNvPr>
          <p:cNvSpPr>
            <a:spLocks noGrp="1"/>
          </p:cNvSpPr>
          <p:nvPr/>
        </p:nvSpPr>
        <p:spPr>
          <a:xfrm>
            <a:off x="1371600" y="3924300"/>
            <a:ext cx="466725" cy="466725"/>
          </a:xfrm>
          <a:prstGeom prst="rect">
            <a:avLst/>
          </a:prstGeom>
          <a:solidFill>
            <a:srgbClr val="FFFFFF"/>
          </a:solidFill>
          <a:ln w="7620">
            <a:solidFill>
              <a:srgbClr val="D4DDE2"/>
            </a:solidFill>
            <a:prstDash val="solid"/>
          </a:ln>
        </p:spPr>
        <p:txBody>
          <a:bodyPr/>
          <a:lstStyle/>
          <a:p>
            <a:endParaRPr lang="en-US"/>
          </a:p>
        </p:txBody>
      </p:sp>
      <p:sp>
        <p:nvSpPr>
          <p:cNvPr id="26" name="Rectangle 25">
            <a:extLst>
              <a:ext uri="{FF2B5EF4-FFF2-40B4-BE49-F238E27FC236}">
                <a16:creationId xmlns:a16="http://schemas.microsoft.com/office/drawing/2014/main" id="{17AF2D17-64C5-47F9-B3CB-C5EA2CF49155}"/>
              </a:ext>
            </a:extLst>
          </p:cNvPr>
          <p:cNvSpPr>
            <a:spLocks noGrp="1"/>
          </p:cNvSpPr>
          <p:nvPr/>
        </p:nvSpPr>
        <p:spPr>
          <a:xfrm>
            <a:off x="1866900" y="3924300"/>
            <a:ext cx="466725" cy="466725"/>
          </a:xfrm>
          <a:prstGeom prst="rect">
            <a:avLst/>
          </a:prstGeom>
          <a:solidFill>
            <a:srgbClr val="FFFFFF"/>
          </a:solidFill>
          <a:ln w="7620">
            <a:solidFill>
              <a:srgbClr val="D4DDE2"/>
            </a:solidFill>
            <a:prstDash val="solid"/>
          </a:ln>
        </p:spPr>
        <p:txBody>
          <a:bodyPr/>
          <a:lstStyle/>
          <a:p>
            <a:endParaRPr lang="en-US"/>
          </a:p>
        </p:txBody>
      </p:sp>
      <p:sp>
        <p:nvSpPr>
          <p:cNvPr id="27" name="Rectangle 26">
            <a:extLst>
              <a:ext uri="{FF2B5EF4-FFF2-40B4-BE49-F238E27FC236}">
                <a16:creationId xmlns:a16="http://schemas.microsoft.com/office/drawing/2014/main" id="{E36E0A57-9E47-4998-8104-DB1FE6F10266}"/>
              </a:ext>
            </a:extLst>
          </p:cNvPr>
          <p:cNvSpPr>
            <a:spLocks noGrp="1"/>
          </p:cNvSpPr>
          <p:nvPr/>
        </p:nvSpPr>
        <p:spPr>
          <a:xfrm>
            <a:off x="2362200" y="3924300"/>
            <a:ext cx="466725" cy="466725"/>
          </a:xfrm>
          <a:prstGeom prst="rect">
            <a:avLst/>
          </a:prstGeom>
          <a:solidFill>
            <a:srgbClr val="FFFFFF"/>
          </a:solidFill>
          <a:ln w="7620">
            <a:solidFill>
              <a:srgbClr val="D4DDE2"/>
            </a:solidFill>
            <a:prstDash val="solid"/>
          </a:ln>
        </p:spPr>
        <p:txBody>
          <a:bodyPr/>
          <a:lstStyle/>
          <a:p>
            <a:endParaRPr lang="en-US"/>
          </a:p>
        </p:txBody>
      </p:sp>
      <p:sp>
        <p:nvSpPr>
          <p:cNvPr id="28" name="Rectangle 27">
            <a:extLst>
              <a:ext uri="{FF2B5EF4-FFF2-40B4-BE49-F238E27FC236}">
                <a16:creationId xmlns:a16="http://schemas.microsoft.com/office/drawing/2014/main" id="{988FE0DE-6F5B-4F47-97B1-2262FE988DE6}"/>
              </a:ext>
            </a:extLst>
          </p:cNvPr>
          <p:cNvSpPr>
            <a:spLocks noGrp="1"/>
          </p:cNvSpPr>
          <p:nvPr/>
        </p:nvSpPr>
        <p:spPr>
          <a:xfrm>
            <a:off x="2857500" y="3924300"/>
            <a:ext cx="466725" cy="466725"/>
          </a:xfrm>
          <a:prstGeom prst="rect">
            <a:avLst/>
          </a:prstGeom>
          <a:solidFill>
            <a:srgbClr val="FFFFFF"/>
          </a:solidFill>
          <a:ln w="7620">
            <a:solidFill>
              <a:srgbClr val="D4DDE2"/>
            </a:solidFill>
            <a:prstDash val="solid"/>
          </a:ln>
        </p:spPr>
        <p:txBody>
          <a:bodyPr/>
          <a:lstStyle/>
          <a:p>
            <a:endParaRPr lang="en-US"/>
          </a:p>
        </p:txBody>
      </p:sp>
      <p:sp>
        <p:nvSpPr>
          <p:cNvPr id="29" name="Rectangle 28">
            <a:extLst>
              <a:ext uri="{FF2B5EF4-FFF2-40B4-BE49-F238E27FC236}">
                <a16:creationId xmlns:a16="http://schemas.microsoft.com/office/drawing/2014/main" id="{0B9CC800-563F-48BB-9BA4-207480C8494B}"/>
              </a:ext>
            </a:extLst>
          </p:cNvPr>
          <p:cNvSpPr>
            <a:spLocks noGrp="1"/>
          </p:cNvSpPr>
          <p:nvPr/>
        </p:nvSpPr>
        <p:spPr>
          <a:xfrm>
            <a:off x="3352800" y="3924300"/>
            <a:ext cx="466725" cy="466725"/>
          </a:xfrm>
          <a:prstGeom prst="rect">
            <a:avLst/>
          </a:prstGeom>
          <a:solidFill>
            <a:srgbClr val="FFFFFF"/>
          </a:solidFill>
          <a:ln w="7620">
            <a:solidFill>
              <a:srgbClr val="D4DDE2"/>
            </a:solidFill>
            <a:prstDash val="solid"/>
          </a:ln>
        </p:spPr>
        <p:txBody>
          <a:bodyPr/>
          <a:lstStyle/>
          <a:p>
            <a:endParaRPr lang="en-US"/>
          </a:p>
        </p:txBody>
      </p:sp>
      <p:sp>
        <p:nvSpPr>
          <p:cNvPr id="30" name="Rectangle 29">
            <a:extLst>
              <a:ext uri="{FF2B5EF4-FFF2-40B4-BE49-F238E27FC236}">
                <a16:creationId xmlns:a16="http://schemas.microsoft.com/office/drawing/2014/main" id="{28726ED9-5E7D-4F10-8C84-12B238FBCF52}"/>
              </a:ext>
            </a:extLst>
          </p:cNvPr>
          <p:cNvSpPr>
            <a:spLocks noGrp="1"/>
          </p:cNvSpPr>
          <p:nvPr/>
        </p:nvSpPr>
        <p:spPr>
          <a:xfrm>
            <a:off x="3848100" y="3924300"/>
            <a:ext cx="466725" cy="466725"/>
          </a:xfrm>
          <a:prstGeom prst="rect">
            <a:avLst/>
          </a:prstGeom>
          <a:solidFill>
            <a:srgbClr val="FFFFFF"/>
          </a:solidFill>
          <a:ln w="7620">
            <a:solidFill>
              <a:srgbClr val="D4DDE2"/>
            </a:solidFill>
            <a:prstDash val="solid"/>
          </a:ln>
        </p:spPr>
        <p:txBody>
          <a:bodyPr/>
          <a:lstStyle/>
          <a:p>
            <a:endParaRPr lang="en-US"/>
          </a:p>
        </p:txBody>
      </p:sp>
      <p:sp>
        <p:nvSpPr>
          <p:cNvPr id="31" name="Rectangle 30">
            <a:extLst>
              <a:ext uri="{FF2B5EF4-FFF2-40B4-BE49-F238E27FC236}">
                <a16:creationId xmlns:a16="http://schemas.microsoft.com/office/drawing/2014/main" id="{6D8ADA21-7333-4F12-B331-971A0CC47358}"/>
              </a:ext>
            </a:extLst>
          </p:cNvPr>
          <p:cNvSpPr>
            <a:spLocks noGrp="1"/>
          </p:cNvSpPr>
          <p:nvPr/>
        </p:nvSpPr>
        <p:spPr>
          <a:xfrm>
            <a:off x="1371600" y="4419600"/>
            <a:ext cx="466725" cy="466725"/>
          </a:xfrm>
          <a:prstGeom prst="rect">
            <a:avLst/>
          </a:prstGeom>
          <a:solidFill>
            <a:srgbClr val="FFFFFF"/>
          </a:solidFill>
          <a:ln w="7620">
            <a:solidFill>
              <a:srgbClr val="D4DDE2"/>
            </a:solidFill>
            <a:prstDash val="solid"/>
          </a:ln>
        </p:spPr>
        <p:txBody>
          <a:bodyPr/>
          <a:lstStyle/>
          <a:p>
            <a:endParaRPr lang="en-US"/>
          </a:p>
        </p:txBody>
      </p:sp>
      <p:sp>
        <p:nvSpPr>
          <p:cNvPr id="32" name="Rectangle 31">
            <a:extLst>
              <a:ext uri="{FF2B5EF4-FFF2-40B4-BE49-F238E27FC236}">
                <a16:creationId xmlns:a16="http://schemas.microsoft.com/office/drawing/2014/main" id="{4E8219D3-E32C-4D48-B243-A2DEE8ED8E86}"/>
              </a:ext>
            </a:extLst>
          </p:cNvPr>
          <p:cNvSpPr>
            <a:spLocks noGrp="1"/>
          </p:cNvSpPr>
          <p:nvPr/>
        </p:nvSpPr>
        <p:spPr>
          <a:xfrm>
            <a:off x="1866900" y="4419600"/>
            <a:ext cx="466725" cy="466725"/>
          </a:xfrm>
          <a:prstGeom prst="rect">
            <a:avLst/>
          </a:prstGeom>
          <a:solidFill>
            <a:srgbClr val="FFFFFF"/>
          </a:solidFill>
          <a:ln w="7620">
            <a:solidFill>
              <a:srgbClr val="D4DDE2"/>
            </a:solidFill>
            <a:prstDash val="solid"/>
          </a:ln>
        </p:spPr>
        <p:txBody>
          <a:bodyPr/>
          <a:lstStyle/>
          <a:p>
            <a:endParaRPr lang="en-US"/>
          </a:p>
        </p:txBody>
      </p:sp>
      <p:sp>
        <p:nvSpPr>
          <p:cNvPr id="33" name="Rectangle 32">
            <a:extLst>
              <a:ext uri="{FF2B5EF4-FFF2-40B4-BE49-F238E27FC236}">
                <a16:creationId xmlns:a16="http://schemas.microsoft.com/office/drawing/2014/main" id="{A759260C-8CBD-40A4-8041-55BD1BB89B10}"/>
              </a:ext>
            </a:extLst>
          </p:cNvPr>
          <p:cNvSpPr>
            <a:spLocks noGrp="1"/>
          </p:cNvSpPr>
          <p:nvPr/>
        </p:nvSpPr>
        <p:spPr>
          <a:xfrm>
            <a:off x="2362200" y="4419600"/>
            <a:ext cx="466725" cy="466725"/>
          </a:xfrm>
          <a:prstGeom prst="rect">
            <a:avLst/>
          </a:prstGeom>
          <a:solidFill>
            <a:srgbClr val="FFFFFF"/>
          </a:solidFill>
          <a:ln w="7620">
            <a:solidFill>
              <a:srgbClr val="D4DDE2"/>
            </a:solidFill>
            <a:prstDash val="solid"/>
          </a:ln>
        </p:spPr>
        <p:txBody>
          <a:bodyPr/>
          <a:lstStyle/>
          <a:p>
            <a:endParaRPr lang="en-US"/>
          </a:p>
        </p:txBody>
      </p:sp>
      <p:sp>
        <p:nvSpPr>
          <p:cNvPr id="34" name="Rectangle 33">
            <a:extLst>
              <a:ext uri="{FF2B5EF4-FFF2-40B4-BE49-F238E27FC236}">
                <a16:creationId xmlns:a16="http://schemas.microsoft.com/office/drawing/2014/main" id="{BB18271A-B85D-47FC-AEC7-33231321FD6B}"/>
              </a:ext>
            </a:extLst>
          </p:cNvPr>
          <p:cNvSpPr>
            <a:spLocks noGrp="1"/>
          </p:cNvSpPr>
          <p:nvPr/>
        </p:nvSpPr>
        <p:spPr>
          <a:xfrm>
            <a:off x="2857500" y="4419600"/>
            <a:ext cx="466725" cy="466725"/>
          </a:xfrm>
          <a:prstGeom prst="rect">
            <a:avLst/>
          </a:prstGeom>
          <a:solidFill>
            <a:srgbClr val="FFFFFF"/>
          </a:solidFill>
          <a:ln w="7620">
            <a:solidFill>
              <a:srgbClr val="D4DDE2"/>
            </a:solidFill>
            <a:prstDash val="solid"/>
          </a:ln>
        </p:spPr>
        <p:txBody>
          <a:bodyPr/>
          <a:lstStyle/>
          <a:p>
            <a:endParaRPr lang="en-US"/>
          </a:p>
        </p:txBody>
      </p:sp>
      <p:sp>
        <p:nvSpPr>
          <p:cNvPr id="35" name="Rectangle 34">
            <a:extLst>
              <a:ext uri="{FF2B5EF4-FFF2-40B4-BE49-F238E27FC236}">
                <a16:creationId xmlns:a16="http://schemas.microsoft.com/office/drawing/2014/main" id="{C8F45B7B-3BF9-4FAE-A933-300CDF890ECE}"/>
              </a:ext>
            </a:extLst>
          </p:cNvPr>
          <p:cNvSpPr>
            <a:spLocks noGrp="1"/>
          </p:cNvSpPr>
          <p:nvPr/>
        </p:nvSpPr>
        <p:spPr>
          <a:xfrm>
            <a:off x="3352800" y="4419600"/>
            <a:ext cx="466725" cy="466725"/>
          </a:xfrm>
          <a:prstGeom prst="rect">
            <a:avLst/>
          </a:prstGeom>
          <a:solidFill>
            <a:srgbClr val="FFFFFF"/>
          </a:solidFill>
          <a:ln w="7620">
            <a:solidFill>
              <a:srgbClr val="D4DDE2"/>
            </a:solidFill>
            <a:prstDash val="solid"/>
          </a:ln>
        </p:spPr>
        <p:txBody>
          <a:bodyPr/>
          <a:lstStyle/>
          <a:p>
            <a:endParaRPr lang="en-US"/>
          </a:p>
        </p:txBody>
      </p:sp>
      <p:sp>
        <p:nvSpPr>
          <p:cNvPr id="36" name="Rectangle 35">
            <a:extLst>
              <a:ext uri="{FF2B5EF4-FFF2-40B4-BE49-F238E27FC236}">
                <a16:creationId xmlns:a16="http://schemas.microsoft.com/office/drawing/2014/main" id="{C015C614-B55A-4690-851D-BAD078895E53}"/>
              </a:ext>
            </a:extLst>
          </p:cNvPr>
          <p:cNvSpPr>
            <a:spLocks noGrp="1"/>
          </p:cNvSpPr>
          <p:nvPr/>
        </p:nvSpPr>
        <p:spPr>
          <a:xfrm>
            <a:off x="3848100" y="4419600"/>
            <a:ext cx="466725" cy="466725"/>
          </a:xfrm>
          <a:prstGeom prst="rect">
            <a:avLst/>
          </a:prstGeom>
          <a:solidFill>
            <a:srgbClr val="FFFFFF"/>
          </a:solidFill>
          <a:ln w="7620">
            <a:solidFill>
              <a:srgbClr val="D4DDE2"/>
            </a:solidFill>
            <a:prstDash val="solid"/>
          </a:ln>
        </p:spPr>
        <p:txBody>
          <a:bodyPr/>
          <a:lstStyle/>
          <a:p>
            <a:endParaRPr lang="en-US"/>
          </a:p>
        </p:txBody>
      </p:sp>
      <p:sp>
        <p:nvSpPr>
          <p:cNvPr id="37" name="Rectangle 36">
            <a:extLst>
              <a:ext uri="{FF2B5EF4-FFF2-40B4-BE49-F238E27FC236}">
                <a16:creationId xmlns:a16="http://schemas.microsoft.com/office/drawing/2014/main" id="{4A2DA6DA-BA9C-4519-A44B-7AAEF9E33693}"/>
              </a:ext>
            </a:extLst>
          </p:cNvPr>
          <p:cNvSpPr>
            <a:spLocks noGrp="1"/>
          </p:cNvSpPr>
          <p:nvPr/>
        </p:nvSpPr>
        <p:spPr>
          <a:xfrm>
            <a:off x="1866900" y="2933700"/>
            <a:ext cx="1457325" cy="962025"/>
          </a:xfrm>
          <a:prstGeom prst="rect">
            <a:avLst/>
          </a:prstGeom>
          <a:noFill/>
          <a:ln w="28575">
            <a:solidFill>
              <a:srgbClr val="D48728"/>
            </a:solidFill>
            <a:prstDash val="solid"/>
          </a:ln>
        </p:spPr>
        <p:txBody>
          <a:bodyPr/>
          <a:lstStyle/>
          <a:p>
            <a:endParaRPr lang="en-US"/>
          </a:p>
        </p:txBody>
      </p:sp>
      <p:sp>
        <p:nvSpPr>
          <p:cNvPr id="38" name="Rectangle 37">
            <a:extLst>
              <a:ext uri="{FF2B5EF4-FFF2-40B4-BE49-F238E27FC236}">
                <a16:creationId xmlns:a16="http://schemas.microsoft.com/office/drawing/2014/main" id="{C8D7F887-5666-40A4-A939-54458EFA1E68}"/>
              </a:ext>
            </a:extLst>
          </p:cNvPr>
          <p:cNvSpPr>
            <a:spLocks noGrp="1"/>
          </p:cNvSpPr>
          <p:nvPr/>
        </p:nvSpPr>
        <p:spPr>
          <a:xfrm>
            <a:off x="952500" y="5124450"/>
            <a:ext cx="4191000" cy="285750"/>
          </a:xfrm>
          <a:prstGeom prst="rect">
            <a:avLst/>
          </a:prstGeom>
          <a:noFill/>
          <a:ln w="0">
            <a:noFill/>
            <a:prstDash val="solid"/>
          </a:ln>
        </p:spPr>
        <p:txBody>
          <a:bodyPr anchor="t"/>
          <a:lstStyle/>
          <a:p>
            <a:pPr algn="ctr">
              <a:defRPr sz="1275" b="1" i="0">
                <a:solidFill>
                  <a:srgbClr val="D48728"/>
                </a:solidFill>
              </a:defRPr>
            </a:pPr>
            <a:r>
              <a:rPr sz="1275" b="1" i="0">
                <a:solidFill>
                  <a:srgbClr val="D48728"/>
                </a:solidFill>
              </a:rPr>
              <a:t>Read → summarise → release memory → continue</a:t>
            </a:r>
          </a:p>
        </p:txBody>
      </p:sp>
      <p:sp>
        <p:nvSpPr>
          <p:cNvPr id="39" name="Rectangle 38">
            <a:extLst>
              <a:ext uri="{FF2B5EF4-FFF2-40B4-BE49-F238E27FC236}">
                <a16:creationId xmlns:a16="http://schemas.microsoft.com/office/drawing/2014/main" id="{27A8E0B4-6918-412F-BC9D-FD260AF97C5E}"/>
              </a:ext>
            </a:extLst>
          </p:cNvPr>
          <p:cNvSpPr>
            <a:spLocks noGrp="1"/>
          </p:cNvSpPr>
          <p:nvPr/>
        </p:nvSpPr>
        <p:spPr>
          <a:xfrm>
            <a:off x="6191250" y="1714500"/>
            <a:ext cx="2381250" cy="552450"/>
          </a:xfrm>
          <a:prstGeom prst="rect">
            <a:avLst/>
          </a:prstGeom>
          <a:noFill/>
          <a:ln w="0">
            <a:noFill/>
            <a:prstDash val="solid"/>
          </a:ln>
        </p:spPr>
        <p:txBody>
          <a:bodyPr anchor="t"/>
          <a:lstStyle/>
          <a:p>
            <a:pPr algn="l">
              <a:defRPr sz="3150" b="1" i="0">
                <a:solidFill>
                  <a:srgbClr val="147D70"/>
                </a:solidFill>
              </a:defRPr>
            </a:pPr>
            <a:r>
              <a:rPr sz="3150" b="1" i="0">
                <a:solidFill>
                  <a:srgbClr val="147D70"/>
                </a:solidFill>
              </a:rPr>
              <a:t>24 / 24</a:t>
            </a:r>
          </a:p>
        </p:txBody>
      </p:sp>
      <p:sp>
        <p:nvSpPr>
          <p:cNvPr id="40" name="Rectangle 39">
            <a:extLst>
              <a:ext uri="{FF2B5EF4-FFF2-40B4-BE49-F238E27FC236}">
                <a16:creationId xmlns:a16="http://schemas.microsoft.com/office/drawing/2014/main" id="{5485BB84-DD18-431A-86D4-EA4A6885216D}"/>
              </a:ext>
            </a:extLst>
          </p:cNvPr>
          <p:cNvSpPr>
            <a:spLocks noGrp="1"/>
          </p:cNvSpPr>
          <p:nvPr/>
        </p:nvSpPr>
        <p:spPr>
          <a:xfrm>
            <a:off x="6191250" y="2266950"/>
            <a:ext cx="238125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Expected rasters loaded and aligned</a:t>
            </a:r>
          </a:p>
        </p:txBody>
      </p:sp>
      <p:sp>
        <p:nvSpPr>
          <p:cNvPr id="41" name="Rectangle 40">
            <a:extLst>
              <a:ext uri="{FF2B5EF4-FFF2-40B4-BE49-F238E27FC236}">
                <a16:creationId xmlns:a16="http://schemas.microsoft.com/office/drawing/2014/main" id="{9EF6C467-637D-4F95-B6B1-06BAD526186D}"/>
              </a:ext>
            </a:extLst>
          </p:cNvPr>
          <p:cNvSpPr>
            <a:spLocks noGrp="1"/>
          </p:cNvSpPr>
          <p:nvPr/>
        </p:nvSpPr>
        <p:spPr>
          <a:xfrm>
            <a:off x="8934450" y="1714500"/>
            <a:ext cx="2381250" cy="552450"/>
          </a:xfrm>
          <a:prstGeom prst="rect">
            <a:avLst/>
          </a:prstGeom>
          <a:noFill/>
          <a:ln w="0">
            <a:noFill/>
            <a:prstDash val="solid"/>
          </a:ln>
        </p:spPr>
        <p:txBody>
          <a:bodyPr anchor="t"/>
          <a:lstStyle/>
          <a:p>
            <a:pPr algn="l">
              <a:defRPr sz="3150" b="1" i="0">
                <a:solidFill>
                  <a:srgbClr val="D48728"/>
                </a:solidFill>
              </a:defRPr>
            </a:pPr>
            <a:r>
              <a:rPr sz="3150" b="1" i="0">
                <a:solidFill>
                  <a:srgbClr val="D48728"/>
                </a:solidFill>
              </a:rPr>
              <a:t>89,707</a:t>
            </a:r>
          </a:p>
        </p:txBody>
      </p:sp>
      <p:sp>
        <p:nvSpPr>
          <p:cNvPr id="42" name="Rectangle 41">
            <a:extLst>
              <a:ext uri="{FF2B5EF4-FFF2-40B4-BE49-F238E27FC236}">
                <a16:creationId xmlns:a16="http://schemas.microsoft.com/office/drawing/2014/main" id="{FA96C1C2-BB91-4963-BF7B-6930D732ED07}"/>
              </a:ext>
            </a:extLst>
          </p:cNvPr>
          <p:cNvSpPr>
            <a:spLocks noGrp="1"/>
          </p:cNvSpPr>
          <p:nvPr/>
        </p:nvSpPr>
        <p:spPr>
          <a:xfrm>
            <a:off x="8934450" y="2266950"/>
            <a:ext cx="238125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Stratified sampled points</a:t>
            </a:r>
          </a:p>
        </p:txBody>
      </p:sp>
      <p:sp>
        <p:nvSpPr>
          <p:cNvPr id="43" name="Oval 42">
            <a:extLst>
              <a:ext uri="{FF2B5EF4-FFF2-40B4-BE49-F238E27FC236}">
                <a16:creationId xmlns:a16="http://schemas.microsoft.com/office/drawing/2014/main" id="{182BB41F-FAF6-49BE-B3CD-6EB33489111A}"/>
              </a:ext>
            </a:extLst>
          </p:cNvPr>
          <p:cNvSpPr>
            <a:spLocks noGrp="1"/>
          </p:cNvSpPr>
          <p:nvPr/>
        </p:nvSpPr>
        <p:spPr>
          <a:xfrm>
            <a:off x="6191250" y="3228975"/>
            <a:ext cx="76200" cy="76200"/>
          </a:xfrm>
          <a:prstGeom prst="ellipse">
            <a:avLst/>
          </a:prstGeom>
          <a:solidFill>
            <a:srgbClr val="147D70"/>
          </a:solidFill>
          <a:ln w="0">
            <a:noFill/>
            <a:prstDash val="solid"/>
          </a:ln>
        </p:spPr>
        <p:txBody>
          <a:bodyPr/>
          <a:lstStyle/>
          <a:p>
            <a:endParaRPr lang="en-US"/>
          </a:p>
        </p:txBody>
      </p:sp>
      <p:sp>
        <p:nvSpPr>
          <p:cNvPr id="44" name="Rectangle 43">
            <a:extLst>
              <a:ext uri="{FF2B5EF4-FFF2-40B4-BE49-F238E27FC236}">
                <a16:creationId xmlns:a16="http://schemas.microsoft.com/office/drawing/2014/main" id="{70BF1451-64F0-4FC6-98C0-14AB7B11F9BD}"/>
              </a:ext>
            </a:extLst>
          </p:cNvPr>
          <p:cNvSpPr>
            <a:spLocks noGrp="1"/>
          </p:cNvSpPr>
          <p:nvPr/>
        </p:nvSpPr>
        <p:spPr>
          <a:xfrm>
            <a:off x="6400800" y="3143250"/>
            <a:ext cx="4933950" cy="542925"/>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CRS, transform, dimensions and shape checked against a reference raster</a:t>
            </a:r>
          </a:p>
        </p:txBody>
      </p:sp>
      <p:sp>
        <p:nvSpPr>
          <p:cNvPr id="45" name="Oval 44">
            <a:extLst>
              <a:ext uri="{FF2B5EF4-FFF2-40B4-BE49-F238E27FC236}">
                <a16:creationId xmlns:a16="http://schemas.microsoft.com/office/drawing/2014/main" id="{08CE1B01-316F-43AF-B50E-80A143D0AD75}"/>
              </a:ext>
            </a:extLst>
          </p:cNvPr>
          <p:cNvSpPr>
            <a:spLocks noGrp="1"/>
          </p:cNvSpPr>
          <p:nvPr/>
        </p:nvSpPr>
        <p:spPr>
          <a:xfrm>
            <a:off x="6191250" y="3810000"/>
            <a:ext cx="76200" cy="76200"/>
          </a:xfrm>
          <a:prstGeom prst="ellipse">
            <a:avLst/>
          </a:prstGeom>
          <a:solidFill>
            <a:srgbClr val="147D70"/>
          </a:solidFill>
          <a:ln w="0">
            <a:noFill/>
            <a:prstDash val="solid"/>
          </a:ln>
        </p:spPr>
        <p:txBody>
          <a:bodyPr/>
          <a:lstStyle/>
          <a:p>
            <a:endParaRPr lang="en-US"/>
          </a:p>
        </p:txBody>
      </p:sp>
      <p:sp>
        <p:nvSpPr>
          <p:cNvPr id="46" name="Rectangle 45">
            <a:extLst>
              <a:ext uri="{FF2B5EF4-FFF2-40B4-BE49-F238E27FC236}">
                <a16:creationId xmlns:a16="http://schemas.microsoft.com/office/drawing/2014/main" id="{6AEB97BF-91D0-4321-8AD4-FB0B7250EF34}"/>
              </a:ext>
            </a:extLst>
          </p:cNvPr>
          <p:cNvSpPr>
            <a:spLocks noGrp="1"/>
          </p:cNvSpPr>
          <p:nvPr/>
        </p:nvSpPr>
        <p:spPr>
          <a:xfrm>
            <a:off x="6400800" y="3724275"/>
            <a:ext cx="4933950" cy="542925"/>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Statistics calculated block by block instead of loading full rasters</a:t>
            </a:r>
          </a:p>
        </p:txBody>
      </p:sp>
      <p:sp>
        <p:nvSpPr>
          <p:cNvPr id="47" name="Oval 46">
            <a:extLst>
              <a:ext uri="{FF2B5EF4-FFF2-40B4-BE49-F238E27FC236}">
                <a16:creationId xmlns:a16="http://schemas.microsoft.com/office/drawing/2014/main" id="{5061DB65-4085-4041-99A8-852AB4E75542}"/>
              </a:ext>
            </a:extLst>
          </p:cNvPr>
          <p:cNvSpPr>
            <a:spLocks noGrp="1"/>
          </p:cNvSpPr>
          <p:nvPr/>
        </p:nvSpPr>
        <p:spPr>
          <a:xfrm>
            <a:off x="6191250" y="4391025"/>
            <a:ext cx="76200" cy="76200"/>
          </a:xfrm>
          <a:prstGeom prst="ellipse">
            <a:avLst/>
          </a:prstGeom>
          <a:solidFill>
            <a:srgbClr val="147D70"/>
          </a:solidFill>
          <a:ln w="0">
            <a:noFill/>
            <a:prstDash val="solid"/>
          </a:ln>
        </p:spPr>
        <p:txBody>
          <a:bodyPr/>
          <a:lstStyle/>
          <a:p>
            <a:endParaRPr lang="en-US"/>
          </a:p>
        </p:txBody>
      </p:sp>
      <p:sp>
        <p:nvSpPr>
          <p:cNvPr id="48" name="Rectangle 47">
            <a:extLst>
              <a:ext uri="{FF2B5EF4-FFF2-40B4-BE49-F238E27FC236}">
                <a16:creationId xmlns:a16="http://schemas.microsoft.com/office/drawing/2014/main" id="{33602CFA-C758-40AC-B41C-CE4CB883CF33}"/>
              </a:ext>
            </a:extLst>
          </p:cNvPr>
          <p:cNvSpPr>
            <a:spLocks noGrp="1"/>
          </p:cNvSpPr>
          <p:nvPr/>
        </p:nvSpPr>
        <p:spPr>
          <a:xfrm>
            <a:off x="6400800" y="4305300"/>
            <a:ext cx="4933950" cy="542925"/>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Up to 10,000 points sampled within each behavioural category</a:t>
            </a:r>
          </a:p>
        </p:txBody>
      </p:sp>
      <p:sp>
        <p:nvSpPr>
          <p:cNvPr id="49" name="Oval 48">
            <a:extLst>
              <a:ext uri="{FF2B5EF4-FFF2-40B4-BE49-F238E27FC236}">
                <a16:creationId xmlns:a16="http://schemas.microsoft.com/office/drawing/2014/main" id="{50BFAA35-70A2-4C34-B76B-BB6409EED61A}"/>
              </a:ext>
            </a:extLst>
          </p:cNvPr>
          <p:cNvSpPr>
            <a:spLocks noGrp="1"/>
          </p:cNvSpPr>
          <p:nvPr/>
        </p:nvSpPr>
        <p:spPr>
          <a:xfrm>
            <a:off x="6191250" y="4972050"/>
            <a:ext cx="76200" cy="76200"/>
          </a:xfrm>
          <a:prstGeom prst="ellipse">
            <a:avLst/>
          </a:prstGeom>
          <a:solidFill>
            <a:srgbClr val="147D70"/>
          </a:solidFill>
          <a:ln w="0">
            <a:noFill/>
            <a:prstDash val="solid"/>
          </a:ln>
        </p:spPr>
        <p:txBody>
          <a:bodyPr/>
          <a:lstStyle/>
          <a:p>
            <a:endParaRPr lang="en-US"/>
          </a:p>
        </p:txBody>
      </p:sp>
      <p:sp>
        <p:nvSpPr>
          <p:cNvPr id="50" name="Rectangle 49">
            <a:extLst>
              <a:ext uri="{FF2B5EF4-FFF2-40B4-BE49-F238E27FC236}">
                <a16:creationId xmlns:a16="http://schemas.microsoft.com/office/drawing/2014/main" id="{3FEF6DBB-D413-4FC8-A478-64E7E2BC3EBC}"/>
              </a:ext>
            </a:extLst>
          </p:cNvPr>
          <p:cNvSpPr>
            <a:spLocks noGrp="1"/>
          </p:cNvSpPr>
          <p:nvPr/>
        </p:nvSpPr>
        <p:spPr>
          <a:xfrm>
            <a:off x="6400800" y="4886325"/>
            <a:ext cx="4933950" cy="542925"/>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Fixed random seed made category comparisons reproducible</a:t>
            </a:r>
          </a:p>
        </p:txBody>
      </p:sp>
      <p:sp>
        <p:nvSpPr>
          <p:cNvPr id="51" name="Straight Connector 50">
            <a:extLst>
              <a:ext uri="{FF2B5EF4-FFF2-40B4-BE49-F238E27FC236}">
                <a16:creationId xmlns:a16="http://schemas.microsoft.com/office/drawing/2014/main" id="{FDEF1375-21B5-44E2-9A95-A71F28164293}"/>
              </a:ext>
            </a:extLst>
          </p:cNvPr>
          <p:cNvSpPr>
            <a:spLocks noGrp="1"/>
          </p:cNvSpPr>
          <p:nvPr/>
        </p:nvSpPr>
        <p:spPr>
          <a:xfrm>
            <a:off x="609600" y="6229350"/>
            <a:ext cx="10972800" cy="0"/>
          </a:xfrm>
          <a:prstGeom prst="line">
            <a:avLst/>
          </a:prstGeom>
          <a:noFill/>
          <a:ln w="9525">
            <a:solidFill>
              <a:srgbClr val="D4DDE2"/>
            </a:solidFill>
            <a:prstDash val="solid"/>
          </a:ln>
        </p:spPr>
        <p:txBody>
          <a:bodyPr/>
          <a:lstStyle/>
          <a:p>
            <a:endParaRPr lang="en-US"/>
          </a:p>
        </p:txBody>
      </p:sp>
      <p:sp>
        <p:nvSpPr>
          <p:cNvPr id="52" name="Rectangle 51">
            <a:extLst>
              <a:ext uri="{FF2B5EF4-FFF2-40B4-BE49-F238E27FC236}">
                <a16:creationId xmlns:a16="http://schemas.microsoft.com/office/drawing/2014/main" id="{381466F5-7470-4911-B37D-A48B41D053BF}"/>
              </a:ext>
            </a:extLst>
          </p:cNvPr>
          <p:cNvSpPr>
            <a:spLocks noGrp="1"/>
          </p:cNvSpPr>
          <p:nvPr/>
        </p:nvSpPr>
        <p:spPr>
          <a:xfrm>
            <a:off x="609600" y="6324600"/>
            <a:ext cx="1428750" cy="228600"/>
          </a:xfrm>
          <a:prstGeom prst="rect">
            <a:avLst/>
          </a:prstGeom>
          <a:noFill/>
          <a:ln w="0">
            <a:noFill/>
            <a:prstDash val="solid"/>
          </a:ln>
        </p:spPr>
        <p:txBody>
          <a:bodyPr anchor="t"/>
          <a:lstStyle/>
          <a:p>
            <a:pPr algn="l">
              <a:defRPr sz="975" b="1" i="0">
                <a:solidFill>
                  <a:srgbClr val="08065C"/>
                </a:solidFill>
              </a:defRPr>
            </a:pPr>
            <a:r>
              <a:rPr sz="975" b="1" i="0">
                <a:solidFill>
                  <a:srgbClr val="08065C"/>
                </a:solidFill>
              </a:rPr>
              <a:t>Raster window:</a:t>
            </a:r>
          </a:p>
        </p:txBody>
      </p:sp>
      <p:sp>
        <p:nvSpPr>
          <p:cNvPr id="53" name="Rectangle 52">
            <a:extLst>
              <a:ext uri="{FF2B5EF4-FFF2-40B4-BE49-F238E27FC236}">
                <a16:creationId xmlns:a16="http://schemas.microsoft.com/office/drawing/2014/main" id="{9351EE36-6EB1-4312-B106-B957FB9AFC4D}"/>
              </a:ext>
            </a:extLst>
          </p:cNvPr>
          <p:cNvSpPr>
            <a:spLocks noGrp="1"/>
          </p:cNvSpPr>
          <p:nvPr/>
        </p:nvSpPr>
        <p:spPr>
          <a:xfrm>
            <a:off x="1752600" y="6324600"/>
            <a:ext cx="9144000" cy="247650"/>
          </a:xfrm>
          <a:prstGeom prst="rect">
            <a:avLst/>
          </a:prstGeom>
          <a:noFill/>
          <a:ln w="0">
            <a:noFill/>
            <a:prstDash val="solid"/>
          </a:ln>
        </p:spPr>
        <p:txBody>
          <a:bodyPr anchor="t"/>
          <a:lstStyle/>
          <a:p>
            <a:pPr algn="l">
              <a:defRPr sz="975" b="0" i="0">
                <a:solidFill>
                  <a:srgbClr val="5E6B75"/>
                </a:solidFill>
              </a:defRPr>
            </a:pPr>
            <a:r>
              <a:rPr sz="975" b="0" i="0">
                <a:solidFill>
                  <a:srgbClr val="5E6B75"/>
                </a:solidFill>
              </a:rPr>
              <a:t>A smaller rectangular block read from a raster so that the entire map can be processed without exhausting memory.</a:t>
            </a:r>
          </a:p>
        </p:txBody>
      </p:sp>
    </p:spTree>
    <p:extLst>
      <p:ext uri="{BB962C8B-B14F-4D97-AF65-F5344CB8AC3E}">
        <p14:creationId xmlns:p14="http://schemas.microsoft.com/office/powerpoint/2010/main" val="2010650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FA5981B-44C4-4A3A-B1F3-0F3C1EB7E757}"/>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METHOD 2</a:t>
            </a:r>
          </a:p>
        </p:txBody>
      </p:sp>
      <p:sp>
        <p:nvSpPr>
          <p:cNvPr id="2" name="slide-14-title">
            <a:extLst>
              <a:ext uri="{FF2B5EF4-FFF2-40B4-BE49-F238E27FC236}">
                <a16:creationId xmlns:a16="http://schemas.microsoft.com/office/drawing/2014/main" id="{7F92394F-EF72-4ED3-93AF-1B5885E5C3E1}"/>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Behavioural categories describe patterns, not causes</a:t>
            </a:r>
          </a:p>
        </p:txBody>
      </p:sp>
      <p:sp>
        <p:nvSpPr>
          <p:cNvPr id="3" name="Straight Connector 2">
            <a:extLst>
              <a:ext uri="{FF2B5EF4-FFF2-40B4-BE49-F238E27FC236}">
                <a16:creationId xmlns:a16="http://schemas.microsoft.com/office/drawing/2014/main" id="{4976D11E-4C91-4FE4-B3F6-B14864B6A36D}"/>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038A9BD8-1440-4A8A-B27A-72205E11B090}"/>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14</a:t>
            </a:r>
          </a:p>
        </p:txBody>
      </p:sp>
      <p:sp>
        <p:nvSpPr>
          <p:cNvPr id="5" name="Rectangle 4">
            <a:extLst>
              <a:ext uri="{FF2B5EF4-FFF2-40B4-BE49-F238E27FC236}">
                <a16:creationId xmlns:a16="http://schemas.microsoft.com/office/drawing/2014/main" id="{EC3942AB-B910-4ACA-825E-A112E46214AC}"/>
              </a:ext>
            </a:extLst>
          </p:cNvPr>
          <p:cNvSpPr>
            <a:spLocks noGrp="1"/>
          </p:cNvSpPr>
          <p:nvPr/>
        </p:nvSpPr>
        <p:spPr>
          <a:xfrm>
            <a:off x="609600" y="1581150"/>
            <a:ext cx="2381250" cy="304800"/>
          </a:xfrm>
          <a:prstGeom prst="rect">
            <a:avLst/>
          </a:prstGeom>
          <a:noFill/>
          <a:ln w="0">
            <a:noFill/>
            <a:prstDash val="solid"/>
          </a:ln>
        </p:spPr>
        <p:txBody>
          <a:bodyPr anchor="t"/>
          <a:lstStyle/>
          <a:p>
            <a:pPr algn="ctr">
              <a:defRPr sz="1500" b="1" i="0">
                <a:solidFill>
                  <a:srgbClr val="234E8A"/>
                </a:solidFill>
              </a:defRPr>
            </a:pPr>
            <a:r>
              <a:rPr sz="1500" b="1" i="0">
                <a:solidFill>
                  <a:srgbClr val="234E8A"/>
                </a:solidFill>
              </a:rPr>
              <a:t>Mostly stable</a:t>
            </a:r>
          </a:p>
        </p:txBody>
      </p:sp>
      <p:graphicFrame>
        <p:nvGraphicFramePr>
          <p:cNvPr id="24" name="Chart"/>
          <p:cNvGraphicFramePr/>
          <p:nvPr/>
        </p:nvGraphicFramePr>
        <p:xfrm>
          <a:off x="609600" y="2000250"/>
          <a:ext cx="2381250" cy="20002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D7BD9C4C-B14F-4C84-8E3C-7082CCDE8E5C}"/>
              </a:ext>
            </a:extLst>
          </p:cNvPr>
          <p:cNvSpPr>
            <a:spLocks noGrp="1"/>
          </p:cNvSpPr>
          <p:nvPr/>
        </p:nvSpPr>
        <p:spPr>
          <a:xfrm>
            <a:off x="685800" y="4191000"/>
            <a:ext cx="2228850" cy="533400"/>
          </a:xfrm>
          <a:prstGeom prst="rect">
            <a:avLst/>
          </a:prstGeom>
          <a:noFill/>
          <a:ln w="0">
            <a:noFill/>
            <a:prstDash val="solid"/>
          </a:ln>
        </p:spPr>
        <p:txBody>
          <a:bodyPr anchor="t"/>
          <a:lstStyle/>
          <a:p>
            <a:pPr algn="ctr">
              <a:defRPr sz="1200" b="0" i="0">
                <a:solidFill>
                  <a:srgbClr val="5E6B75"/>
                </a:solidFill>
              </a:defRPr>
            </a:pPr>
            <a:r>
              <a:rPr sz="1200" b="0" i="0">
                <a:solidFill>
                  <a:srgbClr val="5E6B75"/>
                </a:solidFill>
              </a:rPr>
              <a:t>Low endpoint, no persistent hotspot</a:t>
            </a:r>
          </a:p>
        </p:txBody>
      </p:sp>
      <p:sp>
        <p:nvSpPr>
          <p:cNvPr id="8" name="Rectangle 7">
            <a:extLst>
              <a:ext uri="{FF2B5EF4-FFF2-40B4-BE49-F238E27FC236}">
                <a16:creationId xmlns:a16="http://schemas.microsoft.com/office/drawing/2014/main" id="{1A6E9007-B919-460E-9D1D-C2DBBBE08A36}"/>
              </a:ext>
            </a:extLst>
          </p:cNvPr>
          <p:cNvSpPr>
            <a:spLocks noGrp="1"/>
          </p:cNvSpPr>
          <p:nvPr/>
        </p:nvSpPr>
        <p:spPr>
          <a:xfrm>
            <a:off x="3352800" y="1581150"/>
            <a:ext cx="2381250" cy="304800"/>
          </a:xfrm>
          <a:prstGeom prst="rect">
            <a:avLst/>
          </a:prstGeom>
          <a:noFill/>
          <a:ln w="0">
            <a:noFill/>
            <a:prstDash val="solid"/>
          </a:ln>
        </p:spPr>
        <p:txBody>
          <a:bodyPr anchor="t"/>
          <a:lstStyle/>
          <a:p>
            <a:pPr algn="ctr">
              <a:defRPr sz="1500" b="1" i="0">
                <a:solidFill>
                  <a:srgbClr val="D48728"/>
                </a:solidFill>
              </a:defRPr>
            </a:pPr>
            <a:r>
              <a:rPr sz="1500" b="1" i="0">
                <a:solidFill>
                  <a:srgbClr val="D48728"/>
                </a:solidFill>
              </a:rPr>
              <a:t>Sudden candidate</a:t>
            </a:r>
          </a:p>
        </p:txBody>
      </p:sp>
      <p:graphicFrame>
        <p:nvGraphicFramePr>
          <p:cNvPr id="27" name="Chart"/>
          <p:cNvGraphicFramePr/>
          <p:nvPr/>
        </p:nvGraphicFramePr>
        <p:xfrm>
          <a:off x="3352800" y="2000250"/>
          <a:ext cx="2381250" cy="2000250"/>
        </p:xfrm>
        <a:graphic>
          <a:graphicData uri="http://schemas.openxmlformats.org/drawingml/2006/chart">
            <c:chart xmlns:c="http://schemas.openxmlformats.org/drawingml/2006/chart" xmlns:r="http://schemas.openxmlformats.org/officeDocument/2006/relationships" r:id="rId4"/>
          </a:graphicData>
        </a:graphic>
      </p:graphicFrame>
      <p:sp>
        <p:nvSpPr>
          <p:cNvPr id="10" name="Rectangle 9">
            <a:extLst>
              <a:ext uri="{FF2B5EF4-FFF2-40B4-BE49-F238E27FC236}">
                <a16:creationId xmlns:a16="http://schemas.microsoft.com/office/drawing/2014/main" id="{BA1ED2F0-B269-426A-916E-D1A73F0B3003}"/>
              </a:ext>
            </a:extLst>
          </p:cNvPr>
          <p:cNvSpPr>
            <a:spLocks noGrp="1"/>
          </p:cNvSpPr>
          <p:nvPr/>
        </p:nvSpPr>
        <p:spPr>
          <a:xfrm>
            <a:off x="3429000" y="4191000"/>
            <a:ext cx="2228850" cy="533400"/>
          </a:xfrm>
          <a:prstGeom prst="rect">
            <a:avLst/>
          </a:prstGeom>
          <a:noFill/>
          <a:ln w="0">
            <a:noFill/>
            <a:prstDash val="solid"/>
          </a:ln>
        </p:spPr>
        <p:txBody>
          <a:bodyPr anchor="t"/>
          <a:lstStyle/>
          <a:p>
            <a:pPr algn="ctr">
              <a:defRPr sz="1200" b="0" i="0">
                <a:solidFill>
                  <a:srgbClr val="5E6B75"/>
                </a:solidFill>
              </a:defRPr>
            </a:pPr>
            <a:r>
              <a:rPr sz="1200" b="0" i="0">
                <a:solidFill>
                  <a:srgbClr val="5E6B75"/>
                </a:solidFill>
              </a:rPr>
              <a:t>One large event, low persistence</a:t>
            </a:r>
          </a:p>
        </p:txBody>
      </p:sp>
      <p:sp>
        <p:nvSpPr>
          <p:cNvPr id="11" name="Rectangle 10">
            <a:extLst>
              <a:ext uri="{FF2B5EF4-FFF2-40B4-BE49-F238E27FC236}">
                <a16:creationId xmlns:a16="http://schemas.microsoft.com/office/drawing/2014/main" id="{421C1404-48EA-45B5-9E45-090BB3301AD4}"/>
              </a:ext>
            </a:extLst>
          </p:cNvPr>
          <p:cNvSpPr>
            <a:spLocks noGrp="1"/>
          </p:cNvSpPr>
          <p:nvPr/>
        </p:nvSpPr>
        <p:spPr>
          <a:xfrm>
            <a:off x="6096000" y="1581150"/>
            <a:ext cx="2381250" cy="304800"/>
          </a:xfrm>
          <a:prstGeom prst="rect">
            <a:avLst/>
          </a:prstGeom>
          <a:noFill/>
          <a:ln w="0">
            <a:noFill/>
            <a:prstDash val="solid"/>
          </a:ln>
        </p:spPr>
        <p:txBody>
          <a:bodyPr anchor="t"/>
          <a:lstStyle/>
          <a:p>
            <a:pPr algn="ctr">
              <a:defRPr sz="1500" b="1" i="0">
                <a:solidFill>
                  <a:srgbClr val="AD354A"/>
                </a:solidFill>
              </a:defRPr>
            </a:pPr>
            <a:r>
              <a:rPr sz="1500" b="1" i="0">
                <a:solidFill>
                  <a:srgbClr val="AD354A"/>
                </a:solidFill>
              </a:rPr>
              <a:t>Repeated change</a:t>
            </a:r>
          </a:p>
        </p:txBody>
      </p:sp>
      <p:graphicFrame>
        <p:nvGraphicFramePr>
          <p:cNvPr id="30" name="Chart"/>
          <p:cNvGraphicFramePr/>
          <p:nvPr/>
        </p:nvGraphicFramePr>
        <p:xfrm>
          <a:off x="6096000" y="2000250"/>
          <a:ext cx="2381250" cy="2000250"/>
        </p:xfrm>
        <a:graphic>
          <a:graphicData uri="http://schemas.openxmlformats.org/drawingml/2006/chart">
            <c:chart xmlns:c="http://schemas.openxmlformats.org/drawingml/2006/chart" xmlns:r="http://schemas.openxmlformats.org/officeDocument/2006/relationships" r:id="rId5"/>
          </a:graphicData>
        </a:graphic>
      </p:graphicFrame>
      <p:sp>
        <p:nvSpPr>
          <p:cNvPr id="13" name="Rectangle 12">
            <a:extLst>
              <a:ext uri="{FF2B5EF4-FFF2-40B4-BE49-F238E27FC236}">
                <a16:creationId xmlns:a16="http://schemas.microsoft.com/office/drawing/2014/main" id="{E554374F-BD21-448E-B51B-B32211E60F3A}"/>
              </a:ext>
            </a:extLst>
          </p:cNvPr>
          <p:cNvSpPr>
            <a:spLocks noGrp="1"/>
          </p:cNvSpPr>
          <p:nvPr/>
        </p:nvSpPr>
        <p:spPr>
          <a:xfrm>
            <a:off x="6172200" y="4191000"/>
            <a:ext cx="2228850" cy="533400"/>
          </a:xfrm>
          <a:prstGeom prst="rect">
            <a:avLst/>
          </a:prstGeom>
          <a:noFill/>
          <a:ln w="0">
            <a:noFill/>
            <a:prstDash val="solid"/>
          </a:ln>
        </p:spPr>
        <p:txBody>
          <a:bodyPr anchor="t"/>
          <a:lstStyle/>
          <a:p>
            <a:pPr algn="ctr">
              <a:defRPr sz="1200" b="0" i="0">
                <a:solidFill>
                  <a:srgbClr val="5E6B75"/>
                </a:solidFill>
              </a:defRPr>
            </a:pPr>
            <a:r>
              <a:rPr sz="1200" b="0" i="0">
                <a:solidFill>
                  <a:srgbClr val="5E6B75"/>
                </a:solidFill>
              </a:rPr>
              <a:t>Several strong periods</a:t>
            </a:r>
          </a:p>
        </p:txBody>
      </p:sp>
      <p:sp>
        <p:nvSpPr>
          <p:cNvPr id="14" name="Rectangle 13">
            <a:extLst>
              <a:ext uri="{FF2B5EF4-FFF2-40B4-BE49-F238E27FC236}">
                <a16:creationId xmlns:a16="http://schemas.microsoft.com/office/drawing/2014/main" id="{2CA98F97-4445-4BA7-831F-7C66C7756B0D}"/>
              </a:ext>
            </a:extLst>
          </p:cNvPr>
          <p:cNvSpPr>
            <a:spLocks noGrp="1"/>
          </p:cNvSpPr>
          <p:nvPr/>
        </p:nvSpPr>
        <p:spPr>
          <a:xfrm>
            <a:off x="8839200" y="1581150"/>
            <a:ext cx="2381250" cy="304800"/>
          </a:xfrm>
          <a:prstGeom prst="rect">
            <a:avLst/>
          </a:prstGeom>
          <a:noFill/>
          <a:ln w="0">
            <a:noFill/>
            <a:prstDash val="solid"/>
          </a:ln>
        </p:spPr>
        <p:txBody>
          <a:bodyPr anchor="t"/>
          <a:lstStyle/>
          <a:p>
            <a:pPr algn="ctr">
              <a:defRPr sz="1500" b="1" i="0">
                <a:solidFill>
                  <a:srgbClr val="147D70"/>
                </a:solidFill>
              </a:defRPr>
            </a:pPr>
            <a:r>
              <a:rPr sz="1500" b="1" i="0">
                <a:solidFill>
                  <a:srgbClr val="147D70"/>
                </a:solidFill>
              </a:rPr>
              <a:t>Variable / recovery</a:t>
            </a:r>
          </a:p>
        </p:txBody>
      </p:sp>
      <p:graphicFrame>
        <p:nvGraphicFramePr>
          <p:cNvPr id="33" name="Chart"/>
          <p:cNvGraphicFramePr/>
          <p:nvPr/>
        </p:nvGraphicFramePr>
        <p:xfrm>
          <a:off x="8839200" y="2000250"/>
          <a:ext cx="2381250" cy="2000250"/>
        </p:xfrm>
        <a:graphic>
          <a:graphicData uri="http://schemas.openxmlformats.org/drawingml/2006/chart">
            <c:chart xmlns:c="http://schemas.openxmlformats.org/drawingml/2006/chart" xmlns:r="http://schemas.openxmlformats.org/officeDocument/2006/relationships" r:id="rId6"/>
          </a:graphicData>
        </a:graphic>
      </p:graphicFrame>
      <p:sp>
        <p:nvSpPr>
          <p:cNvPr id="16" name="Rectangle 15">
            <a:extLst>
              <a:ext uri="{FF2B5EF4-FFF2-40B4-BE49-F238E27FC236}">
                <a16:creationId xmlns:a16="http://schemas.microsoft.com/office/drawing/2014/main" id="{80689695-41C5-4CE6-AE35-FEFAB5C1FB1E}"/>
              </a:ext>
            </a:extLst>
          </p:cNvPr>
          <p:cNvSpPr>
            <a:spLocks noGrp="1"/>
          </p:cNvSpPr>
          <p:nvPr/>
        </p:nvSpPr>
        <p:spPr>
          <a:xfrm>
            <a:off x="8915400" y="4191000"/>
            <a:ext cx="2228850" cy="533400"/>
          </a:xfrm>
          <a:prstGeom prst="rect">
            <a:avLst/>
          </a:prstGeom>
          <a:noFill/>
          <a:ln w="0">
            <a:noFill/>
            <a:prstDash val="solid"/>
          </a:ln>
        </p:spPr>
        <p:txBody>
          <a:bodyPr anchor="t"/>
          <a:lstStyle/>
          <a:p>
            <a:pPr algn="ctr">
              <a:defRPr sz="1200" b="0" i="0">
                <a:solidFill>
                  <a:srgbClr val="5E6B75"/>
                </a:solidFill>
              </a:defRPr>
            </a:pPr>
            <a:r>
              <a:rPr sz="1200" b="0" i="0">
                <a:solidFill>
                  <a:srgbClr val="5E6B75"/>
                </a:solidFill>
              </a:rPr>
              <a:t>Large swings; lower endpoint</a:t>
            </a:r>
          </a:p>
        </p:txBody>
      </p:sp>
      <p:sp>
        <p:nvSpPr>
          <p:cNvPr id="17" name="Rectangle 16">
            <a:extLst>
              <a:ext uri="{FF2B5EF4-FFF2-40B4-BE49-F238E27FC236}">
                <a16:creationId xmlns:a16="http://schemas.microsoft.com/office/drawing/2014/main" id="{B16C552C-B1D3-4824-BB43-64B1C809350E}"/>
              </a:ext>
            </a:extLst>
          </p:cNvPr>
          <p:cNvSpPr>
            <a:spLocks noGrp="1"/>
          </p:cNvSpPr>
          <p:nvPr/>
        </p:nvSpPr>
        <p:spPr>
          <a:xfrm>
            <a:off x="1524000" y="5238750"/>
            <a:ext cx="9144000" cy="609600"/>
          </a:xfrm>
          <a:prstGeom prst="rect">
            <a:avLst/>
          </a:prstGeom>
          <a:noFill/>
          <a:ln w="0">
            <a:noFill/>
            <a:prstDash val="solid"/>
          </a:ln>
        </p:spPr>
        <p:txBody>
          <a:bodyPr anchor="t"/>
          <a:lstStyle/>
          <a:p>
            <a:pPr algn="ctr">
              <a:defRPr sz="1725" b="1" i="0">
                <a:solidFill>
                  <a:srgbClr val="08065C"/>
                </a:solidFill>
              </a:defRPr>
            </a:pPr>
            <a:r>
              <a:rPr sz="1725" b="1" i="0">
                <a:solidFill>
                  <a:srgbClr val="08065C"/>
                </a:solidFill>
              </a:rPr>
              <a:t>These are temporal archetypes used to organise evidence. They do not automatically mean urbanisation, degradation, agriculture or restoration.</a:t>
            </a:r>
          </a:p>
        </p:txBody>
      </p:sp>
      <p:sp>
        <p:nvSpPr>
          <p:cNvPr id="18" name="Rectangle 17">
            <a:extLst>
              <a:ext uri="{FF2B5EF4-FFF2-40B4-BE49-F238E27FC236}">
                <a16:creationId xmlns:a16="http://schemas.microsoft.com/office/drawing/2014/main" id="{6353FD1B-3C55-4889-8705-DD267C2CFAF9}"/>
              </a:ext>
            </a:extLst>
          </p:cNvPr>
          <p:cNvSpPr>
            <a:spLocks noGrp="1"/>
          </p:cNvSpPr>
          <p:nvPr/>
        </p:nvSpPr>
        <p:spPr>
          <a:xfrm>
            <a:off x="609600" y="5943600"/>
            <a:ext cx="2190750" cy="228600"/>
          </a:xfrm>
          <a:prstGeom prst="rect">
            <a:avLst/>
          </a:prstGeom>
          <a:noFill/>
          <a:ln w="0">
            <a:noFill/>
            <a:prstDash val="solid"/>
          </a:ln>
        </p:spPr>
        <p:txBody>
          <a:bodyPr anchor="t"/>
          <a:lstStyle/>
          <a:p>
            <a:pPr algn="l">
              <a:defRPr sz="900" b="0" i="1">
                <a:solidFill>
                  <a:srgbClr val="5E6B75"/>
                </a:solidFill>
              </a:defRPr>
            </a:pPr>
            <a:r>
              <a:rPr sz="900" b="0" i="1">
                <a:solidFill>
                  <a:srgbClr val="5E6B75"/>
                </a:solidFill>
              </a:rPr>
              <a:t>Illustrative sequences</a:t>
            </a:r>
          </a:p>
        </p:txBody>
      </p:sp>
    </p:spTree>
    <p:extLst>
      <p:ext uri="{BB962C8B-B14F-4D97-AF65-F5344CB8AC3E}">
        <p14:creationId xmlns:p14="http://schemas.microsoft.com/office/powerpoint/2010/main" val="1885165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DD3CD683-689E-49CB-88F6-986B9584EF64}"/>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METHOD 3</a:t>
            </a:r>
          </a:p>
        </p:txBody>
      </p:sp>
      <p:sp>
        <p:nvSpPr>
          <p:cNvPr id="2" name="slide-15-title">
            <a:extLst>
              <a:ext uri="{FF2B5EF4-FFF2-40B4-BE49-F238E27FC236}">
                <a16:creationId xmlns:a16="http://schemas.microsoft.com/office/drawing/2014/main" id="{2C463794-5AA9-4E6C-B7F7-B8EA0706100A}"/>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Coordinates connect signals to annual evidence histories</a:t>
            </a:r>
          </a:p>
        </p:txBody>
      </p:sp>
      <p:sp>
        <p:nvSpPr>
          <p:cNvPr id="3" name="Straight Connector 2">
            <a:extLst>
              <a:ext uri="{FF2B5EF4-FFF2-40B4-BE49-F238E27FC236}">
                <a16:creationId xmlns:a16="http://schemas.microsoft.com/office/drawing/2014/main" id="{6D683794-B3E0-4E91-9FE3-B5C124E88C14}"/>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B48D2DE3-21EA-4652-8ED4-1023E0DEF8EE}"/>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15</a:t>
            </a:r>
          </a:p>
        </p:txBody>
      </p:sp>
      <p:sp>
        <p:nvSpPr>
          <p:cNvPr id="5" name="Rounded Rectangle 4">
            <a:extLst>
              <a:ext uri="{FF2B5EF4-FFF2-40B4-BE49-F238E27FC236}">
                <a16:creationId xmlns:a16="http://schemas.microsoft.com/office/drawing/2014/main" id="{E06BF252-EA24-4436-A5B3-1EEC71D859EF}"/>
              </a:ext>
            </a:extLst>
          </p:cNvPr>
          <p:cNvSpPr>
            <a:spLocks noGrp="1"/>
          </p:cNvSpPr>
          <p:nvPr/>
        </p:nvSpPr>
        <p:spPr>
          <a:xfrm>
            <a:off x="723900" y="2847974"/>
            <a:ext cx="2095500" cy="1428750"/>
          </a:xfrm>
          <a:prstGeom prst="roundRect">
            <a:avLst>
              <a:gd name="adj" fmla="val 5333"/>
            </a:avLst>
          </a:prstGeom>
          <a:solidFill>
            <a:srgbClr val="F7EAD8"/>
          </a:solidFill>
          <a:ln w="14288">
            <a:solidFill>
              <a:srgbClr val="D48728"/>
            </a:solidFill>
            <a:prstDash val="solid"/>
          </a:ln>
        </p:spPr>
        <p:txBody>
          <a:bodyPr/>
          <a:lstStyle/>
          <a:p>
            <a:endParaRPr lang="en-US"/>
          </a:p>
        </p:txBody>
      </p:sp>
      <p:sp>
        <p:nvSpPr>
          <p:cNvPr id="6" name="Rounded Rectangle 5">
            <a:extLst>
              <a:ext uri="{FF2B5EF4-FFF2-40B4-BE49-F238E27FC236}">
                <a16:creationId xmlns:a16="http://schemas.microsoft.com/office/drawing/2014/main" id="{52B00F36-C2FB-42D7-AC41-5BF1A538F1F9}"/>
              </a:ext>
            </a:extLst>
          </p:cNvPr>
          <p:cNvSpPr>
            <a:spLocks noGrp="1"/>
          </p:cNvSpPr>
          <p:nvPr/>
        </p:nvSpPr>
        <p:spPr>
          <a:xfrm>
            <a:off x="4057650" y="2181224"/>
            <a:ext cx="4000500" cy="2762250"/>
          </a:xfrm>
          <a:prstGeom prst="roundRect">
            <a:avLst>
              <a:gd name="adj" fmla="val 2759"/>
            </a:avLst>
          </a:prstGeom>
          <a:solidFill>
            <a:srgbClr val="FFFFFF"/>
          </a:solidFill>
          <a:ln w="9525">
            <a:solidFill>
              <a:srgbClr val="D4DDE2"/>
            </a:solidFill>
            <a:prstDash val="solid"/>
          </a:ln>
        </p:spPr>
        <p:txBody>
          <a:bodyPr/>
          <a:lstStyle/>
          <a:p>
            <a:endParaRPr lang="en-US"/>
          </a:p>
        </p:txBody>
      </p:sp>
      <p:sp>
        <p:nvSpPr>
          <p:cNvPr id="7" name="Rounded Rectangle 6">
            <a:extLst>
              <a:ext uri="{FF2B5EF4-FFF2-40B4-BE49-F238E27FC236}">
                <a16:creationId xmlns:a16="http://schemas.microsoft.com/office/drawing/2014/main" id="{A6D4DEF5-9E69-4A26-8E83-4FD217040C35}"/>
              </a:ext>
            </a:extLst>
          </p:cNvPr>
          <p:cNvSpPr>
            <a:spLocks noGrp="1"/>
          </p:cNvSpPr>
          <p:nvPr/>
        </p:nvSpPr>
        <p:spPr>
          <a:xfrm>
            <a:off x="9296400" y="2714624"/>
            <a:ext cx="2286000" cy="1714500"/>
          </a:xfrm>
          <a:prstGeom prst="roundRect">
            <a:avLst>
              <a:gd name="adj" fmla="val 4444"/>
            </a:avLst>
          </a:prstGeom>
          <a:solidFill>
            <a:srgbClr val="DDEFEA"/>
          </a:solidFill>
          <a:ln w="14288">
            <a:solidFill>
              <a:srgbClr val="147D70"/>
            </a:solidFill>
            <a:prstDash val="solid"/>
          </a:ln>
        </p:spPr>
        <p:txBody>
          <a:bodyPr/>
          <a:lstStyle/>
          <a:p>
            <a:endParaRPr lang="en-US"/>
          </a:p>
        </p:txBody>
      </p:sp>
      <p:cxnSp>
        <p:nvCxnSpPr>
          <p:cNvPr id="54" name="Straight Arrow Connector 53"/>
          <p:cNvCxnSpPr>
            <a:stCxn id="5" idx="3"/>
            <a:endCxn id="6" idx="1"/>
          </p:cNvCxnSpPr>
          <p:nvPr/>
        </p:nvCxnSpPr>
        <p:spPr>
          <a:xfrm>
            <a:off x="2819400" y="3562349"/>
            <a:ext cx="1238250" cy="0"/>
          </a:xfrm>
          <a:prstGeom prst="straightConnector1">
            <a:avLst/>
          </a:prstGeom>
          <a:ln w="19050">
            <a:solidFill>
              <a:srgbClr val="D4DDE2"/>
            </a:solidFill>
            <a:prstDash val="solid"/>
            <a:tailEnd type="arrow" w="sm" len="sm"/>
          </a:ln>
        </p:spPr>
      </p:cxnSp>
      <p:cxnSp>
        <p:nvCxnSpPr>
          <p:cNvPr id="55" name="Straight Arrow Connector 54"/>
          <p:cNvCxnSpPr>
            <a:stCxn id="6" idx="3"/>
            <a:endCxn id="7" idx="1"/>
          </p:cNvCxnSpPr>
          <p:nvPr/>
        </p:nvCxnSpPr>
        <p:spPr>
          <a:xfrm>
            <a:off x="8058150" y="3562349"/>
            <a:ext cx="1238250" cy="9525"/>
          </a:xfrm>
          <a:prstGeom prst="straightConnector1">
            <a:avLst/>
          </a:prstGeom>
          <a:ln w="19050">
            <a:solidFill>
              <a:srgbClr val="D4DDE2"/>
            </a:solidFill>
            <a:prstDash val="solid"/>
            <a:tailEnd type="arrow" w="sm" len="sm"/>
          </a:ln>
        </p:spPr>
      </p:cxnSp>
      <p:sp>
        <p:nvSpPr>
          <p:cNvPr id="10" name="Rectangle 9">
            <a:extLst>
              <a:ext uri="{FF2B5EF4-FFF2-40B4-BE49-F238E27FC236}">
                <a16:creationId xmlns:a16="http://schemas.microsoft.com/office/drawing/2014/main" id="{8604B267-A6D2-49A8-98D9-5DA927D9B168}"/>
              </a:ext>
            </a:extLst>
          </p:cNvPr>
          <p:cNvSpPr>
            <a:spLocks noGrp="1"/>
          </p:cNvSpPr>
          <p:nvPr/>
        </p:nvSpPr>
        <p:spPr>
          <a:xfrm>
            <a:off x="895350" y="3057524"/>
            <a:ext cx="1752600" cy="266700"/>
          </a:xfrm>
          <a:prstGeom prst="rect">
            <a:avLst/>
          </a:prstGeom>
          <a:noFill/>
          <a:ln w="0">
            <a:noFill/>
            <a:prstDash val="solid"/>
          </a:ln>
        </p:spPr>
        <p:txBody>
          <a:bodyPr anchor="t"/>
          <a:lstStyle/>
          <a:p>
            <a:pPr algn="ctr">
              <a:defRPr sz="1050" b="1" i="0">
                <a:solidFill>
                  <a:srgbClr val="D48728"/>
                </a:solidFill>
              </a:defRPr>
            </a:pPr>
            <a:r>
              <a:rPr sz="1050" b="1" i="0">
                <a:solidFill>
                  <a:srgbClr val="D48728"/>
                </a:solidFill>
              </a:rPr>
              <a:t>LATITUDE + LONGITUDE</a:t>
            </a:r>
          </a:p>
        </p:txBody>
      </p:sp>
      <p:sp>
        <p:nvSpPr>
          <p:cNvPr id="11" name="Rectangle 10">
            <a:extLst>
              <a:ext uri="{FF2B5EF4-FFF2-40B4-BE49-F238E27FC236}">
                <a16:creationId xmlns:a16="http://schemas.microsoft.com/office/drawing/2014/main" id="{99A69AD8-E3D5-4BAF-B892-175425DE8282}"/>
              </a:ext>
            </a:extLst>
          </p:cNvPr>
          <p:cNvSpPr>
            <a:spLocks noGrp="1"/>
          </p:cNvSpPr>
          <p:nvPr/>
        </p:nvSpPr>
        <p:spPr>
          <a:xfrm>
            <a:off x="895350" y="3514724"/>
            <a:ext cx="1752600" cy="323850"/>
          </a:xfrm>
          <a:prstGeom prst="rect">
            <a:avLst/>
          </a:prstGeom>
          <a:noFill/>
          <a:ln w="0">
            <a:noFill/>
            <a:prstDash val="solid"/>
          </a:ln>
        </p:spPr>
        <p:txBody>
          <a:bodyPr anchor="t"/>
          <a:lstStyle/>
          <a:p>
            <a:pPr algn="ctr">
              <a:defRPr sz="1800" b="1" i="0">
                <a:solidFill>
                  <a:srgbClr val="08065C"/>
                </a:solidFill>
              </a:defRPr>
            </a:pPr>
            <a:r>
              <a:rPr sz="1800" b="1" i="0">
                <a:solidFill>
                  <a:srgbClr val="08065C"/>
                </a:solidFill>
              </a:rPr>
              <a:t>−38.30, 146.17</a:t>
            </a:r>
          </a:p>
        </p:txBody>
      </p:sp>
      <p:sp>
        <p:nvSpPr>
          <p:cNvPr id="12" name="Rectangle 11">
            <a:extLst>
              <a:ext uri="{FF2B5EF4-FFF2-40B4-BE49-F238E27FC236}">
                <a16:creationId xmlns:a16="http://schemas.microsoft.com/office/drawing/2014/main" id="{F8A5D8D6-8247-45A7-A526-63023ED40397}"/>
              </a:ext>
            </a:extLst>
          </p:cNvPr>
          <p:cNvSpPr>
            <a:spLocks noGrp="1"/>
          </p:cNvSpPr>
          <p:nvPr/>
        </p:nvSpPr>
        <p:spPr>
          <a:xfrm>
            <a:off x="895350" y="3933824"/>
            <a:ext cx="1752600" cy="228600"/>
          </a:xfrm>
          <a:prstGeom prst="rect">
            <a:avLst/>
          </a:prstGeom>
          <a:noFill/>
          <a:ln w="0">
            <a:noFill/>
            <a:prstDash val="solid"/>
          </a:ln>
        </p:spPr>
        <p:txBody>
          <a:bodyPr anchor="t"/>
          <a:lstStyle/>
          <a:p>
            <a:pPr algn="ctr">
              <a:defRPr sz="1050" b="0" i="0">
                <a:solidFill>
                  <a:srgbClr val="5E6B75"/>
                </a:solidFill>
              </a:defRPr>
            </a:pPr>
            <a:r>
              <a:rPr sz="1050" b="0" i="0">
                <a:solidFill>
                  <a:srgbClr val="5E6B75"/>
                </a:solidFill>
              </a:rPr>
              <a:t>same location each year</a:t>
            </a:r>
          </a:p>
        </p:txBody>
      </p:sp>
      <p:sp>
        <p:nvSpPr>
          <p:cNvPr id="13" name="Rectangle 12">
            <a:extLst>
              <a:ext uri="{FF2B5EF4-FFF2-40B4-BE49-F238E27FC236}">
                <a16:creationId xmlns:a16="http://schemas.microsoft.com/office/drawing/2014/main" id="{0E826B94-2C43-4675-B136-4D6AEEF93649}"/>
              </a:ext>
            </a:extLst>
          </p:cNvPr>
          <p:cNvSpPr>
            <a:spLocks noGrp="1"/>
          </p:cNvSpPr>
          <p:nvPr/>
        </p:nvSpPr>
        <p:spPr>
          <a:xfrm>
            <a:off x="4324350" y="2390774"/>
            <a:ext cx="3429000" cy="323850"/>
          </a:xfrm>
          <a:prstGeom prst="rect">
            <a:avLst/>
          </a:prstGeom>
          <a:noFill/>
          <a:ln w="0">
            <a:noFill/>
            <a:prstDash val="solid"/>
          </a:ln>
        </p:spPr>
        <p:txBody>
          <a:bodyPr anchor="t"/>
          <a:lstStyle/>
          <a:p>
            <a:pPr algn="ctr">
              <a:defRPr sz="1650" b="1" i="0">
                <a:solidFill>
                  <a:srgbClr val="08065C"/>
                </a:solidFill>
              </a:defRPr>
            </a:pPr>
            <a:r>
              <a:rPr sz="1650" b="1" i="0">
                <a:solidFill>
                  <a:srgbClr val="08065C"/>
                </a:solidFill>
              </a:rPr>
              <a:t>Annual evidence sequence</a:t>
            </a:r>
          </a:p>
        </p:txBody>
      </p:sp>
      <p:sp>
        <p:nvSpPr>
          <p:cNvPr id="14" name="Rectangle 13">
            <a:extLst>
              <a:ext uri="{FF2B5EF4-FFF2-40B4-BE49-F238E27FC236}">
                <a16:creationId xmlns:a16="http://schemas.microsoft.com/office/drawing/2014/main" id="{1A063C44-53F5-4D9B-82E7-FDFFD655C8F7}"/>
              </a:ext>
            </a:extLst>
          </p:cNvPr>
          <p:cNvSpPr>
            <a:spLocks noGrp="1"/>
          </p:cNvSpPr>
          <p:nvPr/>
        </p:nvSpPr>
        <p:spPr>
          <a:xfrm>
            <a:off x="4324350" y="2924174"/>
            <a:ext cx="400050" cy="228600"/>
          </a:xfrm>
          <a:prstGeom prst="rect">
            <a:avLst/>
          </a:prstGeom>
          <a:noFill/>
          <a:ln w="0">
            <a:noFill/>
            <a:prstDash val="solid"/>
          </a:ln>
        </p:spPr>
        <p:txBody>
          <a:bodyPr anchor="t"/>
          <a:lstStyle/>
          <a:p>
            <a:pPr algn="ctr">
              <a:defRPr sz="900" b="1" i="0">
                <a:solidFill>
                  <a:srgbClr val="5E6B75"/>
                </a:solidFill>
              </a:defRPr>
            </a:pPr>
            <a:r>
              <a:rPr sz="900" b="1" i="0">
                <a:solidFill>
                  <a:srgbClr val="5E6B75"/>
                </a:solidFill>
              </a:rPr>
              <a:t>17</a:t>
            </a:r>
          </a:p>
        </p:txBody>
      </p:sp>
      <p:sp>
        <p:nvSpPr>
          <p:cNvPr id="15" name="Rectangle 14">
            <a:extLst>
              <a:ext uri="{FF2B5EF4-FFF2-40B4-BE49-F238E27FC236}">
                <a16:creationId xmlns:a16="http://schemas.microsoft.com/office/drawing/2014/main" id="{9A39B424-ADE0-4BDD-8207-C29D9E63E315}"/>
              </a:ext>
            </a:extLst>
          </p:cNvPr>
          <p:cNvSpPr>
            <a:spLocks noGrp="1"/>
          </p:cNvSpPr>
          <p:nvPr/>
        </p:nvSpPr>
        <p:spPr>
          <a:xfrm>
            <a:off x="4362450" y="3286124"/>
            <a:ext cx="323850" cy="304800"/>
          </a:xfrm>
          <a:prstGeom prst="rect">
            <a:avLst/>
          </a:prstGeom>
          <a:solidFill>
            <a:srgbClr val="6A9E55"/>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365D832F-A830-4082-9DA1-2E0660F32733}"/>
              </a:ext>
            </a:extLst>
          </p:cNvPr>
          <p:cNvSpPr>
            <a:spLocks noGrp="1"/>
          </p:cNvSpPr>
          <p:nvPr/>
        </p:nvSpPr>
        <p:spPr>
          <a:xfrm>
            <a:off x="4324350" y="3781424"/>
            <a:ext cx="400050" cy="228600"/>
          </a:xfrm>
          <a:prstGeom prst="rect">
            <a:avLst/>
          </a:prstGeom>
          <a:noFill/>
          <a:ln w="0">
            <a:noFill/>
            <a:prstDash val="solid"/>
          </a:ln>
        </p:spPr>
        <p:txBody>
          <a:bodyPr anchor="t"/>
          <a:lstStyle/>
          <a:p>
            <a:pPr algn="ctr">
              <a:defRPr sz="900" b="0" i="0">
                <a:solidFill>
                  <a:srgbClr val="147D70"/>
                </a:solidFill>
              </a:defRPr>
            </a:pPr>
            <a:r>
              <a:rPr sz="900" b="0" i="0">
                <a:solidFill>
                  <a:srgbClr val="147D70"/>
                </a:solidFill>
              </a:rPr>
              <a:t>.71</a:t>
            </a:r>
          </a:p>
        </p:txBody>
      </p:sp>
      <p:sp>
        <p:nvSpPr>
          <p:cNvPr id="17" name="Rectangle 16">
            <a:extLst>
              <a:ext uri="{FF2B5EF4-FFF2-40B4-BE49-F238E27FC236}">
                <a16:creationId xmlns:a16="http://schemas.microsoft.com/office/drawing/2014/main" id="{F24C689B-A4CA-434C-82A9-01CA8888256D}"/>
              </a:ext>
            </a:extLst>
          </p:cNvPr>
          <p:cNvSpPr>
            <a:spLocks noGrp="1"/>
          </p:cNvSpPr>
          <p:nvPr/>
        </p:nvSpPr>
        <p:spPr>
          <a:xfrm>
            <a:off x="4743450" y="2924174"/>
            <a:ext cx="400050" cy="228600"/>
          </a:xfrm>
          <a:prstGeom prst="rect">
            <a:avLst/>
          </a:prstGeom>
          <a:noFill/>
          <a:ln w="0">
            <a:noFill/>
            <a:prstDash val="solid"/>
          </a:ln>
        </p:spPr>
        <p:txBody>
          <a:bodyPr anchor="t"/>
          <a:lstStyle/>
          <a:p>
            <a:pPr algn="ctr">
              <a:defRPr sz="900" b="1" i="0">
                <a:solidFill>
                  <a:srgbClr val="5E6B75"/>
                </a:solidFill>
              </a:defRPr>
            </a:pPr>
            <a:r>
              <a:rPr sz="900" b="1" i="0">
                <a:solidFill>
                  <a:srgbClr val="5E6B75"/>
                </a:solidFill>
              </a:rPr>
              <a:t>18</a:t>
            </a:r>
          </a:p>
        </p:txBody>
      </p:sp>
      <p:sp>
        <p:nvSpPr>
          <p:cNvPr id="18" name="Rectangle 17">
            <a:extLst>
              <a:ext uri="{FF2B5EF4-FFF2-40B4-BE49-F238E27FC236}">
                <a16:creationId xmlns:a16="http://schemas.microsoft.com/office/drawing/2014/main" id="{0A28AB32-3B99-4DD8-AFCB-750ADA00948E}"/>
              </a:ext>
            </a:extLst>
          </p:cNvPr>
          <p:cNvSpPr>
            <a:spLocks noGrp="1"/>
          </p:cNvSpPr>
          <p:nvPr/>
        </p:nvSpPr>
        <p:spPr>
          <a:xfrm>
            <a:off x="4781550" y="3286124"/>
            <a:ext cx="323850" cy="304800"/>
          </a:xfrm>
          <a:prstGeom prst="rect">
            <a:avLst/>
          </a:prstGeom>
          <a:solidFill>
            <a:srgbClr val="6A9E55"/>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D058B63F-A9F7-49FD-9CD0-B8C1F82B23DE}"/>
              </a:ext>
            </a:extLst>
          </p:cNvPr>
          <p:cNvSpPr>
            <a:spLocks noGrp="1"/>
          </p:cNvSpPr>
          <p:nvPr/>
        </p:nvSpPr>
        <p:spPr>
          <a:xfrm>
            <a:off x="4743450" y="3781424"/>
            <a:ext cx="400050" cy="228600"/>
          </a:xfrm>
          <a:prstGeom prst="rect">
            <a:avLst/>
          </a:prstGeom>
          <a:noFill/>
          <a:ln w="0">
            <a:noFill/>
            <a:prstDash val="solid"/>
          </a:ln>
        </p:spPr>
        <p:txBody>
          <a:bodyPr anchor="t"/>
          <a:lstStyle/>
          <a:p>
            <a:pPr algn="ctr">
              <a:defRPr sz="900" b="0" i="0">
                <a:solidFill>
                  <a:srgbClr val="147D70"/>
                </a:solidFill>
              </a:defRPr>
            </a:pPr>
            <a:r>
              <a:rPr sz="900" b="0" i="0">
                <a:solidFill>
                  <a:srgbClr val="147D70"/>
                </a:solidFill>
              </a:rPr>
              <a:t>.70</a:t>
            </a:r>
          </a:p>
        </p:txBody>
      </p:sp>
      <p:sp>
        <p:nvSpPr>
          <p:cNvPr id="20" name="Rectangle 19">
            <a:extLst>
              <a:ext uri="{FF2B5EF4-FFF2-40B4-BE49-F238E27FC236}">
                <a16:creationId xmlns:a16="http://schemas.microsoft.com/office/drawing/2014/main" id="{095CCB30-C9D1-40B3-90FA-2A6EB6BC3F72}"/>
              </a:ext>
            </a:extLst>
          </p:cNvPr>
          <p:cNvSpPr>
            <a:spLocks noGrp="1"/>
          </p:cNvSpPr>
          <p:nvPr/>
        </p:nvSpPr>
        <p:spPr>
          <a:xfrm>
            <a:off x="5162550" y="2924174"/>
            <a:ext cx="400050" cy="228600"/>
          </a:xfrm>
          <a:prstGeom prst="rect">
            <a:avLst/>
          </a:prstGeom>
          <a:noFill/>
          <a:ln w="0">
            <a:noFill/>
            <a:prstDash val="solid"/>
          </a:ln>
        </p:spPr>
        <p:txBody>
          <a:bodyPr anchor="t"/>
          <a:lstStyle/>
          <a:p>
            <a:pPr algn="ctr">
              <a:defRPr sz="900" b="1" i="0">
                <a:solidFill>
                  <a:srgbClr val="5E6B75"/>
                </a:solidFill>
              </a:defRPr>
            </a:pPr>
            <a:r>
              <a:rPr sz="900" b="1" i="0">
                <a:solidFill>
                  <a:srgbClr val="5E6B75"/>
                </a:solidFill>
              </a:rPr>
              <a:t>19</a:t>
            </a:r>
          </a:p>
        </p:txBody>
      </p:sp>
      <p:sp>
        <p:nvSpPr>
          <p:cNvPr id="21" name="Rectangle 20">
            <a:extLst>
              <a:ext uri="{FF2B5EF4-FFF2-40B4-BE49-F238E27FC236}">
                <a16:creationId xmlns:a16="http://schemas.microsoft.com/office/drawing/2014/main" id="{BC99EE76-F6D6-49B8-B549-9039D80E1567}"/>
              </a:ext>
            </a:extLst>
          </p:cNvPr>
          <p:cNvSpPr>
            <a:spLocks noGrp="1"/>
          </p:cNvSpPr>
          <p:nvPr/>
        </p:nvSpPr>
        <p:spPr>
          <a:xfrm>
            <a:off x="5200650" y="3286124"/>
            <a:ext cx="323850" cy="304800"/>
          </a:xfrm>
          <a:prstGeom prst="rect">
            <a:avLst/>
          </a:prstGeom>
          <a:solidFill>
            <a:srgbClr val="D4B246"/>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1E5DF1D7-8AC5-45D8-8800-ACD738C4D7BD}"/>
              </a:ext>
            </a:extLst>
          </p:cNvPr>
          <p:cNvSpPr>
            <a:spLocks noGrp="1"/>
          </p:cNvSpPr>
          <p:nvPr/>
        </p:nvSpPr>
        <p:spPr>
          <a:xfrm>
            <a:off x="5162550" y="3781424"/>
            <a:ext cx="400050" cy="228600"/>
          </a:xfrm>
          <a:prstGeom prst="rect">
            <a:avLst/>
          </a:prstGeom>
          <a:noFill/>
          <a:ln w="0">
            <a:noFill/>
            <a:prstDash val="solid"/>
          </a:ln>
        </p:spPr>
        <p:txBody>
          <a:bodyPr anchor="t"/>
          <a:lstStyle/>
          <a:p>
            <a:pPr algn="ctr">
              <a:defRPr sz="900" b="0" i="0">
                <a:solidFill>
                  <a:srgbClr val="147D70"/>
                </a:solidFill>
              </a:defRPr>
            </a:pPr>
            <a:r>
              <a:rPr sz="900" b="0" i="0">
                <a:solidFill>
                  <a:srgbClr val="147D70"/>
                </a:solidFill>
              </a:rPr>
              <a:t>.59</a:t>
            </a:r>
          </a:p>
        </p:txBody>
      </p:sp>
      <p:sp>
        <p:nvSpPr>
          <p:cNvPr id="23" name="Rectangle 22">
            <a:extLst>
              <a:ext uri="{FF2B5EF4-FFF2-40B4-BE49-F238E27FC236}">
                <a16:creationId xmlns:a16="http://schemas.microsoft.com/office/drawing/2014/main" id="{108B510D-0EF8-4A14-A46D-C616F3BC9F9D}"/>
              </a:ext>
            </a:extLst>
          </p:cNvPr>
          <p:cNvSpPr>
            <a:spLocks noGrp="1"/>
          </p:cNvSpPr>
          <p:nvPr/>
        </p:nvSpPr>
        <p:spPr>
          <a:xfrm>
            <a:off x="5581650" y="2924174"/>
            <a:ext cx="400050" cy="228600"/>
          </a:xfrm>
          <a:prstGeom prst="rect">
            <a:avLst/>
          </a:prstGeom>
          <a:noFill/>
          <a:ln w="0">
            <a:noFill/>
            <a:prstDash val="solid"/>
          </a:ln>
        </p:spPr>
        <p:txBody>
          <a:bodyPr anchor="t"/>
          <a:lstStyle/>
          <a:p>
            <a:pPr algn="ctr">
              <a:defRPr sz="900" b="1" i="0">
                <a:solidFill>
                  <a:srgbClr val="5E6B75"/>
                </a:solidFill>
              </a:defRPr>
            </a:pPr>
            <a:r>
              <a:rPr sz="900" b="1" i="0">
                <a:solidFill>
                  <a:srgbClr val="5E6B75"/>
                </a:solidFill>
              </a:rPr>
              <a:t>20</a:t>
            </a:r>
          </a:p>
        </p:txBody>
      </p:sp>
      <p:sp>
        <p:nvSpPr>
          <p:cNvPr id="24" name="Rectangle 23">
            <a:extLst>
              <a:ext uri="{FF2B5EF4-FFF2-40B4-BE49-F238E27FC236}">
                <a16:creationId xmlns:a16="http://schemas.microsoft.com/office/drawing/2014/main" id="{13FDD3E0-475D-4B3E-926D-E5430AAC47C3}"/>
              </a:ext>
            </a:extLst>
          </p:cNvPr>
          <p:cNvSpPr>
            <a:spLocks noGrp="1"/>
          </p:cNvSpPr>
          <p:nvPr/>
        </p:nvSpPr>
        <p:spPr>
          <a:xfrm>
            <a:off x="5619750" y="3286124"/>
            <a:ext cx="323850" cy="304800"/>
          </a:xfrm>
          <a:prstGeom prst="rect">
            <a:avLst/>
          </a:prstGeom>
          <a:solidFill>
            <a:srgbClr val="D4B246"/>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8C3E8B07-3110-4B97-8630-7CDE07917ABC}"/>
              </a:ext>
            </a:extLst>
          </p:cNvPr>
          <p:cNvSpPr>
            <a:spLocks noGrp="1"/>
          </p:cNvSpPr>
          <p:nvPr/>
        </p:nvSpPr>
        <p:spPr>
          <a:xfrm>
            <a:off x="5581650" y="3781424"/>
            <a:ext cx="400050" cy="228600"/>
          </a:xfrm>
          <a:prstGeom prst="rect">
            <a:avLst/>
          </a:prstGeom>
          <a:noFill/>
          <a:ln w="0">
            <a:noFill/>
            <a:prstDash val="solid"/>
          </a:ln>
        </p:spPr>
        <p:txBody>
          <a:bodyPr anchor="t"/>
          <a:lstStyle/>
          <a:p>
            <a:pPr algn="ctr">
              <a:defRPr sz="900" b="0" i="0">
                <a:solidFill>
                  <a:srgbClr val="147D70"/>
                </a:solidFill>
              </a:defRPr>
            </a:pPr>
            <a:r>
              <a:rPr sz="900" b="0" i="0">
                <a:solidFill>
                  <a:srgbClr val="147D70"/>
                </a:solidFill>
              </a:rPr>
              <a:t>.61</a:t>
            </a:r>
          </a:p>
        </p:txBody>
      </p:sp>
      <p:sp>
        <p:nvSpPr>
          <p:cNvPr id="26" name="Rectangle 25">
            <a:extLst>
              <a:ext uri="{FF2B5EF4-FFF2-40B4-BE49-F238E27FC236}">
                <a16:creationId xmlns:a16="http://schemas.microsoft.com/office/drawing/2014/main" id="{B7A30817-071B-4203-979D-E2DA9EDB2325}"/>
              </a:ext>
            </a:extLst>
          </p:cNvPr>
          <p:cNvSpPr>
            <a:spLocks noGrp="1"/>
          </p:cNvSpPr>
          <p:nvPr/>
        </p:nvSpPr>
        <p:spPr>
          <a:xfrm>
            <a:off x="6000750" y="2924174"/>
            <a:ext cx="400050" cy="228600"/>
          </a:xfrm>
          <a:prstGeom prst="rect">
            <a:avLst/>
          </a:prstGeom>
          <a:noFill/>
          <a:ln w="0">
            <a:noFill/>
            <a:prstDash val="solid"/>
          </a:ln>
        </p:spPr>
        <p:txBody>
          <a:bodyPr anchor="t"/>
          <a:lstStyle/>
          <a:p>
            <a:pPr algn="ctr">
              <a:defRPr sz="900" b="1" i="0">
                <a:solidFill>
                  <a:srgbClr val="5E6B75"/>
                </a:solidFill>
              </a:defRPr>
            </a:pPr>
            <a:r>
              <a:rPr sz="900" b="1" i="0">
                <a:solidFill>
                  <a:srgbClr val="5E6B75"/>
                </a:solidFill>
              </a:rPr>
              <a:t>21</a:t>
            </a:r>
          </a:p>
        </p:txBody>
      </p:sp>
      <p:sp>
        <p:nvSpPr>
          <p:cNvPr id="27" name="Rectangle 26">
            <a:extLst>
              <a:ext uri="{FF2B5EF4-FFF2-40B4-BE49-F238E27FC236}">
                <a16:creationId xmlns:a16="http://schemas.microsoft.com/office/drawing/2014/main" id="{AD5A98DB-7EC6-4E86-B7EC-DBCAD5511FAC}"/>
              </a:ext>
            </a:extLst>
          </p:cNvPr>
          <p:cNvSpPr>
            <a:spLocks noGrp="1"/>
          </p:cNvSpPr>
          <p:nvPr/>
        </p:nvSpPr>
        <p:spPr>
          <a:xfrm>
            <a:off x="6038850" y="3286124"/>
            <a:ext cx="323850" cy="304800"/>
          </a:xfrm>
          <a:prstGeom prst="rect">
            <a:avLst/>
          </a:prstGeom>
          <a:solidFill>
            <a:srgbClr val="D4B246"/>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EE5B004A-AD37-4676-85F5-0037D6544B48}"/>
              </a:ext>
            </a:extLst>
          </p:cNvPr>
          <p:cNvSpPr>
            <a:spLocks noGrp="1"/>
          </p:cNvSpPr>
          <p:nvPr/>
        </p:nvSpPr>
        <p:spPr>
          <a:xfrm>
            <a:off x="6000750" y="3781424"/>
            <a:ext cx="400050" cy="228600"/>
          </a:xfrm>
          <a:prstGeom prst="rect">
            <a:avLst/>
          </a:prstGeom>
          <a:noFill/>
          <a:ln w="0">
            <a:noFill/>
            <a:prstDash val="solid"/>
          </a:ln>
        </p:spPr>
        <p:txBody>
          <a:bodyPr anchor="t"/>
          <a:lstStyle/>
          <a:p>
            <a:pPr algn="ctr">
              <a:defRPr sz="900" b="0" i="0">
                <a:solidFill>
                  <a:srgbClr val="147D70"/>
                </a:solidFill>
              </a:defRPr>
            </a:pPr>
            <a:r>
              <a:rPr sz="900" b="0" i="0">
                <a:solidFill>
                  <a:srgbClr val="147D70"/>
                </a:solidFill>
              </a:rPr>
              <a:t>.64</a:t>
            </a:r>
          </a:p>
        </p:txBody>
      </p:sp>
      <p:sp>
        <p:nvSpPr>
          <p:cNvPr id="29" name="Rectangle 28">
            <a:extLst>
              <a:ext uri="{FF2B5EF4-FFF2-40B4-BE49-F238E27FC236}">
                <a16:creationId xmlns:a16="http://schemas.microsoft.com/office/drawing/2014/main" id="{B7FFA180-DB91-414E-8376-EB33ADF25FEC}"/>
              </a:ext>
            </a:extLst>
          </p:cNvPr>
          <p:cNvSpPr>
            <a:spLocks noGrp="1"/>
          </p:cNvSpPr>
          <p:nvPr/>
        </p:nvSpPr>
        <p:spPr>
          <a:xfrm>
            <a:off x="6419850" y="2924174"/>
            <a:ext cx="400050" cy="228600"/>
          </a:xfrm>
          <a:prstGeom prst="rect">
            <a:avLst/>
          </a:prstGeom>
          <a:noFill/>
          <a:ln w="0">
            <a:noFill/>
            <a:prstDash val="solid"/>
          </a:ln>
        </p:spPr>
        <p:txBody>
          <a:bodyPr anchor="t"/>
          <a:lstStyle/>
          <a:p>
            <a:pPr algn="ctr">
              <a:defRPr sz="900" b="1" i="0">
                <a:solidFill>
                  <a:srgbClr val="5E6B75"/>
                </a:solidFill>
              </a:defRPr>
            </a:pPr>
            <a:r>
              <a:rPr sz="900" b="1" i="0">
                <a:solidFill>
                  <a:srgbClr val="5E6B75"/>
                </a:solidFill>
              </a:rPr>
              <a:t>22</a:t>
            </a:r>
          </a:p>
        </p:txBody>
      </p:sp>
      <p:sp>
        <p:nvSpPr>
          <p:cNvPr id="30" name="Rectangle 29">
            <a:extLst>
              <a:ext uri="{FF2B5EF4-FFF2-40B4-BE49-F238E27FC236}">
                <a16:creationId xmlns:a16="http://schemas.microsoft.com/office/drawing/2014/main" id="{74928741-C767-425B-9323-4663A40B3292}"/>
              </a:ext>
            </a:extLst>
          </p:cNvPr>
          <p:cNvSpPr>
            <a:spLocks noGrp="1"/>
          </p:cNvSpPr>
          <p:nvPr/>
        </p:nvSpPr>
        <p:spPr>
          <a:xfrm>
            <a:off x="6457950" y="3286124"/>
            <a:ext cx="323850" cy="304800"/>
          </a:xfrm>
          <a:prstGeom prst="rect">
            <a:avLst/>
          </a:prstGeom>
          <a:solidFill>
            <a:srgbClr val="6A9E55"/>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AEDC604E-6047-45DC-B523-FA1DD434F6DC}"/>
              </a:ext>
            </a:extLst>
          </p:cNvPr>
          <p:cNvSpPr>
            <a:spLocks noGrp="1"/>
          </p:cNvSpPr>
          <p:nvPr/>
        </p:nvSpPr>
        <p:spPr>
          <a:xfrm>
            <a:off x="6419850" y="3781424"/>
            <a:ext cx="400050" cy="228600"/>
          </a:xfrm>
          <a:prstGeom prst="rect">
            <a:avLst/>
          </a:prstGeom>
          <a:noFill/>
          <a:ln w="0">
            <a:noFill/>
            <a:prstDash val="solid"/>
          </a:ln>
        </p:spPr>
        <p:txBody>
          <a:bodyPr anchor="t"/>
          <a:lstStyle/>
          <a:p>
            <a:pPr algn="ctr">
              <a:defRPr sz="900" b="0" i="0">
                <a:solidFill>
                  <a:srgbClr val="147D70"/>
                </a:solidFill>
              </a:defRPr>
            </a:pPr>
            <a:r>
              <a:rPr sz="900" b="0" i="0">
                <a:solidFill>
                  <a:srgbClr val="147D70"/>
                </a:solidFill>
              </a:rPr>
              <a:t>.68</a:t>
            </a:r>
          </a:p>
        </p:txBody>
      </p:sp>
      <p:sp>
        <p:nvSpPr>
          <p:cNvPr id="32" name="Rectangle 31">
            <a:extLst>
              <a:ext uri="{FF2B5EF4-FFF2-40B4-BE49-F238E27FC236}">
                <a16:creationId xmlns:a16="http://schemas.microsoft.com/office/drawing/2014/main" id="{622B4B23-47D1-4F11-9090-251722A51915}"/>
              </a:ext>
            </a:extLst>
          </p:cNvPr>
          <p:cNvSpPr>
            <a:spLocks noGrp="1"/>
          </p:cNvSpPr>
          <p:nvPr/>
        </p:nvSpPr>
        <p:spPr>
          <a:xfrm>
            <a:off x="6838950" y="2924174"/>
            <a:ext cx="400050" cy="228600"/>
          </a:xfrm>
          <a:prstGeom prst="rect">
            <a:avLst/>
          </a:prstGeom>
          <a:noFill/>
          <a:ln w="0">
            <a:noFill/>
            <a:prstDash val="solid"/>
          </a:ln>
        </p:spPr>
        <p:txBody>
          <a:bodyPr anchor="t"/>
          <a:lstStyle/>
          <a:p>
            <a:pPr algn="ctr">
              <a:defRPr sz="900" b="1" i="0">
                <a:solidFill>
                  <a:srgbClr val="5E6B75"/>
                </a:solidFill>
              </a:defRPr>
            </a:pPr>
            <a:r>
              <a:rPr sz="900" b="1" i="0">
                <a:solidFill>
                  <a:srgbClr val="5E6B75"/>
                </a:solidFill>
              </a:rPr>
              <a:t>23</a:t>
            </a:r>
          </a:p>
        </p:txBody>
      </p:sp>
      <p:sp>
        <p:nvSpPr>
          <p:cNvPr id="33" name="Rectangle 32">
            <a:extLst>
              <a:ext uri="{FF2B5EF4-FFF2-40B4-BE49-F238E27FC236}">
                <a16:creationId xmlns:a16="http://schemas.microsoft.com/office/drawing/2014/main" id="{48FA4B98-DABF-416B-B8D2-78AC622B6B70}"/>
              </a:ext>
            </a:extLst>
          </p:cNvPr>
          <p:cNvSpPr>
            <a:spLocks noGrp="1"/>
          </p:cNvSpPr>
          <p:nvPr/>
        </p:nvSpPr>
        <p:spPr>
          <a:xfrm>
            <a:off x="6877050" y="3286124"/>
            <a:ext cx="323850" cy="304800"/>
          </a:xfrm>
          <a:prstGeom prst="rect">
            <a:avLst/>
          </a:prstGeom>
          <a:solidFill>
            <a:srgbClr val="6A9E55"/>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9D96A717-0881-4261-BFFD-A3F822446D9E}"/>
              </a:ext>
            </a:extLst>
          </p:cNvPr>
          <p:cNvSpPr>
            <a:spLocks noGrp="1"/>
          </p:cNvSpPr>
          <p:nvPr/>
        </p:nvSpPr>
        <p:spPr>
          <a:xfrm>
            <a:off x="6838950" y="3781424"/>
            <a:ext cx="400050" cy="228600"/>
          </a:xfrm>
          <a:prstGeom prst="rect">
            <a:avLst/>
          </a:prstGeom>
          <a:noFill/>
          <a:ln w="0">
            <a:noFill/>
            <a:prstDash val="solid"/>
          </a:ln>
        </p:spPr>
        <p:txBody>
          <a:bodyPr anchor="t"/>
          <a:lstStyle/>
          <a:p>
            <a:pPr algn="ctr">
              <a:defRPr sz="900" b="0" i="0">
                <a:solidFill>
                  <a:srgbClr val="147D70"/>
                </a:solidFill>
              </a:defRPr>
            </a:pPr>
            <a:r>
              <a:rPr sz="900" b="0" i="0">
                <a:solidFill>
                  <a:srgbClr val="147D70"/>
                </a:solidFill>
              </a:rPr>
              <a:t>.70</a:t>
            </a:r>
          </a:p>
        </p:txBody>
      </p:sp>
      <p:sp>
        <p:nvSpPr>
          <p:cNvPr id="35" name="Rectangle 34">
            <a:extLst>
              <a:ext uri="{FF2B5EF4-FFF2-40B4-BE49-F238E27FC236}">
                <a16:creationId xmlns:a16="http://schemas.microsoft.com/office/drawing/2014/main" id="{766742C8-42CA-4B8A-82DA-4DF320A72A0A}"/>
              </a:ext>
            </a:extLst>
          </p:cNvPr>
          <p:cNvSpPr>
            <a:spLocks noGrp="1"/>
          </p:cNvSpPr>
          <p:nvPr/>
        </p:nvSpPr>
        <p:spPr>
          <a:xfrm>
            <a:off x="7258050" y="2924174"/>
            <a:ext cx="400050" cy="228600"/>
          </a:xfrm>
          <a:prstGeom prst="rect">
            <a:avLst/>
          </a:prstGeom>
          <a:noFill/>
          <a:ln w="0">
            <a:noFill/>
            <a:prstDash val="solid"/>
          </a:ln>
        </p:spPr>
        <p:txBody>
          <a:bodyPr anchor="t"/>
          <a:lstStyle/>
          <a:p>
            <a:pPr algn="ctr">
              <a:defRPr sz="900" b="1" i="0">
                <a:solidFill>
                  <a:srgbClr val="5E6B75"/>
                </a:solidFill>
              </a:defRPr>
            </a:pPr>
            <a:r>
              <a:rPr sz="900" b="1" i="0">
                <a:solidFill>
                  <a:srgbClr val="5E6B75"/>
                </a:solidFill>
              </a:rPr>
              <a:t>24</a:t>
            </a:r>
          </a:p>
        </p:txBody>
      </p:sp>
      <p:sp>
        <p:nvSpPr>
          <p:cNvPr id="36" name="Rectangle 35">
            <a:extLst>
              <a:ext uri="{FF2B5EF4-FFF2-40B4-BE49-F238E27FC236}">
                <a16:creationId xmlns:a16="http://schemas.microsoft.com/office/drawing/2014/main" id="{C1A5406E-9BC6-4B36-ADD3-8FAC574F5443}"/>
              </a:ext>
            </a:extLst>
          </p:cNvPr>
          <p:cNvSpPr>
            <a:spLocks noGrp="1"/>
          </p:cNvSpPr>
          <p:nvPr/>
        </p:nvSpPr>
        <p:spPr>
          <a:xfrm>
            <a:off x="7296150" y="3286124"/>
            <a:ext cx="323850" cy="304800"/>
          </a:xfrm>
          <a:prstGeom prst="rect">
            <a:avLst/>
          </a:prstGeom>
          <a:solidFill>
            <a:srgbClr val="6A9E55"/>
          </a:solidFill>
          <a:ln w="0">
            <a:noFill/>
            <a:prstDash val="solid"/>
          </a:ln>
        </p:spPr>
        <p:txBody>
          <a:bodyPr/>
          <a:lstStyle/>
          <a:p>
            <a:endParaRPr lang="en-US"/>
          </a:p>
        </p:txBody>
      </p:sp>
      <p:sp>
        <p:nvSpPr>
          <p:cNvPr id="37" name="Rectangle 36">
            <a:extLst>
              <a:ext uri="{FF2B5EF4-FFF2-40B4-BE49-F238E27FC236}">
                <a16:creationId xmlns:a16="http://schemas.microsoft.com/office/drawing/2014/main" id="{8F2736B8-84B1-4439-A947-5C6EA9A45C03}"/>
              </a:ext>
            </a:extLst>
          </p:cNvPr>
          <p:cNvSpPr>
            <a:spLocks noGrp="1"/>
          </p:cNvSpPr>
          <p:nvPr/>
        </p:nvSpPr>
        <p:spPr>
          <a:xfrm>
            <a:off x="7258050" y="3781424"/>
            <a:ext cx="400050" cy="228600"/>
          </a:xfrm>
          <a:prstGeom prst="rect">
            <a:avLst/>
          </a:prstGeom>
          <a:noFill/>
          <a:ln w="0">
            <a:noFill/>
            <a:prstDash val="solid"/>
          </a:ln>
        </p:spPr>
        <p:txBody>
          <a:bodyPr anchor="t"/>
          <a:lstStyle/>
          <a:p>
            <a:pPr algn="ctr">
              <a:defRPr sz="900" b="0" i="0">
                <a:solidFill>
                  <a:srgbClr val="147D70"/>
                </a:solidFill>
              </a:defRPr>
            </a:pPr>
            <a:r>
              <a:rPr sz="900" b="0" i="0">
                <a:solidFill>
                  <a:srgbClr val="147D70"/>
                </a:solidFill>
              </a:rPr>
              <a:t>.72</a:t>
            </a:r>
          </a:p>
        </p:txBody>
      </p:sp>
      <p:sp>
        <p:nvSpPr>
          <p:cNvPr id="38" name="Rectangle 37">
            <a:extLst>
              <a:ext uri="{FF2B5EF4-FFF2-40B4-BE49-F238E27FC236}">
                <a16:creationId xmlns:a16="http://schemas.microsoft.com/office/drawing/2014/main" id="{F07E417F-33E3-474B-B66A-42B21167FACF}"/>
              </a:ext>
            </a:extLst>
          </p:cNvPr>
          <p:cNvSpPr>
            <a:spLocks noGrp="1"/>
          </p:cNvSpPr>
          <p:nvPr/>
        </p:nvSpPr>
        <p:spPr>
          <a:xfrm>
            <a:off x="4381500" y="4200524"/>
            <a:ext cx="1143000" cy="228600"/>
          </a:xfrm>
          <a:prstGeom prst="rect">
            <a:avLst/>
          </a:prstGeom>
          <a:noFill/>
          <a:ln w="0">
            <a:noFill/>
            <a:prstDash val="solid"/>
          </a:ln>
        </p:spPr>
        <p:txBody>
          <a:bodyPr anchor="t"/>
          <a:lstStyle/>
          <a:p>
            <a:pPr algn="l">
              <a:defRPr sz="1050" b="1" i="0">
                <a:solidFill>
                  <a:srgbClr val="234E8A"/>
                </a:solidFill>
              </a:defRPr>
            </a:pPr>
            <a:r>
              <a:rPr sz="1050" b="1" i="0">
                <a:solidFill>
                  <a:srgbClr val="234E8A"/>
                </a:solidFill>
              </a:rPr>
              <a:t>DEA Level 3</a:t>
            </a:r>
          </a:p>
        </p:txBody>
      </p:sp>
      <p:sp>
        <p:nvSpPr>
          <p:cNvPr id="39" name="Rectangle 38">
            <a:extLst>
              <a:ext uri="{FF2B5EF4-FFF2-40B4-BE49-F238E27FC236}">
                <a16:creationId xmlns:a16="http://schemas.microsoft.com/office/drawing/2014/main" id="{B0B2D69B-B1AD-4BAE-8234-8C972A1F93D6}"/>
              </a:ext>
            </a:extLst>
          </p:cNvPr>
          <p:cNvSpPr>
            <a:spLocks noGrp="1"/>
          </p:cNvSpPr>
          <p:nvPr/>
        </p:nvSpPr>
        <p:spPr>
          <a:xfrm>
            <a:off x="5524500" y="4219574"/>
            <a:ext cx="133350" cy="133350"/>
          </a:xfrm>
          <a:prstGeom prst="rect">
            <a:avLst/>
          </a:prstGeom>
          <a:solidFill>
            <a:srgbClr val="6A9E55"/>
          </a:solidFill>
          <a:ln w="0">
            <a:noFill/>
            <a:prstDash val="solid"/>
          </a:ln>
        </p:spPr>
        <p:txBody>
          <a:bodyPr/>
          <a:lstStyle/>
          <a:p>
            <a:endParaRPr lang="en-US"/>
          </a:p>
        </p:txBody>
      </p:sp>
      <p:sp>
        <p:nvSpPr>
          <p:cNvPr id="40" name="Rectangle 39">
            <a:extLst>
              <a:ext uri="{FF2B5EF4-FFF2-40B4-BE49-F238E27FC236}">
                <a16:creationId xmlns:a16="http://schemas.microsoft.com/office/drawing/2014/main" id="{63F7DC77-1D3B-4E6F-ADA8-DCE8DD79B21E}"/>
              </a:ext>
            </a:extLst>
          </p:cNvPr>
          <p:cNvSpPr>
            <a:spLocks noGrp="1"/>
          </p:cNvSpPr>
          <p:nvPr/>
        </p:nvSpPr>
        <p:spPr>
          <a:xfrm>
            <a:off x="5715000" y="4181474"/>
            <a:ext cx="590550" cy="209550"/>
          </a:xfrm>
          <a:prstGeom prst="rect">
            <a:avLst/>
          </a:prstGeom>
          <a:noFill/>
          <a:ln w="0">
            <a:noFill/>
            <a:prstDash val="solid"/>
          </a:ln>
        </p:spPr>
        <p:txBody>
          <a:bodyPr anchor="t"/>
          <a:lstStyle/>
          <a:p>
            <a:pPr algn="l">
              <a:defRPr sz="825" b="0" i="0">
                <a:solidFill>
                  <a:srgbClr val="5E6B75"/>
                </a:solidFill>
              </a:defRPr>
            </a:pPr>
            <a:r>
              <a:rPr sz="825" b="0" i="0">
                <a:solidFill>
                  <a:srgbClr val="5E6B75"/>
                </a:solidFill>
              </a:rPr>
              <a:t>Natural</a:t>
            </a:r>
          </a:p>
        </p:txBody>
      </p:sp>
      <p:sp>
        <p:nvSpPr>
          <p:cNvPr id="41" name="Rectangle 40">
            <a:extLst>
              <a:ext uri="{FF2B5EF4-FFF2-40B4-BE49-F238E27FC236}">
                <a16:creationId xmlns:a16="http://schemas.microsoft.com/office/drawing/2014/main" id="{B54D0738-D1B2-4408-89C4-26DA3484EBFF}"/>
              </a:ext>
            </a:extLst>
          </p:cNvPr>
          <p:cNvSpPr>
            <a:spLocks noGrp="1"/>
          </p:cNvSpPr>
          <p:nvPr/>
        </p:nvSpPr>
        <p:spPr>
          <a:xfrm>
            <a:off x="6315075" y="4219574"/>
            <a:ext cx="133350" cy="133350"/>
          </a:xfrm>
          <a:prstGeom prst="rect">
            <a:avLst/>
          </a:prstGeom>
          <a:solidFill>
            <a:srgbClr val="D4B246"/>
          </a:solidFill>
          <a:ln w="0">
            <a:noFill/>
            <a:prstDash val="solid"/>
          </a:ln>
        </p:spPr>
        <p:txBody>
          <a:bodyPr/>
          <a:lstStyle/>
          <a:p>
            <a:endParaRPr lang="en-US"/>
          </a:p>
        </p:txBody>
      </p:sp>
      <p:sp>
        <p:nvSpPr>
          <p:cNvPr id="42" name="Rectangle 41">
            <a:extLst>
              <a:ext uri="{FF2B5EF4-FFF2-40B4-BE49-F238E27FC236}">
                <a16:creationId xmlns:a16="http://schemas.microsoft.com/office/drawing/2014/main" id="{0678DA12-9FDB-498D-B634-D47ED9692C5E}"/>
              </a:ext>
            </a:extLst>
          </p:cNvPr>
          <p:cNvSpPr>
            <a:spLocks noGrp="1"/>
          </p:cNvSpPr>
          <p:nvPr/>
        </p:nvSpPr>
        <p:spPr>
          <a:xfrm>
            <a:off x="6505575" y="4181474"/>
            <a:ext cx="704850" cy="209550"/>
          </a:xfrm>
          <a:prstGeom prst="rect">
            <a:avLst/>
          </a:prstGeom>
          <a:noFill/>
          <a:ln w="0">
            <a:noFill/>
            <a:prstDash val="solid"/>
          </a:ln>
        </p:spPr>
        <p:txBody>
          <a:bodyPr anchor="t"/>
          <a:lstStyle/>
          <a:p>
            <a:pPr algn="l">
              <a:defRPr sz="825" b="0" i="0">
                <a:solidFill>
                  <a:srgbClr val="5E6B75"/>
                </a:solidFill>
              </a:defRPr>
            </a:pPr>
            <a:r>
              <a:rPr sz="825" b="0" i="0">
                <a:solidFill>
                  <a:srgbClr val="5E6B75"/>
                </a:solidFill>
              </a:rPr>
              <a:t>Cultivated</a:t>
            </a:r>
          </a:p>
        </p:txBody>
      </p:sp>
      <p:sp>
        <p:nvSpPr>
          <p:cNvPr id="43" name="Rectangle 42">
            <a:extLst>
              <a:ext uri="{FF2B5EF4-FFF2-40B4-BE49-F238E27FC236}">
                <a16:creationId xmlns:a16="http://schemas.microsoft.com/office/drawing/2014/main" id="{E3BC341E-3AE2-428F-8C54-E2CFD8DE4516}"/>
              </a:ext>
            </a:extLst>
          </p:cNvPr>
          <p:cNvSpPr>
            <a:spLocks noGrp="1"/>
          </p:cNvSpPr>
          <p:nvPr/>
        </p:nvSpPr>
        <p:spPr>
          <a:xfrm>
            <a:off x="6800850" y="4486274"/>
            <a:ext cx="876300" cy="209550"/>
          </a:xfrm>
          <a:prstGeom prst="rect">
            <a:avLst/>
          </a:prstGeom>
          <a:noFill/>
          <a:ln w="0">
            <a:noFill/>
            <a:prstDash val="solid"/>
          </a:ln>
        </p:spPr>
        <p:txBody>
          <a:bodyPr anchor="t"/>
          <a:lstStyle/>
          <a:p>
            <a:pPr algn="r">
              <a:defRPr sz="900" b="1" i="0">
                <a:solidFill>
                  <a:srgbClr val="147D70"/>
                </a:solidFill>
              </a:defRPr>
            </a:pPr>
            <a:r>
              <a:rPr sz="900" b="1" i="0">
                <a:solidFill>
                  <a:srgbClr val="147D70"/>
                </a:solidFill>
              </a:rPr>
              <a:t>NDVI values</a:t>
            </a:r>
          </a:p>
        </p:txBody>
      </p:sp>
      <p:sp>
        <p:nvSpPr>
          <p:cNvPr id="44" name="Rectangle 43">
            <a:extLst>
              <a:ext uri="{FF2B5EF4-FFF2-40B4-BE49-F238E27FC236}">
                <a16:creationId xmlns:a16="http://schemas.microsoft.com/office/drawing/2014/main" id="{511C266C-0CA3-4D4E-BC34-F172A5616510}"/>
              </a:ext>
            </a:extLst>
          </p:cNvPr>
          <p:cNvSpPr>
            <a:spLocks noGrp="1"/>
          </p:cNvSpPr>
          <p:nvPr/>
        </p:nvSpPr>
        <p:spPr>
          <a:xfrm>
            <a:off x="9486900" y="2924174"/>
            <a:ext cx="1905000" cy="266700"/>
          </a:xfrm>
          <a:prstGeom prst="rect">
            <a:avLst/>
          </a:prstGeom>
          <a:noFill/>
          <a:ln w="0">
            <a:noFill/>
            <a:prstDash val="solid"/>
          </a:ln>
        </p:spPr>
        <p:txBody>
          <a:bodyPr anchor="t"/>
          <a:lstStyle/>
          <a:p>
            <a:pPr algn="ctr">
              <a:defRPr sz="1050" b="1" i="0">
                <a:solidFill>
                  <a:srgbClr val="147D70"/>
                </a:solidFill>
              </a:defRPr>
            </a:pPr>
            <a:r>
              <a:rPr sz="1050" b="1" i="0">
                <a:solidFill>
                  <a:srgbClr val="147D70"/>
                </a:solidFill>
              </a:rPr>
              <a:t>REGION SUMMARY</a:t>
            </a:r>
          </a:p>
        </p:txBody>
      </p:sp>
      <p:sp>
        <p:nvSpPr>
          <p:cNvPr id="45" name="Rectangle 44">
            <a:extLst>
              <a:ext uri="{FF2B5EF4-FFF2-40B4-BE49-F238E27FC236}">
                <a16:creationId xmlns:a16="http://schemas.microsoft.com/office/drawing/2014/main" id="{5D1B11A6-BB6E-4724-A8C9-B8A3B1A1F2D1}"/>
              </a:ext>
            </a:extLst>
          </p:cNvPr>
          <p:cNvSpPr>
            <a:spLocks noGrp="1"/>
          </p:cNvSpPr>
          <p:nvPr/>
        </p:nvSpPr>
        <p:spPr>
          <a:xfrm>
            <a:off x="9486900" y="3185972"/>
            <a:ext cx="1905000" cy="1009650"/>
          </a:xfrm>
          <a:prstGeom prst="rect">
            <a:avLst/>
          </a:prstGeom>
          <a:noFill/>
          <a:ln w="0">
            <a:noFill/>
            <a:prstDash val="solid"/>
          </a:ln>
        </p:spPr>
        <p:txBody>
          <a:bodyPr anchor="t"/>
          <a:lstStyle/>
          <a:p>
            <a:pPr algn="ctr">
              <a:lnSpc>
                <a:spcPct val="150000"/>
              </a:lnSpc>
              <a:defRPr sz="1200" b="1" i="0">
                <a:solidFill>
                  <a:srgbClr val="18232B"/>
                </a:solidFill>
              </a:defRPr>
            </a:pPr>
            <a:r>
              <a:rPr sz="1200" b="1" i="0" dirty="0">
                <a:solidFill>
                  <a:srgbClr val="18232B"/>
                </a:solidFill>
              </a:rPr>
              <a:t>Land-cover transition</a:t>
            </a:r>
          </a:p>
          <a:p>
            <a:pPr algn="ctr">
              <a:lnSpc>
                <a:spcPct val="150000"/>
              </a:lnSpc>
              <a:defRPr sz="1200" b="1" i="0">
                <a:solidFill>
                  <a:srgbClr val="18232B"/>
                </a:solidFill>
              </a:defRPr>
            </a:pPr>
            <a:r>
              <a:rPr sz="1200" b="1" i="0" dirty="0">
                <a:solidFill>
                  <a:srgbClr val="18232B"/>
                </a:solidFill>
              </a:rPr>
              <a:t>Vegetation direction</a:t>
            </a:r>
          </a:p>
          <a:p>
            <a:pPr algn="ctr">
              <a:lnSpc>
                <a:spcPct val="150000"/>
              </a:lnSpc>
              <a:defRPr sz="1200" b="1" i="0">
                <a:solidFill>
                  <a:srgbClr val="18232B"/>
                </a:solidFill>
              </a:defRPr>
            </a:pPr>
            <a:r>
              <a:rPr sz="1200" b="1" i="0" dirty="0">
                <a:solidFill>
                  <a:srgbClr val="18232B"/>
                </a:solidFill>
              </a:rPr>
              <a:t>First change year</a:t>
            </a:r>
          </a:p>
          <a:p>
            <a:pPr algn="ctr">
              <a:lnSpc>
                <a:spcPct val="150000"/>
              </a:lnSpc>
              <a:defRPr sz="1200" b="1" i="0">
                <a:solidFill>
                  <a:srgbClr val="18232B"/>
                </a:solidFill>
              </a:defRPr>
            </a:pPr>
            <a:r>
              <a:rPr sz="1200" b="1" i="0" dirty="0">
                <a:solidFill>
                  <a:srgbClr val="18232B"/>
                </a:solidFill>
              </a:rPr>
              <a:t>Annual history</a:t>
            </a:r>
          </a:p>
        </p:txBody>
      </p:sp>
      <p:sp>
        <p:nvSpPr>
          <p:cNvPr id="46" name="Rectangle 45">
            <a:extLst>
              <a:ext uri="{FF2B5EF4-FFF2-40B4-BE49-F238E27FC236}">
                <a16:creationId xmlns:a16="http://schemas.microsoft.com/office/drawing/2014/main" id="{D85B9CC0-27F8-416D-A11D-9D2EFC368A2C}"/>
              </a:ext>
            </a:extLst>
          </p:cNvPr>
          <p:cNvSpPr>
            <a:spLocks noGrp="1"/>
          </p:cNvSpPr>
          <p:nvPr/>
        </p:nvSpPr>
        <p:spPr>
          <a:xfrm>
            <a:off x="4057650" y="5114924"/>
            <a:ext cx="2095500" cy="228600"/>
          </a:xfrm>
          <a:prstGeom prst="rect">
            <a:avLst/>
          </a:prstGeom>
          <a:noFill/>
          <a:ln w="0">
            <a:noFill/>
            <a:prstDash val="solid"/>
          </a:ln>
        </p:spPr>
        <p:txBody>
          <a:bodyPr anchor="t"/>
          <a:lstStyle/>
          <a:p>
            <a:pPr algn="l">
              <a:defRPr sz="900" b="0" i="1">
                <a:solidFill>
                  <a:srgbClr val="5E6B75"/>
                </a:solidFill>
              </a:defRPr>
            </a:pPr>
            <a:r>
              <a:rPr sz="900" b="0" i="1">
                <a:solidFill>
                  <a:srgbClr val="5E6B75"/>
                </a:solidFill>
              </a:rPr>
              <a:t>Illustrative sequence</a:t>
            </a:r>
          </a:p>
        </p:txBody>
      </p:sp>
    </p:spTree>
    <p:extLst>
      <p:ext uri="{BB962C8B-B14F-4D97-AF65-F5344CB8AC3E}">
        <p14:creationId xmlns:p14="http://schemas.microsoft.com/office/powerpoint/2010/main" val="658006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3988C1DF-99F1-4F07-BACB-346A8BCB1112}"/>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METHOD 4</a:t>
            </a:r>
          </a:p>
        </p:txBody>
      </p:sp>
      <p:sp>
        <p:nvSpPr>
          <p:cNvPr id="2" name="slide-16-title">
            <a:extLst>
              <a:ext uri="{FF2B5EF4-FFF2-40B4-BE49-F238E27FC236}">
                <a16:creationId xmlns:a16="http://schemas.microsoft.com/office/drawing/2014/main" id="{E04817B1-DBC8-4EC7-ABED-42C78A84F412}"/>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A common 30 m grid aligns the evidence</a:t>
            </a:r>
          </a:p>
        </p:txBody>
      </p:sp>
      <p:sp>
        <p:nvSpPr>
          <p:cNvPr id="3" name="Straight Connector 2">
            <a:extLst>
              <a:ext uri="{FF2B5EF4-FFF2-40B4-BE49-F238E27FC236}">
                <a16:creationId xmlns:a16="http://schemas.microsoft.com/office/drawing/2014/main" id="{59615E7B-4EAD-4FD0-9FE8-372A4201968A}"/>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915CA65C-07B8-442E-A0F4-248F97CA576C}"/>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16</a:t>
            </a:r>
          </a:p>
        </p:txBody>
      </p:sp>
      <p:sp>
        <p:nvSpPr>
          <p:cNvPr id="5" name="Rectangle 4">
            <a:extLst>
              <a:ext uri="{FF2B5EF4-FFF2-40B4-BE49-F238E27FC236}">
                <a16:creationId xmlns:a16="http://schemas.microsoft.com/office/drawing/2014/main" id="{8BFED16D-D4FB-4514-9E23-541E8008524F}"/>
              </a:ext>
            </a:extLst>
          </p:cNvPr>
          <p:cNvSpPr>
            <a:spLocks noGrp="1"/>
          </p:cNvSpPr>
          <p:nvPr/>
        </p:nvSpPr>
        <p:spPr>
          <a:xfrm>
            <a:off x="800100" y="1619250"/>
            <a:ext cx="3143250" cy="285750"/>
          </a:xfrm>
          <a:prstGeom prst="rect">
            <a:avLst/>
          </a:prstGeom>
          <a:noFill/>
          <a:ln w="0">
            <a:noFill/>
            <a:prstDash val="solid"/>
          </a:ln>
        </p:spPr>
        <p:txBody>
          <a:bodyPr anchor="t"/>
          <a:lstStyle/>
          <a:p>
            <a:pPr algn="ctr">
              <a:defRPr sz="1500" b="1" i="0">
                <a:solidFill>
                  <a:srgbClr val="D48728"/>
                </a:solidFill>
              </a:defRPr>
            </a:pPr>
            <a:r>
              <a:rPr sz="1500" b="1" i="0">
                <a:solidFill>
                  <a:srgbClr val="D48728"/>
                </a:solidFill>
              </a:rPr>
              <a:t>Original embedding cells</a:t>
            </a:r>
          </a:p>
        </p:txBody>
      </p:sp>
      <p:sp>
        <p:nvSpPr>
          <p:cNvPr id="6" name="Rectangle 5">
            <a:extLst>
              <a:ext uri="{FF2B5EF4-FFF2-40B4-BE49-F238E27FC236}">
                <a16:creationId xmlns:a16="http://schemas.microsoft.com/office/drawing/2014/main" id="{8971B202-9920-4492-97F1-FFBE60A3EFD1}"/>
              </a:ext>
            </a:extLst>
          </p:cNvPr>
          <p:cNvSpPr>
            <a:spLocks noGrp="1"/>
          </p:cNvSpPr>
          <p:nvPr/>
        </p:nvSpPr>
        <p:spPr>
          <a:xfrm>
            <a:off x="1066800" y="2190750"/>
            <a:ext cx="628650" cy="628650"/>
          </a:xfrm>
          <a:prstGeom prst="rect">
            <a:avLst/>
          </a:prstGeom>
          <a:solidFill>
            <a:srgbClr val="F7EAD8"/>
          </a:solidFill>
          <a:ln w="9525">
            <a:solidFill>
              <a:srgbClr val="D48728"/>
            </a:solidFill>
            <a:prstDash val="solid"/>
          </a:ln>
        </p:spPr>
        <p:txBody>
          <a:bodyPr/>
          <a:lstStyle/>
          <a:p>
            <a:endParaRPr lang="en-US"/>
          </a:p>
        </p:txBody>
      </p:sp>
      <p:sp>
        <p:nvSpPr>
          <p:cNvPr id="7" name="Rectangle 6">
            <a:extLst>
              <a:ext uri="{FF2B5EF4-FFF2-40B4-BE49-F238E27FC236}">
                <a16:creationId xmlns:a16="http://schemas.microsoft.com/office/drawing/2014/main" id="{E85340D7-03B9-4A60-8819-B59B0E364316}"/>
              </a:ext>
            </a:extLst>
          </p:cNvPr>
          <p:cNvSpPr>
            <a:spLocks noGrp="1"/>
          </p:cNvSpPr>
          <p:nvPr/>
        </p:nvSpPr>
        <p:spPr>
          <a:xfrm>
            <a:off x="1066800" y="239077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0.21</a:t>
            </a:r>
          </a:p>
        </p:txBody>
      </p:sp>
      <p:sp>
        <p:nvSpPr>
          <p:cNvPr id="8" name="Rectangle 7">
            <a:extLst>
              <a:ext uri="{FF2B5EF4-FFF2-40B4-BE49-F238E27FC236}">
                <a16:creationId xmlns:a16="http://schemas.microsoft.com/office/drawing/2014/main" id="{26ED79BE-B232-41AD-B709-3DBA01B0FF66}"/>
              </a:ext>
            </a:extLst>
          </p:cNvPr>
          <p:cNvSpPr>
            <a:spLocks noGrp="1"/>
          </p:cNvSpPr>
          <p:nvPr/>
        </p:nvSpPr>
        <p:spPr>
          <a:xfrm>
            <a:off x="1733550" y="2190750"/>
            <a:ext cx="628650" cy="628650"/>
          </a:xfrm>
          <a:prstGeom prst="rect">
            <a:avLst/>
          </a:prstGeom>
          <a:solidFill>
            <a:srgbClr val="F7EAD8"/>
          </a:solidFill>
          <a:ln w="9525">
            <a:solidFill>
              <a:srgbClr val="D48728"/>
            </a:solidFill>
            <a:prstDash val="solid"/>
          </a:ln>
        </p:spPr>
        <p:txBody>
          <a:bodyPr/>
          <a:lstStyle/>
          <a:p>
            <a:endParaRPr lang="en-US"/>
          </a:p>
        </p:txBody>
      </p:sp>
      <p:sp>
        <p:nvSpPr>
          <p:cNvPr id="9" name="Rectangle 8">
            <a:extLst>
              <a:ext uri="{FF2B5EF4-FFF2-40B4-BE49-F238E27FC236}">
                <a16:creationId xmlns:a16="http://schemas.microsoft.com/office/drawing/2014/main" id="{993703A8-997D-423A-83EE-5A390217B70E}"/>
              </a:ext>
            </a:extLst>
          </p:cNvPr>
          <p:cNvSpPr>
            <a:spLocks noGrp="1"/>
          </p:cNvSpPr>
          <p:nvPr/>
        </p:nvSpPr>
        <p:spPr>
          <a:xfrm>
            <a:off x="1733550" y="239077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0.24</a:t>
            </a:r>
          </a:p>
        </p:txBody>
      </p:sp>
      <p:sp>
        <p:nvSpPr>
          <p:cNvPr id="10" name="Rectangle 9">
            <a:extLst>
              <a:ext uri="{FF2B5EF4-FFF2-40B4-BE49-F238E27FC236}">
                <a16:creationId xmlns:a16="http://schemas.microsoft.com/office/drawing/2014/main" id="{2F695715-6E45-4EC0-9C2E-FD19A95F9EE3}"/>
              </a:ext>
            </a:extLst>
          </p:cNvPr>
          <p:cNvSpPr>
            <a:spLocks noGrp="1"/>
          </p:cNvSpPr>
          <p:nvPr/>
        </p:nvSpPr>
        <p:spPr>
          <a:xfrm>
            <a:off x="2400300" y="2190750"/>
            <a:ext cx="628650" cy="628650"/>
          </a:xfrm>
          <a:prstGeom prst="rect">
            <a:avLst/>
          </a:prstGeom>
          <a:solidFill>
            <a:srgbClr val="F7EAD8"/>
          </a:solidFill>
          <a:ln w="9525">
            <a:solidFill>
              <a:srgbClr val="D48728"/>
            </a:solidFill>
            <a:prstDash val="solid"/>
          </a:ln>
        </p:spPr>
        <p:txBody>
          <a:bodyPr/>
          <a:lstStyle/>
          <a:p>
            <a:endParaRPr lang="en-US"/>
          </a:p>
        </p:txBody>
      </p:sp>
      <p:sp>
        <p:nvSpPr>
          <p:cNvPr id="11" name="Rectangle 10">
            <a:extLst>
              <a:ext uri="{FF2B5EF4-FFF2-40B4-BE49-F238E27FC236}">
                <a16:creationId xmlns:a16="http://schemas.microsoft.com/office/drawing/2014/main" id="{F816094C-D144-4A07-B6BA-B3B95CA199AD}"/>
              </a:ext>
            </a:extLst>
          </p:cNvPr>
          <p:cNvSpPr>
            <a:spLocks noGrp="1"/>
          </p:cNvSpPr>
          <p:nvPr/>
        </p:nvSpPr>
        <p:spPr>
          <a:xfrm>
            <a:off x="2400300" y="239077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0.26</a:t>
            </a:r>
          </a:p>
        </p:txBody>
      </p:sp>
      <p:sp>
        <p:nvSpPr>
          <p:cNvPr id="12" name="Rectangle 11">
            <a:extLst>
              <a:ext uri="{FF2B5EF4-FFF2-40B4-BE49-F238E27FC236}">
                <a16:creationId xmlns:a16="http://schemas.microsoft.com/office/drawing/2014/main" id="{3AF71EA1-9F14-4E62-AB54-E607DB149CBF}"/>
              </a:ext>
            </a:extLst>
          </p:cNvPr>
          <p:cNvSpPr>
            <a:spLocks noGrp="1"/>
          </p:cNvSpPr>
          <p:nvPr/>
        </p:nvSpPr>
        <p:spPr>
          <a:xfrm>
            <a:off x="1066800" y="2857500"/>
            <a:ext cx="628650" cy="628650"/>
          </a:xfrm>
          <a:prstGeom prst="rect">
            <a:avLst/>
          </a:prstGeom>
          <a:solidFill>
            <a:srgbClr val="F7EAD8"/>
          </a:solidFill>
          <a:ln w="9525">
            <a:solidFill>
              <a:srgbClr val="D48728"/>
            </a:solidFill>
            <a:prstDash val="solid"/>
          </a:ln>
        </p:spPr>
        <p:txBody>
          <a:bodyPr/>
          <a:lstStyle/>
          <a:p>
            <a:endParaRPr lang="en-US"/>
          </a:p>
        </p:txBody>
      </p:sp>
      <p:sp>
        <p:nvSpPr>
          <p:cNvPr id="13" name="Rectangle 12">
            <a:extLst>
              <a:ext uri="{FF2B5EF4-FFF2-40B4-BE49-F238E27FC236}">
                <a16:creationId xmlns:a16="http://schemas.microsoft.com/office/drawing/2014/main" id="{23012754-5922-4FD7-BE08-8BC44FA203A1}"/>
              </a:ext>
            </a:extLst>
          </p:cNvPr>
          <p:cNvSpPr>
            <a:spLocks noGrp="1"/>
          </p:cNvSpPr>
          <p:nvPr/>
        </p:nvSpPr>
        <p:spPr>
          <a:xfrm>
            <a:off x="1066800" y="305752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0.18</a:t>
            </a:r>
          </a:p>
        </p:txBody>
      </p:sp>
      <p:sp>
        <p:nvSpPr>
          <p:cNvPr id="14" name="Rectangle 13">
            <a:extLst>
              <a:ext uri="{FF2B5EF4-FFF2-40B4-BE49-F238E27FC236}">
                <a16:creationId xmlns:a16="http://schemas.microsoft.com/office/drawing/2014/main" id="{9F39523E-9CB8-4CAF-9F12-68BD10705B2D}"/>
              </a:ext>
            </a:extLst>
          </p:cNvPr>
          <p:cNvSpPr>
            <a:spLocks noGrp="1"/>
          </p:cNvSpPr>
          <p:nvPr/>
        </p:nvSpPr>
        <p:spPr>
          <a:xfrm>
            <a:off x="1733550" y="2857500"/>
            <a:ext cx="628650" cy="628650"/>
          </a:xfrm>
          <a:prstGeom prst="rect">
            <a:avLst/>
          </a:prstGeom>
          <a:solidFill>
            <a:srgbClr val="F5E3E7"/>
          </a:solidFill>
          <a:ln w="9525">
            <a:solidFill>
              <a:srgbClr val="AD354A"/>
            </a:solidFill>
            <a:prstDash val="solid"/>
          </a:ln>
        </p:spPr>
        <p:txBody>
          <a:bodyPr/>
          <a:lstStyle/>
          <a:p>
            <a:endParaRPr lang="en-US"/>
          </a:p>
        </p:txBody>
      </p:sp>
      <p:sp>
        <p:nvSpPr>
          <p:cNvPr id="15" name="Rectangle 14">
            <a:extLst>
              <a:ext uri="{FF2B5EF4-FFF2-40B4-BE49-F238E27FC236}">
                <a16:creationId xmlns:a16="http://schemas.microsoft.com/office/drawing/2014/main" id="{1D65FAB2-A31E-44DF-B95D-8A8509257633}"/>
              </a:ext>
            </a:extLst>
          </p:cNvPr>
          <p:cNvSpPr>
            <a:spLocks noGrp="1"/>
          </p:cNvSpPr>
          <p:nvPr/>
        </p:nvSpPr>
        <p:spPr>
          <a:xfrm>
            <a:off x="1733550" y="305752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0.48</a:t>
            </a:r>
          </a:p>
        </p:txBody>
      </p:sp>
      <p:sp>
        <p:nvSpPr>
          <p:cNvPr id="16" name="Rectangle 15">
            <a:extLst>
              <a:ext uri="{FF2B5EF4-FFF2-40B4-BE49-F238E27FC236}">
                <a16:creationId xmlns:a16="http://schemas.microsoft.com/office/drawing/2014/main" id="{0CAD326A-D5C3-470E-815D-60F9DC9811E8}"/>
              </a:ext>
            </a:extLst>
          </p:cNvPr>
          <p:cNvSpPr>
            <a:spLocks noGrp="1"/>
          </p:cNvSpPr>
          <p:nvPr/>
        </p:nvSpPr>
        <p:spPr>
          <a:xfrm>
            <a:off x="2400300" y="2857500"/>
            <a:ext cx="628650" cy="628650"/>
          </a:xfrm>
          <a:prstGeom prst="rect">
            <a:avLst/>
          </a:prstGeom>
          <a:solidFill>
            <a:srgbClr val="F5E3E7"/>
          </a:solidFill>
          <a:ln w="9525">
            <a:solidFill>
              <a:srgbClr val="AD354A"/>
            </a:solidFill>
            <a:prstDash val="solid"/>
          </a:ln>
        </p:spPr>
        <p:txBody>
          <a:bodyPr/>
          <a:lstStyle/>
          <a:p>
            <a:endParaRPr lang="en-US"/>
          </a:p>
        </p:txBody>
      </p:sp>
      <p:sp>
        <p:nvSpPr>
          <p:cNvPr id="17" name="Rectangle 16">
            <a:extLst>
              <a:ext uri="{FF2B5EF4-FFF2-40B4-BE49-F238E27FC236}">
                <a16:creationId xmlns:a16="http://schemas.microsoft.com/office/drawing/2014/main" id="{CB7ADFF3-C333-4F45-81C3-CC6272E68DD1}"/>
              </a:ext>
            </a:extLst>
          </p:cNvPr>
          <p:cNvSpPr>
            <a:spLocks noGrp="1"/>
          </p:cNvSpPr>
          <p:nvPr/>
        </p:nvSpPr>
        <p:spPr>
          <a:xfrm>
            <a:off x="2400300" y="305752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0.52</a:t>
            </a:r>
          </a:p>
        </p:txBody>
      </p:sp>
      <p:sp>
        <p:nvSpPr>
          <p:cNvPr id="18" name="Rectangle 17">
            <a:extLst>
              <a:ext uri="{FF2B5EF4-FFF2-40B4-BE49-F238E27FC236}">
                <a16:creationId xmlns:a16="http://schemas.microsoft.com/office/drawing/2014/main" id="{1D55F3FA-056B-45F0-8C34-501F7FDB6190}"/>
              </a:ext>
            </a:extLst>
          </p:cNvPr>
          <p:cNvSpPr>
            <a:spLocks noGrp="1"/>
          </p:cNvSpPr>
          <p:nvPr/>
        </p:nvSpPr>
        <p:spPr>
          <a:xfrm>
            <a:off x="1066800" y="3524250"/>
            <a:ext cx="628650" cy="628650"/>
          </a:xfrm>
          <a:prstGeom prst="rect">
            <a:avLst/>
          </a:prstGeom>
          <a:solidFill>
            <a:srgbClr val="F7EAD8"/>
          </a:solidFill>
          <a:ln w="9525">
            <a:solidFill>
              <a:srgbClr val="D48728"/>
            </a:solidFill>
            <a:prstDash val="solid"/>
          </a:ln>
        </p:spPr>
        <p:txBody>
          <a:bodyPr/>
          <a:lstStyle/>
          <a:p>
            <a:endParaRPr lang="en-US"/>
          </a:p>
        </p:txBody>
      </p:sp>
      <p:sp>
        <p:nvSpPr>
          <p:cNvPr id="19" name="Rectangle 18">
            <a:extLst>
              <a:ext uri="{FF2B5EF4-FFF2-40B4-BE49-F238E27FC236}">
                <a16:creationId xmlns:a16="http://schemas.microsoft.com/office/drawing/2014/main" id="{C7AF571A-4AF7-4794-9542-AC3A5C07E9B2}"/>
              </a:ext>
            </a:extLst>
          </p:cNvPr>
          <p:cNvSpPr>
            <a:spLocks noGrp="1"/>
          </p:cNvSpPr>
          <p:nvPr/>
        </p:nvSpPr>
        <p:spPr>
          <a:xfrm>
            <a:off x="1066800" y="372427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0.16</a:t>
            </a:r>
          </a:p>
        </p:txBody>
      </p:sp>
      <p:sp>
        <p:nvSpPr>
          <p:cNvPr id="20" name="Rectangle 19">
            <a:extLst>
              <a:ext uri="{FF2B5EF4-FFF2-40B4-BE49-F238E27FC236}">
                <a16:creationId xmlns:a16="http://schemas.microsoft.com/office/drawing/2014/main" id="{FB58C31A-C2F3-4B7B-9255-20D6885FD623}"/>
              </a:ext>
            </a:extLst>
          </p:cNvPr>
          <p:cNvSpPr>
            <a:spLocks noGrp="1"/>
          </p:cNvSpPr>
          <p:nvPr/>
        </p:nvSpPr>
        <p:spPr>
          <a:xfrm>
            <a:off x="1733550" y="3524250"/>
            <a:ext cx="628650" cy="628650"/>
          </a:xfrm>
          <a:prstGeom prst="rect">
            <a:avLst/>
          </a:prstGeom>
          <a:solidFill>
            <a:srgbClr val="F7EAD8"/>
          </a:solidFill>
          <a:ln w="9525">
            <a:solidFill>
              <a:srgbClr val="D48728"/>
            </a:solidFill>
            <a:prstDash val="solid"/>
          </a:ln>
        </p:spPr>
        <p:txBody>
          <a:bodyPr/>
          <a:lstStyle/>
          <a:p>
            <a:endParaRPr lang="en-US"/>
          </a:p>
        </p:txBody>
      </p:sp>
      <p:sp>
        <p:nvSpPr>
          <p:cNvPr id="21" name="Rectangle 20">
            <a:extLst>
              <a:ext uri="{FF2B5EF4-FFF2-40B4-BE49-F238E27FC236}">
                <a16:creationId xmlns:a16="http://schemas.microsoft.com/office/drawing/2014/main" id="{4E411558-75F8-47F9-BEDE-F57B67FC2D53}"/>
              </a:ext>
            </a:extLst>
          </p:cNvPr>
          <p:cNvSpPr>
            <a:spLocks noGrp="1"/>
          </p:cNvSpPr>
          <p:nvPr/>
        </p:nvSpPr>
        <p:spPr>
          <a:xfrm>
            <a:off x="1733550" y="372427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0.44</a:t>
            </a:r>
          </a:p>
        </p:txBody>
      </p:sp>
      <p:sp>
        <p:nvSpPr>
          <p:cNvPr id="22" name="Rectangle 21">
            <a:extLst>
              <a:ext uri="{FF2B5EF4-FFF2-40B4-BE49-F238E27FC236}">
                <a16:creationId xmlns:a16="http://schemas.microsoft.com/office/drawing/2014/main" id="{B9721E76-D799-4168-8D63-C4576DC70E02}"/>
              </a:ext>
            </a:extLst>
          </p:cNvPr>
          <p:cNvSpPr>
            <a:spLocks noGrp="1"/>
          </p:cNvSpPr>
          <p:nvPr/>
        </p:nvSpPr>
        <p:spPr>
          <a:xfrm>
            <a:off x="2400300" y="3524250"/>
            <a:ext cx="628650" cy="628650"/>
          </a:xfrm>
          <a:prstGeom prst="rect">
            <a:avLst/>
          </a:prstGeom>
          <a:solidFill>
            <a:srgbClr val="F5E3E7"/>
          </a:solidFill>
          <a:ln w="9525">
            <a:solidFill>
              <a:srgbClr val="AD354A"/>
            </a:solidFill>
            <a:prstDash val="solid"/>
          </a:ln>
        </p:spPr>
        <p:txBody>
          <a:bodyPr/>
          <a:lstStyle/>
          <a:p>
            <a:endParaRPr lang="en-US"/>
          </a:p>
        </p:txBody>
      </p:sp>
      <p:sp>
        <p:nvSpPr>
          <p:cNvPr id="23" name="Rectangle 22">
            <a:extLst>
              <a:ext uri="{FF2B5EF4-FFF2-40B4-BE49-F238E27FC236}">
                <a16:creationId xmlns:a16="http://schemas.microsoft.com/office/drawing/2014/main" id="{02B70ACC-6FDC-4061-93C4-E44EE9743EB0}"/>
              </a:ext>
            </a:extLst>
          </p:cNvPr>
          <p:cNvSpPr>
            <a:spLocks noGrp="1"/>
          </p:cNvSpPr>
          <p:nvPr/>
        </p:nvSpPr>
        <p:spPr>
          <a:xfrm>
            <a:off x="2400300" y="3724275"/>
            <a:ext cx="628650" cy="228600"/>
          </a:xfrm>
          <a:prstGeom prst="rect">
            <a:avLst/>
          </a:prstGeom>
          <a:noFill/>
          <a:ln w="0">
            <a:noFill/>
            <a:prstDash val="solid"/>
          </a:ln>
        </p:spPr>
        <p:txBody>
          <a:bodyPr anchor="t"/>
          <a:lstStyle/>
          <a:p>
            <a:pPr algn="ctr">
              <a:defRPr sz="1050" b="1" i="0">
                <a:solidFill>
                  <a:srgbClr val="18232B"/>
                </a:solidFill>
              </a:defRPr>
            </a:pPr>
            <a:r>
              <a:rPr sz="1050" b="1" i="0">
                <a:solidFill>
                  <a:srgbClr val="18232B"/>
                </a:solidFill>
              </a:rPr>
              <a:t>0.50</a:t>
            </a:r>
          </a:p>
        </p:txBody>
      </p:sp>
      <p:sp>
        <p:nvSpPr>
          <p:cNvPr id="24" name="Rectangle 23">
            <a:extLst>
              <a:ext uri="{FF2B5EF4-FFF2-40B4-BE49-F238E27FC236}">
                <a16:creationId xmlns:a16="http://schemas.microsoft.com/office/drawing/2014/main" id="{DF1B2FAE-C4A3-4E4D-BA42-27BA237471F6}"/>
              </a:ext>
            </a:extLst>
          </p:cNvPr>
          <p:cNvSpPr>
            <a:spLocks noGrp="1"/>
          </p:cNvSpPr>
          <p:nvPr/>
        </p:nvSpPr>
        <p:spPr>
          <a:xfrm>
            <a:off x="1066800" y="4400550"/>
            <a:ext cx="1962150" cy="247650"/>
          </a:xfrm>
          <a:prstGeom prst="rect">
            <a:avLst/>
          </a:prstGeom>
          <a:noFill/>
          <a:ln w="0">
            <a:noFill/>
            <a:prstDash val="solid"/>
          </a:ln>
        </p:spPr>
        <p:txBody>
          <a:bodyPr anchor="t"/>
          <a:lstStyle/>
          <a:p>
            <a:pPr algn="ctr">
              <a:defRPr sz="1275" b="0" i="0">
                <a:solidFill>
                  <a:srgbClr val="5E6B75"/>
                </a:solidFill>
              </a:defRPr>
            </a:pPr>
            <a:r>
              <a:rPr sz="1275" b="0" i="0">
                <a:solidFill>
                  <a:srgbClr val="5E6B75"/>
                </a:solidFill>
              </a:rPr>
              <a:t>3 × 3 cells at 10 m</a:t>
            </a:r>
          </a:p>
        </p:txBody>
      </p:sp>
      <p:sp>
        <p:nvSpPr>
          <p:cNvPr id="25" name="Rectangle 24">
            <a:extLst>
              <a:ext uri="{FF2B5EF4-FFF2-40B4-BE49-F238E27FC236}">
                <a16:creationId xmlns:a16="http://schemas.microsoft.com/office/drawing/2014/main" id="{6603E8B4-EA3D-43A8-A9D4-9B2B448AE739}"/>
              </a:ext>
            </a:extLst>
          </p:cNvPr>
          <p:cNvSpPr>
            <a:spLocks noGrp="1"/>
          </p:cNvSpPr>
          <p:nvPr/>
        </p:nvSpPr>
        <p:spPr>
          <a:xfrm>
            <a:off x="3905250" y="2762250"/>
            <a:ext cx="857250" cy="666750"/>
          </a:xfrm>
          <a:prstGeom prst="rect">
            <a:avLst/>
          </a:prstGeom>
          <a:noFill/>
          <a:ln w="0">
            <a:noFill/>
            <a:prstDash val="solid"/>
          </a:ln>
        </p:spPr>
        <p:txBody>
          <a:bodyPr anchor="t"/>
          <a:lstStyle/>
          <a:p>
            <a:pPr algn="ctr">
              <a:defRPr sz="3900" b="1" i="0">
                <a:solidFill>
                  <a:srgbClr val="147D70"/>
                </a:solidFill>
              </a:defRPr>
            </a:pPr>
            <a:r>
              <a:rPr sz="3900" b="1" i="0">
                <a:solidFill>
                  <a:srgbClr val="147D70"/>
                </a:solidFill>
              </a:rPr>
              <a:t>→</a:t>
            </a:r>
          </a:p>
        </p:txBody>
      </p:sp>
      <p:sp>
        <p:nvSpPr>
          <p:cNvPr id="26" name="Rounded Rectangle 25">
            <a:extLst>
              <a:ext uri="{FF2B5EF4-FFF2-40B4-BE49-F238E27FC236}">
                <a16:creationId xmlns:a16="http://schemas.microsoft.com/office/drawing/2014/main" id="{9DE7787D-5A61-47F4-A4AE-FD22929AFBF9}"/>
              </a:ext>
            </a:extLst>
          </p:cNvPr>
          <p:cNvSpPr>
            <a:spLocks noGrp="1"/>
          </p:cNvSpPr>
          <p:nvPr/>
        </p:nvSpPr>
        <p:spPr>
          <a:xfrm>
            <a:off x="5143500" y="2247900"/>
            <a:ext cx="2000250" cy="2000250"/>
          </a:xfrm>
          <a:prstGeom prst="roundRect">
            <a:avLst>
              <a:gd name="adj" fmla="val 3810"/>
            </a:avLst>
          </a:prstGeom>
          <a:solidFill>
            <a:srgbClr val="DDEFEA"/>
          </a:solidFill>
          <a:ln w="19050">
            <a:solidFill>
              <a:srgbClr val="147D70"/>
            </a:solidFill>
            <a:prstDash val="solid"/>
          </a:ln>
        </p:spPr>
        <p:txBody>
          <a:bodyPr/>
          <a:lstStyle/>
          <a:p>
            <a:endParaRPr lang="en-US"/>
          </a:p>
        </p:txBody>
      </p:sp>
      <p:sp>
        <p:nvSpPr>
          <p:cNvPr id="27" name="Rectangle 26">
            <a:extLst>
              <a:ext uri="{FF2B5EF4-FFF2-40B4-BE49-F238E27FC236}">
                <a16:creationId xmlns:a16="http://schemas.microsoft.com/office/drawing/2014/main" id="{6C53530C-D581-4F52-A1AF-AF2BA846D556}"/>
              </a:ext>
            </a:extLst>
          </p:cNvPr>
          <p:cNvSpPr>
            <a:spLocks noGrp="1"/>
          </p:cNvSpPr>
          <p:nvPr/>
        </p:nvSpPr>
        <p:spPr>
          <a:xfrm>
            <a:off x="5391150" y="2514600"/>
            <a:ext cx="1504950" cy="247650"/>
          </a:xfrm>
          <a:prstGeom prst="rect">
            <a:avLst/>
          </a:prstGeom>
          <a:noFill/>
          <a:ln w="0">
            <a:noFill/>
            <a:prstDash val="solid"/>
          </a:ln>
        </p:spPr>
        <p:txBody>
          <a:bodyPr anchor="t"/>
          <a:lstStyle/>
          <a:p>
            <a:pPr algn="ctr">
              <a:defRPr sz="1050" b="1" i="0">
                <a:solidFill>
                  <a:srgbClr val="147D70"/>
                </a:solidFill>
              </a:defRPr>
            </a:pPr>
            <a:r>
              <a:rPr sz="1050" b="1" i="0">
                <a:solidFill>
                  <a:srgbClr val="147D70"/>
                </a:solidFill>
              </a:rPr>
              <a:t>COMMON SUPPORT</a:t>
            </a:r>
          </a:p>
        </p:txBody>
      </p:sp>
      <p:sp>
        <p:nvSpPr>
          <p:cNvPr id="28" name="Rectangle 27">
            <a:extLst>
              <a:ext uri="{FF2B5EF4-FFF2-40B4-BE49-F238E27FC236}">
                <a16:creationId xmlns:a16="http://schemas.microsoft.com/office/drawing/2014/main" id="{65B44118-846E-4B6E-95D0-51F6EC3EE740}"/>
              </a:ext>
            </a:extLst>
          </p:cNvPr>
          <p:cNvSpPr>
            <a:spLocks noGrp="1"/>
          </p:cNvSpPr>
          <p:nvPr/>
        </p:nvSpPr>
        <p:spPr>
          <a:xfrm>
            <a:off x="5391150" y="3028950"/>
            <a:ext cx="1504950" cy="400050"/>
          </a:xfrm>
          <a:prstGeom prst="rect">
            <a:avLst/>
          </a:prstGeom>
          <a:noFill/>
          <a:ln w="0">
            <a:noFill/>
            <a:prstDash val="solid"/>
          </a:ln>
        </p:spPr>
        <p:txBody>
          <a:bodyPr anchor="t"/>
          <a:lstStyle/>
          <a:p>
            <a:pPr algn="ctr">
              <a:defRPr sz="2550" b="1" i="0">
                <a:solidFill>
                  <a:srgbClr val="08065C"/>
                </a:solidFill>
              </a:defRPr>
            </a:pPr>
            <a:r>
              <a:rPr sz="2550" b="1" i="0">
                <a:solidFill>
                  <a:srgbClr val="08065C"/>
                </a:solidFill>
              </a:rPr>
              <a:t>≈ 30 m</a:t>
            </a:r>
          </a:p>
        </p:txBody>
      </p:sp>
      <p:sp>
        <p:nvSpPr>
          <p:cNvPr id="29" name="Rectangle 28">
            <a:extLst>
              <a:ext uri="{FF2B5EF4-FFF2-40B4-BE49-F238E27FC236}">
                <a16:creationId xmlns:a16="http://schemas.microsoft.com/office/drawing/2014/main" id="{E11F1B6B-F7C9-467D-BAA7-6C58914E4D0D}"/>
              </a:ext>
            </a:extLst>
          </p:cNvPr>
          <p:cNvSpPr>
            <a:spLocks noGrp="1"/>
          </p:cNvSpPr>
          <p:nvPr/>
        </p:nvSpPr>
        <p:spPr>
          <a:xfrm>
            <a:off x="5391150" y="3467100"/>
            <a:ext cx="1504950" cy="590550"/>
          </a:xfrm>
          <a:prstGeom prst="rect">
            <a:avLst/>
          </a:prstGeom>
          <a:noFill/>
          <a:ln w="0">
            <a:noFill/>
            <a:prstDash val="solid"/>
          </a:ln>
        </p:spPr>
        <p:txBody>
          <a:bodyPr anchor="t"/>
          <a:lstStyle/>
          <a:p>
            <a:pPr algn="ctr">
              <a:defRPr sz="1050" b="0" i="0">
                <a:solidFill>
                  <a:srgbClr val="18232B"/>
                </a:solidFill>
              </a:defRPr>
            </a:pPr>
            <a:r>
              <a:rPr sz="1050" b="0" i="0">
                <a:solidFill>
                  <a:srgbClr val="18232B"/>
                </a:solidFill>
              </a:rPr>
              <a:t>Mean distance</a:t>
            </a:r>
          </a:p>
          <a:p>
            <a:pPr algn="ctr">
              <a:defRPr sz="1050" b="0" i="0">
                <a:solidFill>
                  <a:srgbClr val="18232B"/>
                </a:solidFill>
              </a:defRPr>
            </a:pPr>
            <a:r>
              <a:rPr sz="1050" b="0" i="0">
                <a:solidFill>
                  <a:srgbClr val="18232B"/>
                </a:solidFill>
              </a:rPr>
              <a:t>Hot-cell share</a:t>
            </a:r>
          </a:p>
          <a:p>
            <a:pPr algn="ctr">
              <a:defRPr sz="1050" b="0" i="0">
                <a:solidFill>
                  <a:srgbClr val="18232B"/>
                </a:solidFill>
              </a:defRPr>
            </a:pPr>
            <a:r>
              <a:rPr sz="1050" b="0" i="0">
                <a:solidFill>
                  <a:srgbClr val="18232B"/>
                </a:solidFill>
              </a:rPr>
              <a:t>Max persistence</a:t>
            </a:r>
          </a:p>
        </p:txBody>
      </p:sp>
      <p:sp>
        <p:nvSpPr>
          <p:cNvPr id="30" name="Rectangle 29">
            <a:extLst>
              <a:ext uri="{FF2B5EF4-FFF2-40B4-BE49-F238E27FC236}">
                <a16:creationId xmlns:a16="http://schemas.microsoft.com/office/drawing/2014/main" id="{E87510E8-1B81-408F-AB95-5B1167862C49}"/>
              </a:ext>
            </a:extLst>
          </p:cNvPr>
          <p:cNvSpPr>
            <a:spLocks noGrp="1"/>
          </p:cNvSpPr>
          <p:nvPr/>
        </p:nvSpPr>
        <p:spPr>
          <a:xfrm>
            <a:off x="7448550" y="2762250"/>
            <a:ext cx="857250" cy="666750"/>
          </a:xfrm>
          <a:prstGeom prst="rect">
            <a:avLst/>
          </a:prstGeom>
          <a:noFill/>
          <a:ln w="0">
            <a:noFill/>
            <a:prstDash val="solid"/>
          </a:ln>
        </p:spPr>
        <p:txBody>
          <a:bodyPr anchor="t"/>
          <a:lstStyle/>
          <a:p>
            <a:pPr algn="ctr">
              <a:defRPr sz="3900" b="1" i="0">
                <a:solidFill>
                  <a:srgbClr val="147D70"/>
                </a:solidFill>
              </a:defRPr>
            </a:pPr>
            <a:r>
              <a:rPr sz="3900" b="1" i="0">
                <a:solidFill>
                  <a:srgbClr val="147D70"/>
                </a:solidFill>
              </a:rPr>
              <a:t>→</a:t>
            </a:r>
          </a:p>
        </p:txBody>
      </p:sp>
      <p:sp>
        <p:nvSpPr>
          <p:cNvPr id="31" name="Rounded Rectangle 30">
            <a:extLst>
              <a:ext uri="{FF2B5EF4-FFF2-40B4-BE49-F238E27FC236}">
                <a16:creationId xmlns:a16="http://schemas.microsoft.com/office/drawing/2014/main" id="{A08BD84B-1A0E-4AD0-97EA-962F4EEFCBDA}"/>
              </a:ext>
            </a:extLst>
          </p:cNvPr>
          <p:cNvSpPr>
            <a:spLocks noGrp="1"/>
          </p:cNvSpPr>
          <p:nvPr/>
        </p:nvSpPr>
        <p:spPr>
          <a:xfrm>
            <a:off x="8667750" y="1885950"/>
            <a:ext cx="2762250" cy="2724150"/>
          </a:xfrm>
          <a:prstGeom prst="roundRect">
            <a:avLst>
              <a:gd name="adj" fmla="val 2797"/>
            </a:avLst>
          </a:prstGeom>
          <a:solidFill>
            <a:srgbClr val="FFFFFF"/>
          </a:solidFill>
          <a:ln w="14288">
            <a:solidFill>
              <a:srgbClr val="D4DDE2"/>
            </a:solidFill>
            <a:prstDash val="solid"/>
          </a:ln>
        </p:spPr>
        <p:txBody>
          <a:bodyPr/>
          <a:lstStyle/>
          <a:p>
            <a:endParaRPr lang="en-US"/>
          </a:p>
        </p:txBody>
      </p:sp>
      <p:sp>
        <p:nvSpPr>
          <p:cNvPr id="32" name="Rectangle 31">
            <a:extLst>
              <a:ext uri="{FF2B5EF4-FFF2-40B4-BE49-F238E27FC236}">
                <a16:creationId xmlns:a16="http://schemas.microsoft.com/office/drawing/2014/main" id="{C7E331FB-879C-4FCD-908B-F2DB54615EA8}"/>
              </a:ext>
            </a:extLst>
          </p:cNvPr>
          <p:cNvSpPr>
            <a:spLocks noGrp="1"/>
          </p:cNvSpPr>
          <p:nvPr/>
        </p:nvSpPr>
        <p:spPr>
          <a:xfrm>
            <a:off x="8915400" y="2133600"/>
            <a:ext cx="2266950" cy="266700"/>
          </a:xfrm>
          <a:prstGeom prst="rect">
            <a:avLst/>
          </a:prstGeom>
          <a:noFill/>
          <a:ln w="0">
            <a:noFill/>
            <a:prstDash val="solid"/>
          </a:ln>
        </p:spPr>
        <p:txBody>
          <a:bodyPr anchor="t"/>
          <a:lstStyle/>
          <a:p>
            <a:pPr algn="ctr">
              <a:defRPr sz="1125" b="1" i="0">
                <a:solidFill>
                  <a:srgbClr val="08065C"/>
                </a:solidFill>
              </a:defRPr>
            </a:pPr>
            <a:r>
              <a:rPr sz="1125" b="1" i="0">
                <a:solidFill>
                  <a:srgbClr val="08065C"/>
                </a:solidFill>
              </a:rPr>
              <a:t>ALIGNED CONTEXT</a:t>
            </a:r>
          </a:p>
        </p:txBody>
      </p:sp>
      <p:sp>
        <p:nvSpPr>
          <p:cNvPr id="33" name="Rectangle 32">
            <a:extLst>
              <a:ext uri="{FF2B5EF4-FFF2-40B4-BE49-F238E27FC236}">
                <a16:creationId xmlns:a16="http://schemas.microsoft.com/office/drawing/2014/main" id="{20FF1D5D-71BD-4A24-B8BF-EF31138B389A}"/>
              </a:ext>
            </a:extLst>
          </p:cNvPr>
          <p:cNvSpPr>
            <a:spLocks noGrp="1"/>
          </p:cNvSpPr>
          <p:nvPr/>
        </p:nvSpPr>
        <p:spPr>
          <a:xfrm>
            <a:off x="8915400" y="2686050"/>
            <a:ext cx="1238250" cy="266700"/>
          </a:xfrm>
          <a:prstGeom prst="rect">
            <a:avLst/>
          </a:prstGeom>
          <a:noFill/>
          <a:ln w="0">
            <a:noFill/>
            <a:prstDash val="solid"/>
          </a:ln>
        </p:spPr>
        <p:txBody>
          <a:bodyPr anchor="t"/>
          <a:lstStyle/>
          <a:p>
            <a:pPr algn="l">
              <a:defRPr sz="1275" b="1" i="0">
                <a:solidFill>
                  <a:srgbClr val="D48728"/>
                </a:solidFill>
              </a:defRPr>
            </a:pPr>
            <a:r>
              <a:rPr sz="1275" b="1" i="0">
                <a:solidFill>
                  <a:srgbClr val="D48728"/>
                </a:solidFill>
              </a:rPr>
              <a:t>Embedding</a:t>
            </a:r>
          </a:p>
        </p:txBody>
      </p:sp>
      <p:sp>
        <p:nvSpPr>
          <p:cNvPr id="34" name="Rectangle 33">
            <a:extLst>
              <a:ext uri="{FF2B5EF4-FFF2-40B4-BE49-F238E27FC236}">
                <a16:creationId xmlns:a16="http://schemas.microsoft.com/office/drawing/2014/main" id="{41AE881F-9FC9-4C9A-8685-58792FD9C2B6}"/>
              </a:ext>
            </a:extLst>
          </p:cNvPr>
          <p:cNvSpPr>
            <a:spLocks noGrp="1"/>
          </p:cNvSpPr>
          <p:nvPr/>
        </p:nvSpPr>
        <p:spPr>
          <a:xfrm>
            <a:off x="8915400" y="3181350"/>
            <a:ext cx="1238250" cy="266700"/>
          </a:xfrm>
          <a:prstGeom prst="rect">
            <a:avLst/>
          </a:prstGeom>
          <a:noFill/>
          <a:ln w="0">
            <a:noFill/>
            <a:prstDash val="solid"/>
          </a:ln>
        </p:spPr>
        <p:txBody>
          <a:bodyPr anchor="t"/>
          <a:lstStyle/>
          <a:p>
            <a:pPr algn="l">
              <a:defRPr sz="1275" b="1" i="0">
                <a:solidFill>
                  <a:srgbClr val="234E8A"/>
                </a:solidFill>
              </a:defRPr>
            </a:pPr>
            <a:r>
              <a:rPr sz="1275" b="1" i="0">
                <a:solidFill>
                  <a:srgbClr val="234E8A"/>
                </a:solidFill>
              </a:rPr>
              <a:t>DEA</a:t>
            </a:r>
          </a:p>
        </p:txBody>
      </p:sp>
      <p:sp>
        <p:nvSpPr>
          <p:cNvPr id="35" name="Rectangle 34">
            <a:extLst>
              <a:ext uri="{FF2B5EF4-FFF2-40B4-BE49-F238E27FC236}">
                <a16:creationId xmlns:a16="http://schemas.microsoft.com/office/drawing/2014/main" id="{6B67678D-353A-457D-BB79-ECD4AF2F795D}"/>
              </a:ext>
            </a:extLst>
          </p:cNvPr>
          <p:cNvSpPr>
            <a:spLocks noGrp="1"/>
          </p:cNvSpPr>
          <p:nvPr/>
        </p:nvSpPr>
        <p:spPr>
          <a:xfrm>
            <a:off x="8915400" y="3676650"/>
            <a:ext cx="1238250" cy="266700"/>
          </a:xfrm>
          <a:prstGeom prst="rect">
            <a:avLst/>
          </a:prstGeom>
          <a:noFill/>
          <a:ln w="0">
            <a:noFill/>
            <a:prstDash val="solid"/>
          </a:ln>
        </p:spPr>
        <p:txBody>
          <a:bodyPr anchor="t"/>
          <a:lstStyle/>
          <a:p>
            <a:pPr algn="l">
              <a:defRPr sz="1275" b="1" i="0">
                <a:solidFill>
                  <a:srgbClr val="147D70"/>
                </a:solidFill>
              </a:defRPr>
            </a:pPr>
            <a:r>
              <a:rPr sz="1275" b="1" i="0">
                <a:solidFill>
                  <a:srgbClr val="147D70"/>
                </a:solidFill>
              </a:rPr>
              <a:t>NDVI</a:t>
            </a:r>
          </a:p>
        </p:txBody>
      </p:sp>
      <p:sp>
        <p:nvSpPr>
          <p:cNvPr id="36" name="Rectangle 35">
            <a:extLst>
              <a:ext uri="{FF2B5EF4-FFF2-40B4-BE49-F238E27FC236}">
                <a16:creationId xmlns:a16="http://schemas.microsoft.com/office/drawing/2014/main" id="{2513E38A-7732-42B1-935B-88F662490949}"/>
              </a:ext>
            </a:extLst>
          </p:cNvPr>
          <p:cNvSpPr>
            <a:spLocks noGrp="1"/>
          </p:cNvSpPr>
          <p:nvPr/>
        </p:nvSpPr>
        <p:spPr>
          <a:xfrm>
            <a:off x="10096500" y="2686050"/>
            <a:ext cx="1085850" cy="266700"/>
          </a:xfrm>
          <a:prstGeom prst="rect">
            <a:avLst/>
          </a:prstGeom>
          <a:noFill/>
          <a:ln w="0">
            <a:noFill/>
            <a:prstDash val="solid"/>
          </a:ln>
        </p:spPr>
        <p:txBody>
          <a:bodyPr anchor="t"/>
          <a:lstStyle/>
          <a:p>
            <a:pPr algn="r">
              <a:defRPr sz="1200" b="0" i="0">
                <a:solidFill>
                  <a:srgbClr val="5E6B75"/>
                </a:solidFill>
              </a:defRPr>
            </a:pPr>
            <a:r>
              <a:rPr sz="1200" b="0" i="0">
                <a:solidFill>
                  <a:srgbClr val="5E6B75"/>
                </a:solidFill>
              </a:rPr>
              <a:t>same grid cell</a:t>
            </a:r>
          </a:p>
        </p:txBody>
      </p:sp>
      <p:sp>
        <p:nvSpPr>
          <p:cNvPr id="37" name="Rectangle 36">
            <a:extLst>
              <a:ext uri="{FF2B5EF4-FFF2-40B4-BE49-F238E27FC236}">
                <a16:creationId xmlns:a16="http://schemas.microsoft.com/office/drawing/2014/main" id="{34F5FEC0-D2DD-41C9-B8C4-CBE72938128A}"/>
              </a:ext>
            </a:extLst>
          </p:cNvPr>
          <p:cNvSpPr>
            <a:spLocks noGrp="1"/>
          </p:cNvSpPr>
          <p:nvPr/>
        </p:nvSpPr>
        <p:spPr>
          <a:xfrm>
            <a:off x="10096500" y="3181350"/>
            <a:ext cx="1085850" cy="266700"/>
          </a:xfrm>
          <a:prstGeom prst="rect">
            <a:avLst/>
          </a:prstGeom>
          <a:noFill/>
          <a:ln w="0">
            <a:noFill/>
            <a:prstDash val="solid"/>
          </a:ln>
        </p:spPr>
        <p:txBody>
          <a:bodyPr anchor="t"/>
          <a:lstStyle/>
          <a:p>
            <a:pPr algn="r">
              <a:defRPr sz="1200" b="0" i="0">
                <a:solidFill>
                  <a:srgbClr val="5E6B75"/>
                </a:solidFill>
              </a:defRPr>
            </a:pPr>
            <a:r>
              <a:rPr sz="1200" b="0" i="0">
                <a:solidFill>
                  <a:srgbClr val="5E6B75"/>
                </a:solidFill>
              </a:rPr>
              <a:t>same grid cell</a:t>
            </a:r>
          </a:p>
        </p:txBody>
      </p:sp>
      <p:sp>
        <p:nvSpPr>
          <p:cNvPr id="38" name="Rectangle 37">
            <a:extLst>
              <a:ext uri="{FF2B5EF4-FFF2-40B4-BE49-F238E27FC236}">
                <a16:creationId xmlns:a16="http://schemas.microsoft.com/office/drawing/2014/main" id="{6C4A98BB-07E1-4C00-810D-E7D13FD7A59B}"/>
              </a:ext>
            </a:extLst>
          </p:cNvPr>
          <p:cNvSpPr>
            <a:spLocks noGrp="1"/>
          </p:cNvSpPr>
          <p:nvPr/>
        </p:nvSpPr>
        <p:spPr>
          <a:xfrm>
            <a:off x="10096500" y="3676650"/>
            <a:ext cx="1085850" cy="266700"/>
          </a:xfrm>
          <a:prstGeom prst="rect">
            <a:avLst/>
          </a:prstGeom>
          <a:noFill/>
          <a:ln w="0">
            <a:noFill/>
            <a:prstDash val="solid"/>
          </a:ln>
        </p:spPr>
        <p:txBody>
          <a:bodyPr anchor="t"/>
          <a:lstStyle/>
          <a:p>
            <a:pPr algn="r">
              <a:defRPr sz="1200" b="0" i="0">
                <a:solidFill>
                  <a:srgbClr val="5E6B75"/>
                </a:solidFill>
              </a:defRPr>
            </a:pPr>
            <a:r>
              <a:rPr sz="1200" b="0" i="0">
                <a:solidFill>
                  <a:srgbClr val="5E6B75"/>
                </a:solidFill>
              </a:rPr>
              <a:t>same grid cell</a:t>
            </a:r>
          </a:p>
        </p:txBody>
      </p:sp>
      <p:sp>
        <p:nvSpPr>
          <p:cNvPr id="39" name="Rectangle 38">
            <a:extLst>
              <a:ext uri="{FF2B5EF4-FFF2-40B4-BE49-F238E27FC236}">
                <a16:creationId xmlns:a16="http://schemas.microsoft.com/office/drawing/2014/main" id="{EC9029AC-DDB6-49FE-8911-ECA804168629}"/>
              </a:ext>
            </a:extLst>
          </p:cNvPr>
          <p:cNvSpPr>
            <a:spLocks noGrp="1"/>
          </p:cNvSpPr>
          <p:nvPr/>
        </p:nvSpPr>
        <p:spPr>
          <a:xfrm>
            <a:off x="1733550" y="5219700"/>
            <a:ext cx="8724900" cy="552450"/>
          </a:xfrm>
          <a:prstGeom prst="rect">
            <a:avLst/>
          </a:prstGeom>
          <a:noFill/>
          <a:ln w="0">
            <a:noFill/>
            <a:prstDash val="solid"/>
          </a:ln>
        </p:spPr>
        <p:txBody>
          <a:bodyPr anchor="t"/>
          <a:lstStyle/>
          <a:p>
            <a:pPr algn="ctr">
              <a:defRPr sz="1725" b="1" i="0">
                <a:solidFill>
                  <a:srgbClr val="08065C"/>
                </a:solidFill>
              </a:defRPr>
            </a:pPr>
            <a:r>
              <a:rPr sz="1725" b="1" i="0">
                <a:solidFill>
                  <a:srgbClr val="08065C"/>
                </a:solidFill>
              </a:rPr>
              <a:t>The original 10 m rasters remain authoritative. The 30 m layer is a common comparison and delivery grid.</a:t>
            </a:r>
          </a:p>
        </p:txBody>
      </p:sp>
    </p:spTree>
    <p:extLst>
      <p:ext uri="{BB962C8B-B14F-4D97-AF65-F5344CB8AC3E}">
        <p14:creationId xmlns:p14="http://schemas.microsoft.com/office/powerpoint/2010/main" val="1282298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005956FE-9B0A-487E-9613-9B96245C93F7}"/>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METHOD 4</a:t>
            </a:r>
          </a:p>
        </p:txBody>
      </p:sp>
      <p:sp>
        <p:nvSpPr>
          <p:cNvPr id="2" name="slide-17-title">
            <a:extLst>
              <a:ext uri="{FF2B5EF4-FFF2-40B4-BE49-F238E27FC236}">
                <a16:creationId xmlns:a16="http://schemas.microsoft.com/office/drawing/2014/main" id="{FBEF7332-BC20-49E4-8432-0B7451B06FFF}"/>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Neighbouring cells become interactive landscape regions</a:t>
            </a:r>
          </a:p>
        </p:txBody>
      </p:sp>
      <p:sp>
        <p:nvSpPr>
          <p:cNvPr id="3" name="Straight Connector 2">
            <a:extLst>
              <a:ext uri="{FF2B5EF4-FFF2-40B4-BE49-F238E27FC236}">
                <a16:creationId xmlns:a16="http://schemas.microsoft.com/office/drawing/2014/main" id="{00022475-F56D-4B02-B03D-2AD7F02A19F7}"/>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3E0E807C-2F8F-4E4F-9F65-2FF9E3DBC75C}"/>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17</a:t>
            </a:r>
          </a:p>
        </p:txBody>
      </p:sp>
      <p:sp>
        <p:nvSpPr>
          <p:cNvPr id="5" name="Rectangle 4">
            <a:extLst>
              <a:ext uri="{FF2B5EF4-FFF2-40B4-BE49-F238E27FC236}">
                <a16:creationId xmlns:a16="http://schemas.microsoft.com/office/drawing/2014/main" id="{D61DF2D9-A25C-47A7-9769-E4805C57575F}"/>
              </a:ext>
            </a:extLst>
          </p:cNvPr>
          <p:cNvSpPr>
            <a:spLocks noGrp="1"/>
          </p:cNvSpPr>
          <p:nvPr/>
        </p:nvSpPr>
        <p:spPr>
          <a:xfrm>
            <a:off x="609600" y="1524000"/>
            <a:ext cx="2857500" cy="304800"/>
          </a:xfrm>
          <a:prstGeom prst="rect">
            <a:avLst/>
          </a:prstGeom>
          <a:noFill/>
          <a:ln w="0">
            <a:noFill/>
            <a:prstDash val="solid"/>
          </a:ln>
        </p:spPr>
        <p:txBody>
          <a:bodyPr anchor="t"/>
          <a:lstStyle/>
          <a:p>
            <a:pPr algn="ctr">
              <a:defRPr sz="1575" b="1" i="0">
                <a:solidFill>
                  <a:srgbClr val="D48728"/>
                </a:solidFill>
              </a:defRPr>
            </a:pPr>
            <a:r>
              <a:rPr sz="1575" b="1" i="0">
                <a:solidFill>
                  <a:srgbClr val="D48728"/>
                </a:solidFill>
              </a:rPr>
              <a:t>30 m change-state cells</a:t>
            </a:r>
          </a:p>
        </p:txBody>
      </p:sp>
      <p:sp>
        <p:nvSpPr>
          <p:cNvPr id="6" name="Rectangle 5">
            <a:extLst>
              <a:ext uri="{FF2B5EF4-FFF2-40B4-BE49-F238E27FC236}">
                <a16:creationId xmlns:a16="http://schemas.microsoft.com/office/drawing/2014/main" id="{FF73E614-C16A-489E-8B0A-1C5204DC07B8}"/>
              </a:ext>
            </a:extLst>
          </p:cNvPr>
          <p:cNvSpPr>
            <a:spLocks noGrp="1"/>
          </p:cNvSpPr>
          <p:nvPr/>
        </p:nvSpPr>
        <p:spPr>
          <a:xfrm>
            <a:off x="704850" y="1962150"/>
            <a:ext cx="333375" cy="333375"/>
          </a:xfrm>
          <a:prstGeom prst="rect">
            <a:avLst/>
          </a:prstGeom>
          <a:solidFill>
            <a:srgbClr val="EEF2F4"/>
          </a:solidFill>
          <a:ln w="9525">
            <a:solidFill>
              <a:srgbClr val="FFFFFF"/>
            </a:solidFill>
            <a:prstDash val="solid"/>
          </a:ln>
        </p:spPr>
        <p:txBody>
          <a:bodyPr/>
          <a:lstStyle/>
          <a:p>
            <a:endParaRPr lang="en-US"/>
          </a:p>
        </p:txBody>
      </p:sp>
      <p:sp>
        <p:nvSpPr>
          <p:cNvPr id="7" name="Rectangle 6">
            <a:extLst>
              <a:ext uri="{FF2B5EF4-FFF2-40B4-BE49-F238E27FC236}">
                <a16:creationId xmlns:a16="http://schemas.microsoft.com/office/drawing/2014/main" id="{4F7B3507-6464-423E-9188-39BDCDB9E5EB}"/>
              </a:ext>
            </a:extLst>
          </p:cNvPr>
          <p:cNvSpPr>
            <a:spLocks noGrp="1"/>
          </p:cNvSpPr>
          <p:nvPr/>
        </p:nvSpPr>
        <p:spPr>
          <a:xfrm>
            <a:off x="1066800" y="1962150"/>
            <a:ext cx="333375" cy="333375"/>
          </a:xfrm>
          <a:prstGeom prst="rect">
            <a:avLst/>
          </a:prstGeom>
          <a:solidFill>
            <a:srgbClr val="EEF2F4"/>
          </a:solidFill>
          <a:ln w="9525">
            <a:solidFill>
              <a:srgbClr val="FFFFFF"/>
            </a:solidFill>
            <a:prstDash val="solid"/>
          </a:ln>
        </p:spPr>
        <p:txBody>
          <a:bodyPr/>
          <a:lstStyle/>
          <a:p>
            <a:endParaRPr lang="en-US"/>
          </a:p>
        </p:txBody>
      </p:sp>
      <p:sp>
        <p:nvSpPr>
          <p:cNvPr id="8" name="Rectangle 7">
            <a:extLst>
              <a:ext uri="{FF2B5EF4-FFF2-40B4-BE49-F238E27FC236}">
                <a16:creationId xmlns:a16="http://schemas.microsoft.com/office/drawing/2014/main" id="{AB753758-4823-45D9-91AD-EE55125F3059}"/>
              </a:ext>
            </a:extLst>
          </p:cNvPr>
          <p:cNvSpPr>
            <a:spLocks noGrp="1"/>
          </p:cNvSpPr>
          <p:nvPr/>
        </p:nvSpPr>
        <p:spPr>
          <a:xfrm>
            <a:off x="1428750" y="1962150"/>
            <a:ext cx="333375" cy="333375"/>
          </a:xfrm>
          <a:prstGeom prst="rect">
            <a:avLst/>
          </a:prstGeom>
          <a:solidFill>
            <a:srgbClr val="AD354A"/>
          </a:solidFill>
          <a:ln w="9525">
            <a:solidFill>
              <a:srgbClr val="FFFFFF"/>
            </a:solidFill>
            <a:prstDash val="solid"/>
          </a:ln>
        </p:spPr>
        <p:txBody>
          <a:bodyPr/>
          <a:lstStyle/>
          <a:p>
            <a:endParaRPr lang="en-US"/>
          </a:p>
        </p:txBody>
      </p:sp>
      <p:sp>
        <p:nvSpPr>
          <p:cNvPr id="9" name="Rectangle 8">
            <a:extLst>
              <a:ext uri="{FF2B5EF4-FFF2-40B4-BE49-F238E27FC236}">
                <a16:creationId xmlns:a16="http://schemas.microsoft.com/office/drawing/2014/main" id="{729040AE-8A73-4CE5-A078-25A8D463E672}"/>
              </a:ext>
            </a:extLst>
          </p:cNvPr>
          <p:cNvSpPr>
            <a:spLocks noGrp="1"/>
          </p:cNvSpPr>
          <p:nvPr/>
        </p:nvSpPr>
        <p:spPr>
          <a:xfrm>
            <a:off x="1790700" y="1962150"/>
            <a:ext cx="333375" cy="333375"/>
          </a:xfrm>
          <a:prstGeom prst="rect">
            <a:avLst/>
          </a:prstGeom>
          <a:solidFill>
            <a:srgbClr val="AD354A"/>
          </a:solidFill>
          <a:ln w="9525">
            <a:solidFill>
              <a:srgbClr val="FFFFFF"/>
            </a:solidFill>
            <a:prstDash val="solid"/>
          </a:ln>
        </p:spPr>
        <p:txBody>
          <a:bodyPr/>
          <a:lstStyle/>
          <a:p>
            <a:endParaRPr lang="en-US"/>
          </a:p>
        </p:txBody>
      </p:sp>
      <p:sp>
        <p:nvSpPr>
          <p:cNvPr id="10" name="Rectangle 9">
            <a:extLst>
              <a:ext uri="{FF2B5EF4-FFF2-40B4-BE49-F238E27FC236}">
                <a16:creationId xmlns:a16="http://schemas.microsoft.com/office/drawing/2014/main" id="{072C8F50-CD3E-4FA6-A7CA-7FB9B92CF261}"/>
              </a:ext>
            </a:extLst>
          </p:cNvPr>
          <p:cNvSpPr>
            <a:spLocks noGrp="1"/>
          </p:cNvSpPr>
          <p:nvPr/>
        </p:nvSpPr>
        <p:spPr>
          <a:xfrm>
            <a:off x="2152650" y="1962150"/>
            <a:ext cx="333375" cy="333375"/>
          </a:xfrm>
          <a:prstGeom prst="rect">
            <a:avLst/>
          </a:prstGeom>
          <a:solidFill>
            <a:srgbClr val="EEF2F4"/>
          </a:solidFill>
          <a:ln w="9525">
            <a:solidFill>
              <a:srgbClr val="FFFFFF"/>
            </a:solidFill>
            <a:prstDash val="solid"/>
          </a:ln>
        </p:spPr>
        <p:txBody>
          <a:bodyPr/>
          <a:lstStyle/>
          <a:p>
            <a:endParaRPr lang="en-US"/>
          </a:p>
        </p:txBody>
      </p:sp>
      <p:sp>
        <p:nvSpPr>
          <p:cNvPr id="11" name="Rectangle 10">
            <a:extLst>
              <a:ext uri="{FF2B5EF4-FFF2-40B4-BE49-F238E27FC236}">
                <a16:creationId xmlns:a16="http://schemas.microsoft.com/office/drawing/2014/main" id="{232A425F-1F1E-479E-BAFC-3F1221856114}"/>
              </a:ext>
            </a:extLst>
          </p:cNvPr>
          <p:cNvSpPr>
            <a:spLocks noGrp="1"/>
          </p:cNvSpPr>
          <p:nvPr/>
        </p:nvSpPr>
        <p:spPr>
          <a:xfrm>
            <a:off x="2514600" y="1962150"/>
            <a:ext cx="333375" cy="333375"/>
          </a:xfrm>
          <a:prstGeom prst="rect">
            <a:avLst/>
          </a:prstGeom>
          <a:solidFill>
            <a:srgbClr val="EEF2F4"/>
          </a:solidFill>
          <a:ln w="9525">
            <a:solidFill>
              <a:srgbClr val="FFFFFF"/>
            </a:solidFill>
            <a:prstDash val="solid"/>
          </a:ln>
        </p:spPr>
        <p:txBody>
          <a:bodyPr/>
          <a:lstStyle/>
          <a:p>
            <a:endParaRPr lang="en-US"/>
          </a:p>
        </p:txBody>
      </p:sp>
      <p:sp>
        <p:nvSpPr>
          <p:cNvPr id="12" name="Rectangle 11">
            <a:extLst>
              <a:ext uri="{FF2B5EF4-FFF2-40B4-BE49-F238E27FC236}">
                <a16:creationId xmlns:a16="http://schemas.microsoft.com/office/drawing/2014/main" id="{FD1C3C0B-C789-4283-AFB7-9E1E3825A688}"/>
              </a:ext>
            </a:extLst>
          </p:cNvPr>
          <p:cNvSpPr>
            <a:spLocks noGrp="1"/>
          </p:cNvSpPr>
          <p:nvPr/>
        </p:nvSpPr>
        <p:spPr>
          <a:xfrm>
            <a:off x="704850" y="2324100"/>
            <a:ext cx="333375" cy="333375"/>
          </a:xfrm>
          <a:prstGeom prst="rect">
            <a:avLst/>
          </a:prstGeom>
          <a:solidFill>
            <a:srgbClr val="EEF2F4"/>
          </a:solidFill>
          <a:ln w="9525">
            <a:solidFill>
              <a:srgbClr val="FFFFFF"/>
            </a:solidFill>
            <a:prstDash val="solid"/>
          </a:ln>
        </p:spPr>
        <p:txBody>
          <a:bodyPr/>
          <a:lstStyle/>
          <a:p>
            <a:endParaRPr lang="en-US"/>
          </a:p>
        </p:txBody>
      </p:sp>
      <p:sp>
        <p:nvSpPr>
          <p:cNvPr id="13" name="Rectangle 12">
            <a:extLst>
              <a:ext uri="{FF2B5EF4-FFF2-40B4-BE49-F238E27FC236}">
                <a16:creationId xmlns:a16="http://schemas.microsoft.com/office/drawing/2014/main" id="{353263DA-CC7F-4616-A657-E5BBEF74D93C}"/>
              </a:ext>
            </a:extLst>
          </p:cNvPr>
          <p:cNvSpPr>
            <a:spLocks noGrp="1"/>
          </p:cNvSpPr>
          <p:nvPr/>
        </p:nvSpPr>
        <p:spPr>
          <a:xfrm>
            <a:off x="1066800" y="2324100"/>
            <a:ext cx="333375" cy="333375"/>
          </a:xfrm>
          <a:prstGeom prst="rect">
            <a:avLst/>
          </a:prstGeom>
          <a:solidFill>
            <a:srgbClr val="AD354A"/>
          </a:solidFill>
          <a:ln w="9525">
            <a:solidFill>
              <a:srgbClr val="FFFFFF"/>
            </a:solidFill>
            <a:prstDash val="solid"/>
          </a:ln>
        </p:spPr>
        <p:txBody>
          <a:bodyPr/>
          <a:lstStyle/>
          <a:p>
            <a:endParaRPr lang="en-US"/>
          </a:p>
        </p:txBody>
      </p:sp>
      <p:sp>
        <p:nvSpPr>
          <p:cNvPr id="14" name="Rectangle 13">
            <a:extLst>
              <a:ext uri="{FF2B5EF4-FFF2-40B4-BE49-F238E27FC236}">
                <a16:creationId xmlns:a16="http://schemas.microsoft.com/office/drawing/2014/main" id="{2F70A454-89BD-4786-9292-280D8E809BCA}"/>
              </a:ext>
            </a:extLst>
          </p:cNvPr>
          <p:cNvSpPr>
            <a:spLocks noGrp="1"/>
          </p:cNvSpPr>
          <p:nvPr/>
        </p:nvSpPr>
        <p:spPr>
          <a:xfrm>
            <a:off x="1428750" y="2324100"/>
            <a:ext cx="333375" cy="333375"/>
          </a:xfrm>
          <a:prstGeom prst="rect">
            <a:avLst/>
          </a:prstGeom>
          <a:solidFill>
            <a:srgbClr val="AD354A"/>
          </a:solidFill>
          <a:ln w="9525">
            <a:solidFill>
              <a:srgbClr val="FFFFFF"/>
            </a:solidFill>
            <a:prstDash val="solid"/>
          </a:ln>
        </p:spPr>
        <p:txBody>
          <a:bodyPr/>
          <a:lstStyle/>
          <a:p>
            <a:endParaRPr lang="en-US"/>
          </a:p>
        </p:txBody>
      </p:sp>
      <p:sp>
        <p:nvSpPr>
          <p:cNvPr id="15" name="Rectangle 14">
            <a:extLst>
              <a:ext uri="{FF2B5EF4-FFF2-40B4-BE49-F238E27FC236}">
                <a16:creationId xmlns:a16="http://schemas.microsoft.com/office/drawing/2014/main" id="{DE73E4D4-C15A-4D53-AF46-880B761CBFCC}"/>
              </a:ext>
            </a:extLst>
          </p:cNvPr>
          <p:cNvSpPr>
            <a:spLocks noGrp="1"/>
          </p:cNvSpPr>
          <p:nvPr/>
        </p:nvSpPr>
        <p:spPr>
          <a:xfrm>
            <a:off x="1790700" y="2324100"/>
            <a:ext cx="333375" cy="333375"/>
          </a:xfrm>
          <a:prstGeom prst="rect">
            <a:avLst/>
          </a:prstGeom>
          <a:solidFill>
            <a:srgbClr val="AD354A"/>
          </a:solidFill>
          <a:ln w="9525">
            <a:solidFill>
              <a:srgbClr val="FFFFFF"/>
            </a:solidFill>
            <a:prstDash val="solid"/>
          </a:ln>
        </p:spPr>
        <p:txBody>
          <a:bodyPr/>
          <a:lstStyle/>
          <a:p>
            <a:endParaRPr lang="en-US"/>
          </a:p>
        </p:txBody>
      </p:sp>
      <p:sp>
        <p:nvSpPr>
          <p:cNvPr id="16" name="Rectangle 15">
            <a:extLst>
              <a:ext uri="{FF2B5EF4-FFF2-40B4-BE49-F238E27FC236}">
                <a16:creationId xmlns:a16="http://schemas.microsoft.com/office/drawing/2014/main" id="{4E355008-3803-4720-9568-BF937A4569A0}"/>
              </a:ext>
            </a:extLst>
          </p:cNvPr>
          <p:cNvSpPr>
            <a:spLocks noGrp="1"/>
          </p:cNvSpPr>
          <p:nvPr/>
        </p:nvSpPr>
        <p:spPr>
          <a:xfrm>
            <a:off x="2152650" y="2324100"/>
            <a:ext cx="333375" cy="333375"/>
          </a:xfrm>
          <a:prstGeom prst="rect">
            <a:avLst/>
          </a:prstGeom>
          <a:solidFill>
            <a:srgbClr val="EEF2F4"/>
          </a:solidFill>
          <a:ln w="9525">
            <a:solidFill>
              <a:srgbClr val="FFFFFF"/>
            </a:solidFill>
            <a:prstDash val="solid"/>
          </a:ln>
        </p:spPr>
        <p:txBody>
          <a:bodyPr/>
          <a:lstStyle/>
          <a:p>
            <a:endParaRPr lang="en-US"/>
          </a:p>
        </p:txBody>
      </p:sp>
      <p:sp>
        <p:nvSpPr>
          <p:cNvPr id="17" name="Rectangle 16">
            <a:extLst>
              <a:ext uri="{FF2B5EF4-FFF2-40B4-BE49-F238E27FC236}">
                <a16:creationId xmlns:a16="http://schemas.microsoft.com/office/drawing/2014/main" id="{037074A6-A5EA-498D-93B2-F81927211670}"/>
              </a:ext>
            </a:extLst>
          </p:cNvPr>
          <p:cNvSpPr>
            <a:spLocks noGrp="1"/>
          </p:cNvSpPr>
          <p:nvPr/>
        </p:nvSpPr>
        <p:spPr>
          <a:xfrm>
            <a:off x="2514600" y="2324100"/>
            <a:ext cx="333375" cy="333375"/>
          </a:xfrm>
          <a:prstGeom prst="rect">
            <a:avLst/>
          </a:prstGeom>
          <a:solidFill>
            <a:srgbClr val="EEF2F4"/>
          </a:solidFill>
          <a:ln w="9525">
            <a:solidFill>
              <a:srgbClr val="FFFFFF"/>
            </a:solidFill>
            <a:prstDash val="solid"/>
          </a:ln>
        </p:spPr>
        <p:txBody>
          <a:bodyPr/>
          <a:lstStyle/>
          <a:p>
            <a:endParaRPr lang="en-US"/>
          </a:p>
        </p:txBody>
      </p:sp>
      <p:sp>
        <p:nvSpPr>
          <p:cNvPr id="18" name="Rectangle 17">
            <a:extLst>
              <a:ext uri="{FF2B5EF4-FFF2-40B4-BE49-F238E27FC236}">
                <a16:creationId xmlns:a16="http://schemas.microsoft.com/office/drawing/2014/main" id="{E12C1702-A833-4913-B4DF-0970D7DD76B0}"/>
              </a:ext>
            </a:extLst>
          </p:cNvPr>
          <p:cNvSpPr>
            <a:spLocks noGrp="1"/>
          </p:cNvSpPr>
          <p:nvPr/>
        </p:nvSpPr>
        <p:spPr>
          <a:xfrm>
            <a:off x="704850" y="2686050"/>
            <a:ext cx="333375" cy="333375"/>
          </a:xfrm>
          <a:prstGeom prst="rect">
            <a:avLst/>
          </a:prstGeom>
          <a:solidFill>
            <a:srgbClr val="EEF2F4"/>
          </a:solidFill>
          <a:ln w="9525">
            <a:solidFill>
              <a:srgbClr val="FFFFFF"/>
            </a:solidFill>
            <a:prstDash val="solid"/>
          </a:ln>
        </p:spPr>
        <p:txBody>
          <a:bodyPr/>
          <a:lstStyle/>
          <a:p>
            <a:endParaRPr lang="en-US"/>
          </a:p>
        </p:txBody>
      </p:sp>
      <p:sp>
        <p:nvSpPr>
          <p:cNvPr id="19" name="Rectangle 18">
            <a:extLst>
              <a:ext uri="{FF2B5EF4-FFF2-40B4-BE49-F238E27FC236}">
                <a16:creationId xmlns:a16="http://schemas.microsoft.com/office/drawing/2014/main" id="{E567594A-CC9F-408F-A5B4-CB1D45746E02}"/>
              </a:ext>
            </a:extLst>
          </p:cNvPr>
          <p:cNvSpPr>
            <a:spLocks noGrp="1"/>
          </p:cNvSpPr>
          <p:nvPr/>
        </p:nvSpPr>
        <p:spPr>
          <a:xfrm>
            <a:off x="1066800" y="2686050"/>
            <a:ext cx="333375" cy="333375"/>
          </a:xfrm>
          <a:prstGeom prst="rect">
            <a:avLst/>
          </a:prstGeom>
          <a:solidFill>
            <a:srgbClr val="AD354A"/>
          </a:solidFill>
          <a:ln w="9525">
            <a:solidFill>
              <a:srgbClr val="FFFFFF"/>
            </a:solidFill>
            <a:prstDash val="solid"/>
          </a:ln>
        </p:spPr>
        <p:txBody>
          <a:bodyPr/>
          <a:lstStyle/>
          <a:p>
            <a:endParaRPr lang="en-US"/>
          </a:p>
        </p:txBody>
      </p:sp>
      <p:sp>
        <p:nvSpPr>
          <p:cNvPr id="20" name="Rectangle 19">
            <a:extLst>
              <a:ext uri="{FF2B5EF4-FFF2-40B4-BE49-F238E27FC236}">
                <a16:creationId xmlns:a16="http://schemas.microsoft.com/office/drawing/2014/main" id="{06CB7B85-4AA6-4D6B-B4D6-6180E9D69D90}"/>
              </a:ext>
            </a:extLst>
          </p:cNvPr>
          <p:cNvSpPr>
            <a:spLocks noGrp="1"/>
          </p:cNvSpPr>
          <p:nvPr/>
        </p:nvSpPr>
        <p:spPr>
          <a:xfrm>
            <a:off x="1428750" y="2686050"/>
            <a:ext cx="333375" cy="333375"/>
          </a:xfrm>
          <a:prstGeom prst="rect">
            <a:avLst/>
          </a:prstGeom>
          <a:solidFill>
            <a:srgbClr val="AD354A"/>
          </a:solidFill>
          <a:ln w="9525">
            <a:solidFill>
              <a:srgbClr val="FFFFFF"/>
            </a:solidFill>
            <a:prstDash val="solid"/>
          </a:ln>
        </p:spPr>
        <p:txBody>
          <a:bodyPr/>
          <a:lstStyle/>
          <a:p>
            <a:endParaRPr lang="en-US"/>
          </a:p>
        </p:txBody>
      </p:sp>
      <p:sp>
        <p:nvSpPr>
          <p:cNvPr id="21" name="Rectangle 20">
            <a:extLst>
              <a:ext uri="{FF2B5EF4-FFF2-40B4-BE49-F238E27FC236}">
                <a16:creationId xmlns:a16="http://schemas.microsoft.com/office/drawing/2014/main" id="{2B373CAE-DD72-4650-9CAA-65AC4202374D}"/>
              </a:ext>
            </a:extLst>
          </p:cNvPr>
          <p:cNvSpPr>
            <a:spLocks noGrp="1"/>
          </p:cNvSpPr>
          <p:nvPr/>
        </p:nvSpPr>
        <p:spPr>
          <a:xfrm>
            <a:off x="1790700" y="2686050"/>
            <a:ext cx="333375" cy="333375"/>
          </a:xfrm>
          <a:prstGeom prst="rect">
            <a:avLst/>
          </a:prstGeom>
          <a:solidFill>
            <a:srgbClr val="EEF2F4"/>
          </a:solidFill>
          <a:ln w="9525">
            <a:solidFill>
              <a:srgbClr val="FFFFFF"/>
            </a:solidFill>
            <a:prstDash val="solid"/>
          </a:ln>
        </p:spPr>
        <p:txBody>
          <a:bodyPr/>
          <a:lstStyle/>
          <a:p>
            <a:endParaRPr lang="en-US"/>
          </a:p>
        </p:txBody>
      </p:sp>
      <p:sp>
        <p:nvSpPr>
          <p:cNvPr id="22" name="Rectangle 21">
            <a:extLst>
              <a:ext uri="{FF2B5EF4-FFF2-40B4-BE49-F238E27FC236}">
                <a16:creationId xmlns:a16="http://schemas.microsoft.com/office/drawing/2014/main" id="{55F9602C-4EA0-4430-8D65-1E9E748110A6}"/>
              </a:ext>
            </a:extLst>
          </p:cNvPr>
          <p:cNvSpPr>
            <a:spLocks noGrp="1"/>
          </p:cNvSpPr>
          <p:nvPr/>
        </p:nvSpPr>
        <p:spPr>
          <a:xfrm>
            <a:off x="2152650" y="2686050"/>
            <a:ext cx="333375" cy="333375"/>
          </a:xfrm>
          <a:prstGeom prst="rect">
            <a:avLst/>
          </a:prstGeom>
          <a:solidFill>
            <a:srgbClr val="EEF2F4"/>
          </a:solidFill>
          <a:ln w="9525">
            <a:solidFill>
              <a:srgbClr val="FFFFFF"/>
            </a:solidFill>
            <a:prstDash val="solid"/>
          </a:ln>
        </p:spPr>
        <p:txBody>
          <a:bodyPr/>
          <a:lstStyle/>
          <a:p>
            <a:endParaRPr lang="en-US"/>
          </a:p>
        </p:txBody>
      </p:sp>
      <p:sp>
        <p:nvSpPr>
          <p:cNvPr id="23" name="Rectangle 22">
            <a:extLst>
              <a:ext uri="{FF2B5EF4-FFF2-40B4-BE49-F238E27FC236}">
                <a16:creationId xmlns:a16="http://schemas.microsoft.com/office/drawing/2014/main" id="{2547FC93-A4CF-4E6A-BBE1-622B572C679D}"/>
              </a:ext>
            </a:extLst>
          </p:cNvPr>
          <p:cNvSpPr>
            <a:spLocks noGrp="1"/>
          </p:cNvSpPr>
          <p:nvPr/>
        </p:nvSpPr>
        <p:spPr>
          <a:xfrm>
            <a:off x="2514600" y="2686050"/>
            <a:ext cx="333375" cy="333375"/>
          </a:xfrm>
          <a:prstGeom prst="rect">
            <a:avLst/>
          </a:prstGeom>
          <a:solidFill>
            <a:srgbClr val="AD354A"/>
          </a:solidFill>
          <a:ln w="9525">
            <a:solidFill>
              <a:srgbClr val="FFFFFF"/>
            </a:solidFill>
            <a:prstDash val="solid"/>
          </a:ln>
        </p:spPr>
        <p:txBody>
          <a:bodyPr/>
          <a:lstStyle/>
          <a:p>
            <a:endParaRPr lang="en-US"/>
          </a:p>
        </p:txBody>
      </p:sp>
      <p:sp>
        <p:nvSpPr>
          <p:cNvPr id="24" name="Rectangle 23">
            <a:extLst>
              <a:ext uri="{FF2B5EF4-FFF2-40B4-BE49-F238E27FC236}">
                <a16:creationId xmlns:a16="http://schemas.microsoft.com/office/drawing/2014/main" id="{FE16D64B-8444-4091-A5B5-453687FFA557}"/>
              </a:ext>
            </a:extLst>
          </p:cNvPr>
          <p:cNvSpPr>
            <a:spLocks noGrp="1"/>
          </p:cNvSpPr>
          <p:nvPr/>
        </p:nvSpPr>
        <p:spPr>
          <a:xfrm>
            <a:off x="704850" y="3048000"/>
            <a:ext cx="333375" cy="333375"/>
          </a:xfrm>
          <a:prstGeom prst="rect">
            <a:avLst/>
          </a:prstGeom>
          <a:solidFill>
            <a:srgbClr val="EEF2F4"/>
          </a:solidFill>
          <a:ln w="9525">
            <a:solidFill>
              <a:srgbClr val="FFFFFF"/>
            </a:solidFill>
            <a:prstDash val="solid"/>
          </a:ln>
        </p:spPr>
        <p:txBody>
          <a:bodyPr/>
          <a:lstStyle/>
          <a:p>
            <a:endParaRPr lang="en-US"/>
          </a:p>
        </p:txBody>
      </p:sp>
      <p:sp>
        <p:nvSpPr>
          <p:cNvPr id="25" name="Rectangle 24">
            <a:extLst>
              <a:ext uri="{FF2B5EF4-FFF2-40B4-BE49-F238E27FC236}">
                <a16:creationId xmlns:a16="http://schemas.microsoft.com/office/drawing/2014/main" id="{882F472E-A153-4FE3-A695-A78497B35C36}"/>
              </a:ext>
            </a:extLst>
          </p:cNvPr>
          <p:cNvSpPr>
            <a:spLocks noGrp="1"/>
          </p:cNvSpPr>
          <p:nvPr/>
        </p:nvSpPr>
        <p:spPr>
          <a:xfrm>
            <a:off x="1066800" y="3048000"/>
            <a:ext cx="333375" cy="333375"/>
          </a:xfrm>
          <a:prstGeom prst="rect">
            <a:avLst/>
          </a:prstGeom>
          <a:solidFill>
            <a:srgbClr val="EEF2F4"/>
          </a:solidFill>
          <a:ln w="9525">
            <a:solidFill>
              <a:srgbClr val="FFFFFF"/>
            </a:solidFill>
            <a:prstDash val="solid"/>
          </a:ln>
        </p:spPr>
        <p:txBody>
          <a:bodyPr/>
          <a:lstStyle/>
          <a:p>
            <a:endParaRPr lang="en-US"/>
          </a:p>
        </p:txBody>
      </p:sp>
      <p:sp>
        <p:nvSpPr>
          <p:cNvPr id="26" name="Rectangle 25">
            <a:extLst>
              <a:ext uri="{FF2B5EF4-FFF2-40B4-BE49-F238E27FC236}">
                <a16:creationId xmlns:a16="http://schemas.microsoft.com/office/drawing/2014/main" id="{A89CDF62-1E0E-46A3-B2BB-01D1618233C2}"/>
              </a:ext>
            </a:extLst>
          </p:cNvPr>
          <p:cNvSpPr>
            <a:spLocks noGrp="1"/>
          </p:cNvSpPr>
          <p:nvPr/>
        </p:nvSpPr>
        <p:spPr>
          <a:xfrm>
            <a:off x="1428750" y="3048000"/>
            <a:ext cx="333375" cy="333375"/>
          </a:xfrm>
          <a:prstGeom prst="rect">
            <a:avLst/>
          </a:prstGeom>
          <a:solidFill>
            <a:srgbClr val="EEF2F4"/>
          </a:solidFill>
          <a:ln w="9525">
            <a:solidFill>
              <a:srgbClr val="FFFFFF"/>
            </a:solidFill>
            <a:prstDash val="solid"/>
          </a:ln>
        </p:spPr>
        <p:txBody>
          <a:bodyPr/>
          <a:lstStyle/>
          <a:p>
            <a:endParaRPr lang="en-US"/>
          </a:p>
        </p:txBody>
      </p:sp>
      <p:sp>
        <p:nvSpPr>
          <p:cNvPr id="27" name="Rectangle 26">
            <a:extLst>
              <a:ext uri="{FF2B5EF4-FFF2-40B4-BE49-F238E27FC236}">
                <a16:creationId xmlns:a16="http://schemas.microsoft.com/office/drawing/2014/main" id="{85E88AC0-0DE9-4DCB-8F1D-087BB1AC85B6}"/>
              </a:ext>
            </a:extLst>
          </p:cNvPr>
          <p:cNvSpPr>
            <a:spLocks noGrp="1"/>
          </p:cNvSpPr>
          <p:nvPr/>
        </p:nvSpPr>
        <p:spPr>
          <a:xfrm>
            <a:off x="1790700" y="3048000"/>
            <a:ext cx="333375" cy="333375"/>
          </a:xfrm>
          <a:prstGeom prst="rect">
            <a:avLst/>
          </a:prstGeom>
          <a:solidFill>
            <a:srgbClr val="EEF2F4"/>
          </a:solidFill>
          <a:ln w="9525">
            <a:solidFill>
              <a:srgbClr val="FFFFFF"/>
            </a:solidFill>
            <a:prstDash val="solid"/>
          </a:ln>
        </p:spPr>
        <p:txBody>
          <a:bodyPr/>
          <a:lstStyle/>
          <a:p>
            <a:endParaRPr lang="en-US"/>
          </a:p>
        </p:txBody>
      </p:sp>
      <p:sp>
        <p:nvSpPr>
          <p:cNvPr id="28" name="Rectangle 27">
            <a:extLst>
              <a:ext uri="{FF2B5EF4-FFF2-40B4-BE49-F238E27FC236}">
                <a16:creationId xmlns:a16="http://schemas.microsoft.com/office/drawing/2014/main" id="{A8A0298D-3DAE-4C9D-BE2A-DC4BB633A9A1}"/>
              </a:ext>
            </a:extLst>
          </p:cNvPr>
          <p:cNvSpPr>
            <a:spLocks noGrp="1"/>
          </p:cNvSpPr>
          <p:nvPr/>
        </p:nvSpPr>
        <p:spPr>
          <a:xfrm>
            <a:off x="2152650" y="3048000"/>
            <a:ext cx="333375" cy="333375"/>
          </a:xfrm>
          <a:prstGeom prst="rect">
            <a:avLst/>
          </a:prstGeom>
          <a:solidFill>
            <a:srgbClr val="AD354A"/>
          </a:solidFill>
          <a:ln w="9525">
            <a:solidFill>
              <a:srgbClr val="FFFFFF"/>
            </a:solidFill>
            <a:prstDash val="solid"/>
          </a:ln>
        </p:spPr>
        <p:txBody>
          <a:bodyPr/>
          <a:lstStyle/>
          <a:p>
            <a:endParaRPr lang="en-US"/>
          </a:p>
        </p:txBody>
      </p:sp>
      <p:sp>
        <p:nvSpPr>
          <p:cNvPr id="29" name="Rectangle 28">
            <a:extLst>
              <a:ext uri="{FF2B5EF4-FFF2-40B4-BE49-F238E27FC236}">
                <a16:creationId xmlns:a16="http://schemas.microsoft.com/office/drawing/2014/main" id="{29FE7F8A-E385-4EDF-AD62-9C332EBEFDE4}"/>
              </a:ext>
            </a:extLst>
          </p:cNvPr>
          <p:cNvSpPr>
            <a:spLocks noGrp="1"/>
          </p:cNvSpPr>
          <p:nvPr/>
        </p:nvSpPr>
        <p:spPr>
          <a:xfrm>
            <a:off x="2514600" y="3048000"/>
            <a:ext cx="333375" cy="333375"/>
          </a:xfrm>
          <a:prstGeom prst="rect">
            <a:avLst/>
          </a:prstGeom>
          <a:solidFill>
            <a:srgbClr val="AD354A"/>
          </a:solidFill>
          <a:ln w="9525">
            <a:solidFill>
              <a:srgbClr val="FFFFFF"/>
            </a:solidFill>
            <a:prstDash val="solid"/>
          </a:ln>
        </p:spPr>
        <p:txBody>
          <a:bodyPr/>
          <a:lstStyle/>
          <a:p>
            <a:endParaRPr lang="en-US"/>
          </a:p>
        </p:txBody>
      </p:sp>
      <p:sp>
        <p:nvSpPr>
          <p:cNvPr id="30" name="Rectangle 29">
            <a:extLst>
              <a:ext uri="{FF2B5EF4-FFF2-40B4-BE49-F238E27FC236}">
                <a16:creationId xmlns:a16="http://schemas.microsoft.com/office/drawing/2014/main" id="{5BE614F2-2F87-4168-B6E2-B4C896164FBD}"/>
              </a:ext>
            </a:extLst>
          </p:cNvPr>
          <p:cNvSpPr>
            <a:spLocks noGrp="1"/>
          </p:cNvSpPr>
          <p:nvPr/>
        </p:nvSpPr>
        <p:spPr>
          <a:xfrm>
            <a:off x="704850" y="3409950"/>
            <a:ext cx="333375" cy="333375"/>
          </a:xfrm>
          <a:prstGeom prst="rect">
            <a:avLst/>
          </a:prstGeom>
          <a:solidFill>
            <a:srgbClr val="234E8A"/>
          </a:solidFill>
          <a:ln w="9525">
            <a:solidFill>
              <a:srgbClr val="FFFFFF"/>
            </a:solidFill>
            <a:prstDash val="solid"/>
          </a:ln>
        </p:spPr>
        <p:txBody>
          <a:bodyPr/>
          <a:lstStyle/>
          <a:p>
            <a:endParaRPr lang="en-US"/>
          </a:p>
        </p:txBody>
      </p:sp>
      <p:sp>
        <p:nvSpPr>
          <p:cNvPr id="31" name="Rectangle 30">
            <a:extLst>
              <a:ext uri="{FF2B5EF4-FFF2-40B4-BE49-F238E27FC236}">
                <a16:creationId xmlns:a16="http://schemas.microsoft.com/office/drawing/2014/main" id="{89CD1230-98B2-41F9-88B6-FB521852D546}"/>
              </a:ext>
            </a:extLst>
          </p:cNvPr>
          <p:cNvSpPr>
            <a:spLocks noGrp="1"/>
          </p:cNvSpPr>
          <p:nvPr/>
        </p:nvSpPr>
        <p:spPr>
          <a:xfrm>
            <a:off x="1066800" y="3409950"/>
            <a:ext cx="333375" cy="333375"/>
          </a:xfrm>
          <a:prstGeom prst="rect">
            <a:avLst/>
          </a:prstGeom>
          <a:solidFill>
            <a:srgbClr val="234E8A"/>
          </a:solidFill>
          <a:ln w="9525">
            <a:solidFill>
              <a:srgbClr val="FFFFFF"/>
            </a:solidFill>
            <a:prstDash val="solid"/>
          </a:ln>
        </p:spPr>
        <p:txBody>
          <a:bodyPr/>
          <a:lstStyle/>
          <a:p>
            <a:endParaRPr lang="en-US"/>
          </a:p>
        </p:txBody>
      </p:sp>
      <p:sp>
        <p:nvSpPr>
          <p:cNvPr id="32" name="Rectangle 31">
            <a:extLst>
              <a:ext uri="{FF2B5EF4-FFF2-40B4-BE49-F238E27FC236}">
                <a16:creationId xmlns:a16="http://schemas.microsoft.com/office/drawing/2014/main" id="{396002D9-A126-4884-B9ED-18C9E4894296}"/>
              </a:ext>
            </a:extLst>
          </p:cNvPr>
          <p:cNvSpPr>
            <a:spLocks noGrp="1"/>
          </p:cNvSpPr>
          <p:nvPr/>
        </p:nvSpPr>
        <p:spPr>
          <a:xfrm>
            <a:off x="1428750" y="3409950"/>
            <a:ext cx="333375" cy="333375"/>
          </a:xfrm>
          <a:prstGeom prst="rect">
            <a:avLst/>
          </a:prstGeom>
          <a:solidFill>
            <a:srgbClr val="EEF2F4"/>
          </a:solidFill>
          <a:ln w="9525">
            <a:solidFill>
              <a:srgbClr val="FFFFFF"/>
            </a:solidFill>
            <a:prstDash val="solid"/>
          </a:ln>
        </p:spPr>
        <p:txBody>
          <a:bodyPr/>
          <a:lstStyle/>
          <a:p>
            <a:endParaRPr lang="en-US"/>
          </a:p>
        </p:txBody>
      </p:sp>
      <p:sp>
        <p:nvSpPr>
          <p:cNvPr id="33" name="Rectangle 32">
            <a:extLst>
              <a:ext uri="{FF2B5EF4-FFF2-40B4-BE49-F238E27FC236}">
                <a16:creationId xmlns:a16="http://schemas.microsoft.com/office/drawing/2014/main" id="{77F6D9C7-8B32-437E-B4AA-8BE8878C57CA}"/>
              </a:ext>
            </a:extLst>
          </p:cNvPr>
          <p:cNvSpPr>
            <a:spLocks noGrp="1"/>
          </p:cNvSpPr>
          <p:nvPr/>
        </p:nvSpPr>
        <p:spPr>
          <a:xfrm>
            <a:off x="1790700" y="3409950"/>
            <a:ext cx="333375" cy="333375"/>
          </a:xfrm>
          <a:prstGeom prst="rect">
            <a:avLst/>
          </a:prstGeom>
          <a:solidFill>
            <a:srgbClr val="EEF2F4"/>
          </a:solidFill>
          <a:ln w="9525">
            <a:solidFill>
              <a:srgbClr val="FFFFFF"/>
            </a:solidFill>
            <a:prstDash val="solid"/>
          </a:ln>
        </p:spPr>
        <p:txBody>
          <a:bodyPr/>
          <a:lstStyle/>
          <a:p>
            <a:endParaRPr lang="en-US"/>
          </a:p>
        </p:txBody>
      </p:sp>
      <p:sp>
        <p:nvSpPr>
          <p:cNvPr id="34" name="Rectangle 33">
            <a:extLst>
              <a:ext uri="{FF2B5EF4-FFF2-40B4-BE49-F238E27FC236}">
                <a16:creationId xmlns:a16="http://schemas.microsoft.com/office/drawing/2014/main" id="{68C24DBE-2035-4E29-827D-F48B9D5CD0E4}"/>
              </a:ext>
            </a:extLst>
          </p:cNvPr>
          <p:cNvSpPr>
            <a:spLocks noGrp="1"/>
          </p:cNvSpPr>
          <p:nvPr/>
        </p:nvSpPr>
        <p:spPr>
          <a:xfrm>
            <a:off x="2152650" y="3409950"/>
            <a:ext cx="333375" cy="333375"/>
          </a:xfrm>
          <a:prstGeom prst="rect">
            <a:avLst/>
          </a:prstGeom>
          <a:solidFill>
            <a:srgbClr val="AD354A"/>
          </a:solidFill>
          <a:ln w="9525">
            <a:solidFill>
              <a:srgbClr val="FFFFFF"/>
            </a:solidFill>
            <a:prstDash val="solid"/>
          </a:ln>
        </p:spPr>
        <p:txBody>
          <a:bodyPr/>
          <a:lstStyle/>
          <a:p>
            <a:endParaRPr lang="en-US"/>
          </a:p>
        </p:txBody>
      </p:sp>
      <p:sp>
        <p:nvSpPr>
          <p:cNvPr id="35" name="Rectangle 34">
            <a:extLst>
              <a:ext uri="{FF2B5EF4-FFF2-40B4-BE49-F238E27FC236}">
                <a16:creationId xmlns:a16="http://schemas.microsoft.com/office/drawing/2014/main" id="{269E1961-AC5A-464D-9C54-DFF2FE2B3965}"/>
              </a:ext>
            </a:extLst>
          </p:cNvPr>
          <p:cNvSpPr>
            <a:spLocks noGrp="1"/>
          </p:cNvSpPr>
          <p:nvPr/>
        </p:nvSpPr>
        <p:spPr>
          <a:xfrm>
            <a:off x="2514600" y="3409950"/>
            <a:ext cx="333375" cy="333375"/>
          </a:xfrm>
          <a:prstGeom prst="rect">
            <a:avLst/>
          </a:prstGeom>
          <a:solidFill>
            <a:srgbClr val="EEF2F4"/>
          </a:solidFill>
          <a:ln w="9525">
            <a:solidFill>
              <a:srgbClr val="FFFFFF"/>
            </a:solidFill>
            <a:prstDash val="solid"/>
          </a:ln>
        </p:spPr>
        <p:txBody>
          <a:bodyPr/>
          <a:lstStyle/>
          <a:p>
            <a:endParaRPr lang="en-US"/>
          </a:p>
        </p:txBody>
      </p:sp>
      <p:sp>
        <p:nvSpPr>
          <p:cNvPr id="36" name="Rectangle 35">
            <a:extLst>
              <a:ext uri="{FF2B5EF4-FFF2-40B4-BE49-F238E27FC236}">
                <a16:creationId xmlns:a16="http://schemas.microsoft.com/office/drawing/2014/main" id="{AB77FB7D-BA26-4FDF-B102-EC9D3830B469}"/>
              </a:ext>
            </a:extLst>
          </p:cNvPr>
          <p:cNvSpPr>
            <a:spLocks noGrp="1"/>
          </p:cNvSpPr>
          <p:nvPr/>
        </p:nvSpPr>
        <p:spPr>
          <a:xfrm>
            <a:off x="704850" y="4038600"/>
            <a:ext cx="2143125" cy="247650"/>
          </a:xfrm>
          <a:prstGeom prst="rect">
            <a:avLst/>
          </a:prstGeom>
          <a:noFill/>
          <a:ln w="0">
            <a:noFill/>
            <a:prstDash val="solid"/>
          </a:ln>
        </p:spPr>
        <p:txBody>
          <a:bodyPr anchor="t"/>
          <a:lstStyle/>
          <a:p>
            <a:pPr algn="ctr">
              <a:defRPr sz="1200" b="0" i="0">
                <a:solidFill>
                  <a:srgbClr val="AD354A"/>
                </a:solidFill>
              </a:defRPr>
            </a:pPr>
            <a:r>
              <a:rPr sz="1200" b="0" i="0">
                <a:solidFill>
                  <a:srgbClr val="AD354A"/>
                </a:solidFill>
              </a:rPr>
              <a:t>touching hot cells</a:t>
            </a:r>
          </a:p>
        </p:txBody>
      </p:sp>
      <p:sp>
        <p:nvSpPr>
          <p:cNvPr id="37" name="Rectangle 36">
            <a:extLst>
              <a:ext uri="{FF2B5EF4-FFF2-40B4-BE49-F238E27FC236}">
                <a16:creationId xmlns:a16="http://schemas.microsoft.com/office/drawing/2014/main" id="{38A1AF89-9605-45CD-961A-4FC8EE148B6B}"/>
              </a:ext>
            </a:extLst>
          </p:cNvPr>
          <p:cNvSpPr>
            <a:spLocks noGrp="1"/>
          </p:cNvSpPr>
          <p:nvPr/>
        </p:nvSpPr>
        <p:spPr>
          <a:xfrm>
            <a:off x="3390900" y="2647950"/>
            <a:ext cx="762000" cy="571500"/>
          </a:xfrm>
          <a:prstGeom prst="rect">
            <a:avLst/>
          </a:prstGeom>
          <a:noFill/>
          <a:ln w="0">
            <a:noFill/>
            <a:prstDash val="solid"/>
          </a:ln>
        </p:spPr>
        <p:txBody>
          <a:bodyPr anchor="t"/>
          <a:lstStyle/>
          <a:p>
            <a:pPr algn="ctr">
              <a:defRPr sz="3600" b="1" i="0">
                <a:solidFill>
                  <a:srgbClr val="147D70"/>
                </a:solidFill>
              </a:defRPr>
            </a:pPr>
            <a:r>
              <a:rPr sz="3600" b="1" i="0">
                <a:solidFill>
                  <a:srgbClr val="147D70"/>
                </a:solidFill>
              </a:rPr>
              <a:t>→</a:t>
            </a:r>
          </a:p>
        </p:txBody>
      </p:sp>
      <p:sp>
        <p:nvSpPr>
          <p:cNvPr id="38" name="Rounded Rectangle 37">
            <a:extLst>
              <a:ext uri="{FF2B5EF4-FFF2-40B4-BE49-F238E27FC236}">
                <a16:creationId xmlns:a16="http://schemas.microsoft.com/office/drawing/2014/main" id="{8AE8789D-644D-4BC6-A3D4-8BC69E82C465}"/>
              </a:ext>
            </a:extLst>
          </p:cNvPr>
          <p:cNvSpPr>
            <a:spLocks noGrp="1"/>
          </p:cNvSpPr>
          <p:nvPr/>
        </p:nvSpPr>
        <p:spPr>
          <a:xfrm>
            <a:off x="4476750" y="1866900"/>
            <a:ext cx="2857500" cy="2476500"/>
          </a:xfrm>
          <a:prstGeom prst="roundRect">
            <a:avLst>
              <a:gd name="adj" fmla="val 6154"/>
            </a:avLst>
          </a:prstGeom>
          <a:solidFill>
            <a:srgbClr val="F5E3E7"/>
          </a:solidFill>
          <a:ln w="28575">
            <a:solidFill>
              <a:srgbClr val="AD354A"/>
            </a:solidFill>
            <a:prstDash val="solid"/>
          </a:ln>
        </p:spPr>
        <p:txBody>
          <a:bodyPr/>
          <a:lstStyle/>
          <a:p>
            <a:endParaRPr lang="en-US"/>
          </a:p>
        </p:txBody>
      </p:sp>
      <p:sp>
        <p:nvSpPr>
          <p:cNvPr id="39" name="Rectangle 38">
            <a:extLst>
              <a:ext uri="{FF2B5EF4-FFF2-40B4-BE49-F238E27FC236}">
                <a16:creationId xmlns:a16="http://schemas.microsoft.com/office/drawing/2014/main" id="{B5BCCAC2-1502-43ED-915B-8CFEB474CC6D}"/>
              </a:ext>
            </a:extLst>
          </p:cNvPr>
          <p:cNvSpPr>
            <a:spLocks noGrp="1"/>
          </p:cNvSpPr>
          <p:nvPr/>
        </p:nvSpPr>
        <p:spPr>
          <a:xfrm>
            <a:off x="4762500" y="2133600"/>
            <a:ext cx="2286000" cy="285750"/>
          </a:xfrm>
          <a:prstGeom prst="rect">
            <a:avLst/>
          </a:prstGeom>
          <a:noFill/>
          <a:ln w="0">
            <a:noFill/>
            <a:prstDash val="solid"/>
          </a:ln>
        </p:spPr>
        <p:txBody>
          <a:bodyPr anchor="t"/>
          <a:lstStyle/>
          <a:p>
            <a:pPr algn="ctr">
              <a:defRPr sz="1200" b="1" i="0">
                <a:solidFill>
                  <a:srgbClr val="AD354A"/>
                </a:solidFill>
              </a:defRPr>
            </a:pPr>
            <a:r>
              <a:rPr sz="1200" b="1" i="0">
                <a:solidFill>
                  <a:srgbClr val="AD354A"/>
                </a:solidFill>
              </a:rPr>
              <a:t>CONNECTED REGION</a:t>
            </a:r>
          </a:p>
        </p:txBody>
      </p:sp>
      <p:sp>
        <p:nvSpPr>
          <p:cNvPr id="40" name="Rectangle 39">
            <a:extLst>
              <a:ext uri="{FF2B5EF4-FFF2-40B4-BE49-F238E27FC236}">
                <a16:creationId xmlns:a16="http://schemas.microsoft.com/office/drawing/2014/main" id="{CD90ACD3-28ED-469E-99D1-CF6E432DEA1C}"/>
              </a:ext>
            </a:extLst>
          </p:cNvPr>
          <p:cNvSpPr>
            <a:spLocks noGrp="1"/>
          </p:cNvSpPr>
          <p:nvPr/>
        </p:nvSpPr>
        <p:spPr>
          <a:xfrm>
            <a:off x="4762500" y="2724150"/>
            <a:ext cx="2286000" cy="361950"/>
          </a:xfrm>
          <a:prstGeom prst="rect">
            <a:avLst/>
          </a:prstGeom>
          <a:noFill/>
          <a:ln w="0">
            <a:noFill/>
            <a:prstDash val="solid"/>
          </a:ln>
        </p:spPr>
        <p:txBody>
          <a:bodyPr anchor="t"/>
          <a:lstStyle/>
          <a:p>
            <a:pPr algn="ctr">
              <a:defRPr sz="2100" b="1" i="0">
                <a:solidFill>
                  <a:srgbClr val="08065C"/>
                </a:solidFill>
              </a:defRPr>
            </a:pPr>
            <a:r>
              <a:rPr sz="2100" b="1" i="0">
                <a:solidFill>
                  <a:srgbClr val="08065C"/>
                </a:solidFill>
              </a:rPr>
              <a:t>One region boundary</a:t>
            </a:r>
          </a:p>
        </p:txBody>
      </p:sp>
      <p:sp>
        <p:nvSpPr>
          <p:cNvPr id="41" name="Rectangle 40">
            <a:extLst>
              <a:ext uri="{FF2B5EF4-FFF2-40B4-BE49-F238E27FC236}">
                <a16:creationId xmlns:a16="http://schemas.microsoft.com/office/drawing/2014/main" id="{39289598-B5A3-4D7D-9578-4E1EB5055A6C}"/>
              </a:ext>
            </a:extLst>
          </p:cNvPr>
          <p:cNvSpPr>
            <a:spLocks noGrp="1"/>
          </p:cNvSpPr>
          <p:nvPr/>
        </p:nvSpPr>
        <p:spPr>
          <a:xfrm>
            <a:off x="4876800" y="3314700"/>
            <a:ext cx="2057400" cy="5905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Area shares retain mixed behaviour inside the region</a:t>
            </a:r>
          </a:p>
        </p:txBody>
      </p:sp>
      <p:sp>
        <p:nvSpPr>
          <p:cNvPr id="42" name="Rectangle 41">
            <a:extLst>
              <a:ext uri="{FF2B5EF4-FFF2-40B4-BE49-F238E27FC236}">
                <a16:creationId xmlns:a16="http://schemas.microsoft.com/office/drawing/2014/main" id="{7FF0327E-5556-439E-87D1-CBCC16890145}"/>
              </a:ext>
            </a:extLst>
          </p:cNvPr>
          <p:cNvSpPr>
            <a:spLocks noGrp="1"/>
          </p:cNvSpPr>
          <p:nvPr/>
        </p:nvSpPr>
        <p:spPr>
          <a:xfrm>
            <a:off x="7677150" y="2647950"/>
            <a:ext cx="762000" cy="571500"/>
          </a:xfrm>
          <a:prstGeom prst="rect">
            <a:avLst/>
          </a:prstGeom>
          <a:noFill/>
          <a:ln w="0">
            <a:noFill/>
            <a:prstDash val="solid"/>
          </a:ln>
        </p:spPr>
        <p:txBody>
          <a:bodyPr anchor="t"/>
          <a:lstStyle/>
          <a:p>
            <a:pPr algn="ctr">
              <a:defRPr sz="3600" b="1" i="0">
                <a:solidFill>
                  <a:srgbClr val="147D70"/>
                </a:solidFill>
              </a:defRPr>
            </a:pPr>
            <a:r>
              <a:rPr sz="3600" b="1" i="0">
                <a:solidFill>
                  <a:srgbClr val="147D70"/>
                </a:solidFill>
              </a:rPr>
              <a:t>→</a:t>
            </a:r>
          </a:p>
        </p:txBody>
      </p:sp>
      <p:sp>
        <p:nvSpPr>
          <p:cNvPr id="43" name="Rounded Rectangle 42">
            <a:extLst>
              <a:ext uri="{FF2B5EF4-FFF2-40B4-BE49-F238E27FC236}">
                <a16:creationId xmlns:a16="http://schemas.microsoft.com/office/drawing/2014/main" id="{5D471B34-B230-485F-ADF1-7B1500C60C6E}"/>
              </a:ext>
            </a:extLst>
          </p:cNvPr>
          <p:cNvSpPr>
            <a:spLocks noGrp="1"/>
          </p:cNvSpPr>
          <p:nvPr/>
        </p:nvSpPr>
        <p:spPr>
          <a:xfrm>
            <a:off x="8858250" y="1676400"/>
            <a:ext cx="2724150" cy="2857500"/>
          </a:xfrm>
          <a:prstGeom prst="roundRect">
            <a:avLst>
              <a:gd name="adj" fmla="val 2797"/>
            </a:avLst>
          </a:prstGeom>
          <a:solidFill>
            <a:srgbClr val="FFFFFF"/>
          </a:solidFill>
          <a:ln w="14288">
            <a:solidFill>
              <a:srgbClr val="D4DDE2"/>
            </a:solidFill>
            <a:prstDash val="solid"/>
          </a:ln>
        </p:spPr>
        <p:txBody>
          <a:bodyPr/>
          <a:lstStyle/>
          <a:p>
            <a:endParaRPr lang="en-US"/>
          </a:p>
        </p:txBody>
      </p:sp>
      <p:sp>
        <p:nvSpPr>
          <p:cNvPr id="44" name="Rectangle 43">
            <a:extLst>
              <a:ext uri="{FF2B5EF4-FFF2-40B4-BE49-F238E27FC236}">
                <a16:creationId xmlns:a16="http://schemas.microsoft.com/office/drawing/2014/main" id="{52F7219A-7D8F-4545-8769-C828BF016153}"/>
              </a:ext>
            </a:extLst>
          </p:cNvPr>
          <p:cNvSpPr>
            <a:spLocks noGrp="1"/>
          </p:cNvSpPr>
          <p:nvPr/>
        </p:nvSpPr>
        <p:spPr>
          <a:xfrm>
            <a:off x="9086850" y="1943100"/>
            <a:ext cx="2266950" cy="285750"/>
          </a:xfrm>
          <a:prstGeom prst="rect">
            <a:avLst/>
          </a:prstGeom>
          <a:noFill/>
          <a:ln w="0">
            <a:noFill/>
            <a:prstDash val="solid"/>
          </a:ln>
        </p:spPr>
        <p:txBody>
          <a:bodyPr anchor="t"/>
          <a:lstStyle/>
          <a:p>
            <a:pPr algn="ctr">
              <a:defRPr sz="1200" b="1" i="0">
                <a:solidFill>
                  <a:srgbClr val="147D70"/>
                </a:solidFill>
              </a:defRPr>
            </a:pPr>
            <a:r>
              <a:rPr sz="1200" b="1" i="0">
                <a:solidFill>
                  <a:srgbClr val="147D70"/>
                </a:solidFill>
              </a:rPr>
              <a:t>CLICKABLE SUMMARY</a:t>
            </a:r>
          </a:p>
        </p:txBody>
      </p:sp>
      <p:sp>
        <p:nvSpPr>
          <p:cNvPr id="45" name="Rectangle 44">
            <a:extLst>
              <a:ext uri="{FF2B5EF4-FFF2-40B4-BE49-F238E27FC236}">
                <a16:creationId xmlns:a16="http://schemas.microsoft.com/office/drawing/2014/main" id="{E20FCFFF-CEE1-4F9E-AB53-2D109B230D73}"/>
              </a:ext>
            </a:extLst>
          </p:cNvPr>
          <p:cNvSpPr>
            <a:spLocks noGrp="1"/>
          </p:cNvSpPr>
          <p:nvPr/>
        </p:nvSpPr>
        <p:spPr>
          <a:xfrm>
            <a:off x="9163050" y="2438400"/>
            <a:ext cx="2114550" cy="1828800"/>
          </a:xfrm>
          <a:prstGeom prst="rect">
            <a:avLst/>
          </a:prstGeom>
          <a:noFill/>
          <a:ln w="0">
            <a:noFill/>
            <a:prstDash val="solid"/>
          </a:ln>
        </p:spPr>
        <p:txBody>
          <a:bodyPr anchor="t"/>
          <a:lstStyle/>
          <a:p>
            <a:pPr algn="ctr">
              <a:defRPr sz="1425" b="0" i="0">
                <a:solidFill>
                  <a:srgbClr val="18232B"/>
                </a:solidFill>
              </a:defRPr>
            </a:pPr>
            <a:r>
              <a:rPr sz="1425" b="0" i="0">
                <a:solidFill>
                  <a:srgbClr val="18232B"/>
                </a:solidFill>
              </a:rPr>
              <a:t>Area</a:t>
            </a:r>
          </a:p>
          <a:p>
            <a:pPr algn="ctr">
              <a:defRPr sz="1425" b="0" i="0">
                <a:solidFill>
                  <a:srgbClr val="18232B"/>
                </a:solidFill>
              </a:defRPr>
            </a:pPr>
            <a:r>
              <a:rPr sz="1425" b="0" i="0">
                <a:solidFill>
                  <a:srgbClr val="18232B"/>
                </a:solidFill>
              </a:rPr>
              <a:t>Repeated-change share</a:t>
            </a:r>
          </a:p>
          <a:p>
            <a:pPr algn="ctr">
              <a:defRPr sz="1425" b="0" i="0">
                <a:solidFill>
                  <a:srgbClr val="18232B"/>
                </a:solidFill>
              </a:defRPr>
            </a:pPr>
            <a:r>
              <a:rPr sz="1425" b="0" i="0">
                <a:solidFill>
                  <a:srgbClr val="18232B"/>
                </a:solidFill>
              </a:rPr>
              <a:t>Strong endpoint share</a:t>
            </a:r>
          </a:p>
          <a:p>
            <a:pPr algn="ctr">
              <a:defRPr sz="1425" b="0" i="0">
                <a:solidFill>
                  <a:srgbClr val="18232B"/>
                </a:solidFill>
              </a:defRPr>
            </a:pPr>
            <a:r>
              <a:rPr sz="1425" b="0" i="0">
                <a:solidFill>
                  <a:srgbClr val="18232B"/>
                </a:solidFill>
              </a:rPr>
              <a:t>Annual change series</a:t>
            </a:r>
          </a:p>
          <a:p>
            <a:pPr algn="ctr">
              <a:defRPr sz="1425" b="0" i="0">
                <a:solidFill>
                  <a:srgbClr val="18232B"/>
                </a:solidFill>
              </a:defRPr>
            </a:pPr>
            <a:r>
              <a:rPr sz="1425" b="0" i="0">
                <a:solidFill>
                  <a:srgbClr val="18232B"/>
                </a:solidFill>
              </a:rPr>
              <a:t>DEA history</a:t>
            </a:r>
          </a:p>
          <a:p>
            <a:pPr algn="ctr">
              <a:defRPr sz="1425" b="0" i="0">
                <a:solidFill>
                  <a:srgbClr val="18232B"/>
                </a:solidFill>
              </a:defRPr>
            </a:pPr>
            <a:r>
              <a:rPr sz="1425" b="0" i="0">
                <a:solidFill>
                  <a:srgbClr val="18232B"/>
                </a:solidFill>
              </a:rPr>
              <a:t>NDVI history</a:t>
            </a:r>
          </a:p>
        </p:txBody>
      </p:sp>
      <p:sp>
        <p:nvSpPr>
          <p:cNvPr id="46" name="Rectangle 45">
            <a:extLst>
              <a:ext uri="{FF2B5EF4-FFF2-40B4-BE49-F238E27FC236}">
                <a16:creationId xmlns:a16="http://schemas.microsoft.com/office/drawing/2014/main" id="{A75CB424-CD71-4EE4-9938-66D9DD589F06}"/>
              </a:ext>
            </a:extLst>
          </p:cNvPr>
          <p:cNvSpPr>
            <a:spLocks noGrp="1"/>
          </p:cNvSpPr>
          <p:nvPr/>
        </p:nvSpPr>
        <p:spPr>
          <a:xfrm>
            <a:off x="1714500" y="5124450"/>
            <a:ext cx="8763000" cy="590550"/>
          </a:xfrm>
          <a:prstGeom prst="rect">
            <a:avLst/>
          </a:prstGeom>
          <a:noFill/>
          <a:ln w="0">
            <a:noFill/>
            <a:prstDash val="solid"/>
          </a:ln>
        </p:spPr>
        <p:txBody>
          <a:bodyPr anchor="t"/>
          <a:lstStyle/>
          <a:p>
            <a:pPr algn="ctr">
              <a:defRPr sz="1650" b="1" i="0">
                <a:solidFill>
                  <a:srgbClr val="08065C"/>
                </a:solidFill>
              </a:defRPr>
            </a:pPr>
            <a:r>
              <a:rPr sz="1650" b="1" i="0">
                <a:solidFill>
                  <a:srgbClr val="08065C"/>
                </a:solidFill>
              </a:rPr>
              <a:t>Cells are grouped by touching hot/cold state, not by identical annual histories. The region summary preserves that internal variation.</a:t>
            </a:r>
          </a:p>
        </p:txBody>
      </p:sp>
    </p:spTree>
    <p:extLst>
      <p:ext uri="{BB962C8B-B14F-4D97-AF65-F5344CB8AC3E}">
        <p14:creationId xmlns:p14="http://schemas.microsoft.com/office/powerpoint/2010/main" val="1407428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1870C17-BC3B-412E-A189-ECF6DF0733C0}"/>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ILLUSTRATIVE CASE</a:t>
            </a:r>
          </a:p>
        </p:txBody>
      </p:sp>
      <p:sp>
        <p:nvSpPr>
          <p:cNvPr id="2" name="slide-18-title">
            <a:extLst>
              <a:ext uri="{FF2B5EF4-FFF2-40B4-BE49-F238E27FC236}">
                <a16:creationId xmlns:a16="http://schemas.microsoft.com/office/drawing/2014/main" id="{6FF5D00E-17D5-47CB-A49E-BE0C71E1CEE8}"/>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A Wonthaggi hotspot shows the full evidence chain</a:t>
            </a:r>
          </a:p>
        </p:txBody>
      </p:sp>
      <p:sp>
        <p:nvSpPr>
          <p:cNvPr id="3" name="Straight Connector 2">
            <a:extLst>
              <a:ext uri="{FF2B5EF4-FFF2-40B4-BE49-F238E27FC236}">
                <a16:creationId xmlns:a16="http://schemas.microsoft.com/office/drawing/2014/main" id="{6FA48E74-FF67-4411-919C-741C1E40B519}"/>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E87085F5-05A1-4F13-9648-289057CA0521}"/>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18</a:t>
            </a:r>
          </a:p>
        </p:txBody>
      </p:sp>
      <p:sp>
        <p:nvSpPr>
          <p:cNvPr id="5" name="Rectangle 4">
            <a:extLst>
              <a:ext uri="{FF2B5EF4-FFF2-40B4-BE49-F238E27FC236}">
                <a16:creationId xmlns:a16="http://schemas.microsoft.com/office/drawing/2014/main" id="{48BD52F2-ED91-4CA6-9473-6F3BDD7284EE}"/>
              </a:ext>
            </a:extLst>
          </p:cNvPr>
          <p:cNvSpPr>
            <a:spLocks noGrp="1"/>
          </p:cNvSpPr>
          <p:nvPr/>
        </p:nvSpPr>
        <p:spPr>
          <a:xfrm>
            <a:off x="609600" y="1409700"/>
            <a:ext cx="2286000" cy="266700"/>
          </a:xfrm>
          <a:prstGeom prst="rect">
            <a:avLst/>
          </a:prstGeom>
          <a:noFill/>
          <a:ln w="0">
            <a:noFill/>
            <a:prstDash val="solid"/>
          </a:ln>
        </p:spPr>
        <p:txBody>
          <a:bodyPr anchor="t"/>
          <a:lstStyle/>
          <a:p>
            <a:pPr algn="ctr">
              <a:defRPr sz="1125" b="1" i="0">
                <a:solidFill>
                  <a:srgbClr val="08065C"/>
                </a:solidFill>
              </a:defRPr>
            </a:pPr>
            <a:r>
              <a:rPr sz="1125" b="1" i="0">
                <a:solidFill>
                  <a:srgbClr val="08065C"/>
                </a:solidFill>
              </a:rPr>
              <a:t>2017 satellite composite</a:t>
            </a:r>
          </a:p>
        </p:txBody>
      </p:sp>
      <p:sp>
        <p:nvSpPr>
          <p:cNvPr id="6" name="Rectangle 5">
            <a:extLst>
              <a:ext uri="{FF2B5EF4-FFF2-40B4-BE49-F238E27FC236}">
                <a16:creationId xmlns:a16="http://schemas.microsoft.com/office/drawing/2014/main" id="{1BC6C9C9-DBED-4B42-9A36-DDD0170AE377}"/>
              </a:ext>
            </a:extLst>
          </p:cNvPr>
          <p:cNvSpPr>
            <a:spLocks noGrp="1"/>
          </p:cNvSpPr>
          <p:nvPr/>
        </p:nvSpPr>
        <p:spPr>
          <a:xfrm>
            <a:off x="609600" y="1733550"/>
            <a:ext cx="2286000" cy="2038350"/>
          </a:xfrm>
          <a:prstGeom prst="rect">
            <a:avLst/>
          </a:prstGeom>
          <a:solidFill>
            <a:srgbClr val="FFFFFF"/>
          </a:solidFill>
          <a:ln w="11430">
            <a:solidFill>
              <a:srgbClr val="D4DDE2"/>
            </a:solidFill>
            <a:prstDash val="solid"/>
          </a:ln>
        </p:spPr>
        <p:txBody>
          <a:bodyPr/>
          <a:lstStyle/>
          <a:p>
            <a:endParaRPr lang="en-US"/>
          </a:p>
        </p:txBody>
      </p:sp>
      <p:pic>
        <p:nvPicPr>
          <p:cNvPr id="41" name="Picture 40"/>
          <p:cNvPicPr>
            <a:picLocks noChangeAspect="1"/>
          </p:cNvPicPr>
          <p:nvPr/>
        </p:nvPicPr>
        <p:blipFill>
          <a:blip r:embed="rId3"/>
          <a:srcRect t="5556" b="5556"/>
          <a:stretch>
            <a:fillRect/>
          </a:stretch>
        </p:blipFill>
        <p:spPr>
          <a:xfrm>
            <a:off x="638175" y="1762125"/>
            <a:ext cx="2228850" cy="1981200"/>
          </a:xfrm>
          <a:prstGeom prst="rect">
            <a:avLst/>
          </a:prstGeom>
        </p:spPr>
      </p:pic>
      <p:sp>
        <p:nvSpPr>
          <p:cNvPr id="8" name="Rectangle 7">
            <a:extLst>
              <a:ext uri="{FF2B5EF4-FFF2-40B4-BE49-F238E27FC236}">
                <a16:creationId xmlns:a16="http://schemas.microsoft.com/office/drawing/2014/main" id="{7EA3936E-31E9-4D42-AA23-322AEF5DF321}"/>
              </a:ext>
            </a:extLst>
          </p:cNvPr>
          <p:cNvSpPr>
            <a:spLocks noGrp="1"/>
          </p:cNvSpPr>
          <p:nvPr/>
        </p:nvSpPr>
        <p:spPr>
          <a:xfrm>
            <a:off x="3124200" y="1409700"/>
            <a:ext cx="2286000" cy="266700"/>
          </a:xfrm>
          <a:prstGeom prst="rect">
            <a:avLst/>
          </a:prstGeom>
          <a:noFill/>
          <a:ln w="0">
            <a:noFill/>
            <a:prstDash val="solid"/>
          </a:ln>
        </p:spPr>
        <p:txBody>
          <a:bodyPr anchor="t"/>
          <a:lstStyle/>
          <a:p>
            <a:pPr algn="ctr">
              <a:defRPr sz="1125" b="1" i="0">
                <a:solidFill>
                  <a:srgbClr val="08065C"/>
                </a:solidFill>
              </a:defRPr>
            </a:pPr>
            <a:r>
              <a:rPr sz="1125" b="1" i="0">
                <a:solidFill>
                  <a:srgbClr val="08065C"/>
                </a:solidFill>
              </a:rPr>
              <a:t>2024 satellite composite</a:t>
            </a:r>
          </a:p>
        </p:txBody>
      </p:sp>
      <p:sp>
        <p:nvSpPr>
          <p:cNvPr id="9" name="Rectangle 8">
            <a:extLst>
              <a:ext uri="{FF2B5EF4-FFF2-40B4-BE49-F238E27FC236}">
                <a16:creationId xmlns:a16="http://schemas.microsoft.com/office/drawing/2014/main" id="{E9409CEA-E6F9-44A9-B341-036A0BC98FD2}"/>
              </a:ext>
            </a:extLst>
          </p:cNvPr>
          <p:cNvSpPr>
            <a:spLocks noGrp="1"/>
          </p:cNvSpPr>
          <p:nvPr/>
        </p:nvSpPr>
        <p:spPr>
          <a:xfrm>
            <a:off x="3124200" y="1733550"/>
            <a:ext cx="2286000" cy="2038350"/>
          </a:xfrm>
          <a:prstGeom prst="rect">
            <a:avLst/>
          </a:prstGeom>
          <a:solidFill>
            <a:srgbClr val="FFFFFF"/>
          </a:solidFill>
          <a:ln w="11430">
            <a:solidFill>
              <a:srgbClr val="D4DDE2"/>
            </a:solidFill>
            <a:prstDash val="solid"/>
          </a:ln>
        </p:spPr>
        <p:txBody>
          <a:bodyPr/>
          <a:lstStyle/>
          <a:p>
            <a:endParaRPr lang="en-US"/>
          </a:p>
        </p:txBody>
      </p:sp>
      <p:pic>
        <p:nvPicPr>
          <p:cNvPr id="44" name="Picture 43"/>
          <p:cNvPicPr>
            <a:picLocks noChangeAspect="1"/>
          </p:cNvPicPr>
          <p:nvPr/>
        </p:nvPicPr>
        <p:blipFill>
          <a:blip r:embed="rId4"/>
          <a:srcRect t="5556" b="5556"/>
          <a:stretch>
            <a:fillRect/>
          </a:stretch>
        </p:blipFill>
        <p:spPr>
          <a:xfrm>
            <a:off x="3152775" y="1762125"/>
            <a:ext cx="2228850" cy="1981200"/>
          </a:xfrm>
          <a:prstGeom prst="rect">
            <a:avLst/>
          </a:prstGeom>
        </p:spPr>
      </p:pic>
      <p:sp>
        <p:nvSpPr>
          <p:cNvPr id="11" name="Rectangle 10">
            <a:extLst>
              <a:ext uri="{FF2B5EF4-FFF2-40B4-BE49-F238E27FC236}">
                <a16:creationId xmlns:a16="http://schemas.microsoft.com/office/drawing/2014/main" id="{FE43EE19-601B-4436-A024-E4E9E5BFC62F}"/>
              </a:ext>
            </a:extLst>
          </p:cNvPr>
          <p:cNvSpPr>
            <a:spLocks noGrp="1"/>
          </p:cNvSpPr>
          <p:nvPr/>
        </p:nvSpPr>
        <p:spPr>
          <a:xfrm>
            <a:off x="5638800" y="1409700"/>
            <a:ext cx="2286000" cy="266700"/>
          </a:xfrm>
          <a:prstGeom prst="rect">
            <a:avLst/>
          </a:prstGeom>
          <a:noFill/>
          <a:ln w="0">
            <a:noFill/>
            <a:prstDash val="solid"/>
          </a:ln>
        </p:spPr>
        <p:txBody>
          <a:bodyPr anchor="t"/>
          <a:lstStyle/>
          <a:p>
            <a:pPr algn="ctr">
              <a:defRPr sz="1125" b="1" i="0">
                <a:solidFill>
                  <a:srgbClr val="08065C"/>
                </a:solidFill>
              </a:defRPr>
            </a:pPr>
            <a:r>
              <a:rPr sz="1125" b="1" i="0">
                <a:solidFill>
                  <a:srgbClr val="08065C"/>
                </a:solidFill>
              </a:rPr>
              <a:t>Embedding endpoint change</a:t>
            </a:r>
          </a:p>
        </p:txBody>
      </p:sp>
      <p:sp>
        <p:nvSpPr>
          <p:cNvPr id="12" name="Rectangle 11">
            <a:extLst>
              <a:ext uri="{FF2B5EF4-FFF2-40B4-BE49-F238E27FC236}">
                <a16:creationId xmlns:a16="http://schemas.microsoft.com/office/drawing/2014/main" id="{11DB6620-16F9-4438-946E-78C5A419FE3D}"/>
              </a:ext>
            </a:extLst>
          </p:cNvPr>
          <p:cNvSpPr>
            <a:spLocks noGrp="1"/>
          </p:cNvSpPr>
          <p:nvPr/>
        </p:nvSpPr>
        <p:spPr>
          <a:xfrm>
            <a:off x="5638800" y="1733550"/>
            <a:ext cx="2286000" cy="2038350"/>
          </a:xfrm>
          <a:prstGeom prst="rect">
            <a:avLst/>
          </a:prstGeom>
          <a:solidFill>
            <a:srgbClr val="FFFFFF"/>
          </a:solidFill>
          <a:ln w="11430">
            <a:solidFill>
              <a:srgbClr val="D4DDE2"/>
            </a:solidFill>
            <a:prstDash val="solid"/>
          </a:ln>
        </p:spPr>
        <p:txBody>
          <a:bodyPr/>
          <a:lstStyle/>
          <a:p>
            <a:endParaRPr lang="en-US"/>
          </a:p>
        </p:txBody>
      </p:sp>
      <p:pic>
        <p:nvPicPr>
          <p:cNvPr id="47" name="Picture 46"/>
          <p:cNvPicPr>
            <a:picLocks noChangeAspect="1"/>
          </p:cNvPicPr>
          <p:nvPr/>
        </p:nvPicPr>
        <p:blipFill>
          <a:blip r:embed="rId5"/>
          <a:srcRect t="5556" b="5556"/>
          <a:stretch>
            <a:fillRect/>
          </a:stretch>
        </p:blipFill>
        <p:spPr>
          <a:xfrm>
            <a:off x="5667375" y="1762125"/>
            <a:ext cx="2228850" cy="1981200"/>
          </a:xfrm>
          <a:prstGeom prst="rect">
            <a:avLst/>
          </a:prstGeom>
        </p:spPr>
      </p:pic>
      <p:sp>
        <p:nvSpPr>
          <p:cNvPr id="14" name="Rectangle 13">
            <a:extLst>
              <a:ext uri="{FF2B5EF4-FFF2-40B4-BE49-F238E27FC236}">
                <a16:creationId xmlns:a16="http://schemas.microsoft.com/office/drawing/2014/main" id="{038699D4-B5AB-43A0-A465-F36F6ED5D738}"/>
              </a:ext>
            </a:extLst>
          </p:cNvPr>
          <p:cNvSpPr>
            <a:spLocks noGrp="1"/>
          </p:cNvSpPr>
          <p:nvPr/>
        </p:nvSpPr>
        <p:spPr>
          <a:xfrm>
            <a:off x="609600" y="3810000"/>
            <a:ext cx="7315200" cy="209550"/>
          </a:xfrm>
          <a:prstGeom prst="rect">
            <a:avLst/>
          </a:prstGeom>
          <a:noFill/>
          <a:ln w="0">
            <a:noFill/>
            <a:prstDash val="solid"/>
          </a:ln>
        </p:spPr>
        <p:txBody>
          <a:bodyPr anchor="t"/>
          <a:lstStyle/>
          <a:p>
            <a:pPr algn="ctr">
              <a:defRPr sz="825" b="0" i="1">
                <a:solidFill>
                  <a:srgbClr val="5E6B75"/>
                </a:solidFill>
              </a:defRPr>
            </a:pPr>
            <a:r>
              <a:rPr sz="825" b="0" i="1">
                <a:solidFill>
                  <a:srgbClr val="5E6B75"/>
                </a:solidFill>
              </a:rPr>
              <a:t>DEA GeoMAD annual Landsat composites; the white crosshair marks the same coordinate</a:t>
            </a:r>
          </a:p>
        </p:txBody>
      </p:sp>
      <p:sp>
        <p:nvSpPr>
          <p:cNvPr id="15" name="Rectangle 14">
            <a:extLst>
              <a:ext uri="{FF2B5EF4-FFF2-40B4-BE49-F238E27FC236}">
                <a16:creationId xmlns:a16="http://schemas.microsoft.com/office/drawing/2014/main" id="{C53B0742-F6B7-4EC9-A0C6-DDEA230A51DC}"/>
              </a:ext>
            </a:extLst>
          </p:cNvPr>
          <p:cNvSpPr>
            <a:spLocks noGrp="1"/>
          </p:cNvSpPr>
          <p:nvPr/>
        </p:nvSpPr>
        <p:spPr>
          <a:xfrm>
            <a:off x="8172450" y="1409700"/>
            <a:ext cx="3371850" cy="266700"/>
          </a:xfrm>
          <a:prstGeom prst="rect">
            <a:avLst/>
          </a:prstGeom>
          <a:noFill/>
          <a:ln w="0">
            <a:noFill/>
            <a:prstDash val="solid"/>
          </a:ln>
        </p:spPr>
        <p:txBody>
          <a:bodyPr anchor="t"/>
          <a:lstStyle/>
          <a:p>
            <a:pPr algn="ctr">
              <a:defRPr sz="1200" b="1" i="0">
                <a:solidFill>
                  <a:srgbClr val="08065C"/>
                </a:solidFill>
              </a:defRPr>
            </a:pPr>
            <a:r>
              <a:rPr sz="1200" b="1" i="0">
                <a:solidFill>
                  <a:srgbClr val="08065C"/>
                </a:solidFill>
              </a:rPr>
              <a:t>Annual AI embedding distance</a:t>
            </a:r>
          </a:p>
        </p:txBody>
      </p:sp>
      <p:graphicFrame>
        <p:nvGraphicFramePr>
          <p:cNvPr id="50" name="Chart"/>
          <p:cNvGraphicFramePr/>
          <p:nvPr/>
        </p:nvGraphicFramePr>
        <p:xfrm>
          <a:off x="8096250" y="1695450"/>
          <a:ext cx="3486150" cy="2381250"/>
        </p:xfrm>
        <a:graphic>
          <a:graphicData uri="http://schemas.openxmlformats.org/drawingml/2006/chart">
            <c:chart xmlns:c="http://schemas.openxmlformats.org/drawingml/2006/chart" xmlns:r="http://schemas.openxmlformats.org/officeDocument/2006/relationships" r:id="rId6"/>
          </a:graphicData>
        </a:graphic>
      </p:graphicFrame>
      <p:sp>
        <p:nvSpPr>
          <p:cNvPr id="17" name="Rounded Rectangle 16">
            <a:extLst>
              <a:ext uri="{FF2B5EF4-FFF2-40B4-BE49-F238E27FC236}">
                <a16:creationId xmlns:a16="http://schemas.microsoft.com/office/drawing/2014/main" id="{75E1E07D-938B-4019-AECD-79AA06F748AF}"/>
              </a:ext>
            </a:extLst>
          </p:cNvPr>
          <p:cNvSpPr>
            <a:spLocks noGrp="1"/>
          </p:cNvSpPr>
          <p:nvPr/>
        </p:nvSpPr>
        <p:spPr>
          <a:xfrm>
            <a:off x="609600" y="4343400"/>
            <a:ext cx="2476500" cy="1066800"/>
          </a:xfrm>
          <a:prstGeom prst="roundRect">
            <a:avLst>
              <a:gd name="adj" fmla="val 5357"/>
            </a:avLst>
          </a:prstGeom>
          <a:solidFill>
            <a:srgbClr val="FFFFFF"/>
          </a:solidFill>
          <a:ln w="9525">
            <a:solidFill>
              <a:srgbClr val="D4DDE2"/>
            </a:solidFill>
            <a:prstDash val="solid"/>
          </a:ln>
        </p:spPr>
        <p:txBody>
          <a:bodyPr/>
          <a:lstStyle/>
          <a:p>
            <a:endParaRPr lang="en-US"/>
          </a:p>
        </p:txBody>
      </p:sp>
      <p:sp>
        <p:nvSpPr>
          <p:cNvPr id="18" name="Rectangle 17">
            <a:extLst>
              <a:ext uri="{FF2B5EF4-FFF2-40B4-BE49-F238E27FC236}">
                <a16:creationId xmlns:a16="http://schemas.microsoft.com/office/drawing/2014/main" id="{51DD1A61-7911-45C4-B2D2-65898BCEAE1D}"/>
              </a:ext>
            </a:extLst>
          </p:cNvPr>
          <p:cNvSpPr>
            <a:spLocks noGrp="1"/>
          </p:cNvSpPr>
          <p:nvPr/>
        </p:nvSpPr>
        <p:spPr>
          <a:xfrm>
            <a:off x="609600" y="4343400"/>
            <a:ext cx="66675" cy="1066800"/>
          </a:xfrm>
          <a:prstGeom prst="rect">
            <a:avLst/>
          </a:prstGeom>
          <a:solidFill>
            <a:srgbClr val="D4872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65EAE43B-F490-4BA7-977B-75C8A07CC395}"/>
              </a:ext>
            </a:extLst>
          </p:cNvPr>
          <p:cNvSpPr>
            <a:spLocks noGrp="1"/>
          </p:cNvSpPr>
          <p:nvPr/>
        </p:nvSpPr>
        <p:spPr>
          <a:xfrm>
            <a:off x="819150" y="4514850"/>
            <a:ext cx="2095500" cy="342900"/>
          </a:xfrm>
          <a:prstGeom prst="rect">
            <a:avLst/>
          </a:prstGeom>
          <a:noFill/>
          <a:ln w="0">
            <a:noFill/>
            <a:prstDash val="solid"/>
          </a:ln>
        </p:spPr>
        <p:txBody>
          <a:bodyPr anchor="t"/>
          <a:lstStyle/>
          <a:p>
            <a:pPr algn="ctr">
              <a:defRPr sz="1875" b="1" i="0">
                <a:solidFill>
                  <a:srgbClr val="D48728"/>
                </a:solidFill>
              </a:defRPr>
            </a:pPr>
            <a:r>
              <a:rPr sz="1875" b="1" i="0">
                <a:solidFill>
                  <a:srgbClr val="D48728"/>
                </a:solidFill>
              </a:rPr>
              <a:t>1.086</a:t>
            </a:r>
          </a:p>
        </p:txBody>
      </p:sp>
      <p:sp>
        <p:nvSpPr>
          <p:cNvPr id="20" name="Rectangle 19">
            <a:extLst>
              <a:ext uri="{FF2B5EF4-FFF2-40B4-BE49-F238E27FC236}">
                <a16:creationId xmlns:a16="http://schemas.microsoft.com/office/drawing/2014/main" id="{0241D40C-E712-4C90-A25A-42753119BD08}"/>
              </a:ext>
            </a:extLst>
          </p:cNvPr>
          <p:cNvSpPr>
            <a:spLocks noGrp="1"/>
          </p:cNvSpPr>
          <p:nvPr/>
        </p:nvSpPr>
        <p:spPr>
          <a:xfrm>
            <a:off x="819150" y="4933950"/>
            <a:ext cx="2095500" cy="323850"/>
          </a:xfrm>
          <a:prstGeom prst="rect">
            <a:avLst/>
          </a:prstGeom>
          <a:noFill/>
          <a:ln w="0">
            <a:noFill/>
            <a:prstDash val="solid"/>
          </a:ln>
        </p:spPr>
        <p:txBody>
          <a:bodyPr anchor="t"/>
          <a:lstStyle/>
          <a:p>
            <a:pPr algn="ctr">
              <a:defRPr sz="975" b="0" i="0">
                <a:solidFill>
                  <a:srgbClr val="5E6B75"/>
                </a:solidFill>
              </a:defRPr>
            </a:pPr>
            <a:r>
              <a:rPr sz="975" b="0" i="0">
                <a:solidFill>
                  <a:srgbClr val="5E6B75"/>
                </a:solidFill>
              </a:rPr>
              <a:t>2017–2024 endpoint distance</a:t>
            </a:r>
          </a:p>
        </p:txBody>
      </p:sp>
      <p:sp>
        <p:nvSpPr>
          <p:cNvPr id="21" name="Rounded Rectangle 20">
            <a:extLst>
              <a:ext uri="{FF2B5EF4-FFF2-40B4-BE49-F238E27FC236}">
                <a16:creationId xmlns:a16="http://schemas.microsoft.com/office/drawing/2014/main" id="{79867C88-BEAC-4CFF-BBF2-47A341E83AD4}"/>
              </a:ext>
            </a:extLst>
          </p:cNvPr>
          <p:cNvSpPr>
            <a:spLocks noGrp="1"/>
          </p:cNvSpPr>
          <p:nvPr/>
        </p:nvSpPr>
        <p:spPr>
          <a:xfrm>
            <a:off x="3352800" y="4343400"/>
            <a:ext cx="2476500" cy="1066800"/>
          </a:xfrm>
          <a:prstGeom prst="roundRect">
            <a:avLst>
              <a:gd name="adj" fmla="val 5357"/>
            </a:avLst>
          </a:prstGeom>
          <a:solidFill>
            <a:srgbClr val="FFFFFF"/>
          </a:solidFill>
          <a:ln w="9525">
            <a:solidFill>
              <a:srgbClr val="D4DDE2"/>
            </a:solidFill>
            <a:prstDash val="solid"/>
          </a:ln>
        </p:spPr>
        <p:txBody>
          <a:bodyPr/>
          <a:lstStyle/>
          <a:p>
            <a:endParaRPr lang="en-US"/>
          </a:p>
        </p:txBody>
      </p:sp>
      <p:sp>
        <p:nvSpPr>
          <p:cNvPr id="22" name="Rectangle 21">
            <a:extLst>
              <a:ext uri="{FF2B5EF4-FFF2-40B4-BE49-F238E27FC236}">
                <a16:creationId xmlns:a16="http://schemas.microsoft.com/office/drawing/2014/main" id="{02B14EA6-DF79-4898-8AD7-6EEAC79374EE}"/>
              </a:ext>
            </a:extLst>
          </p:cNvPr>
          <p:cNvSpPr>
            <a:spLocks noGrp="1"/>
          </p:cNvSpPr>
          <p:nvPr/>
        </p:nvSpPr>
        <p:spPr>
          <a:xfrm>
            <a:off x="3352800" y="4343400"/>
            <a:ext cx="66675" cy="1066800"/>
          </a:xfrm>
          <a:prstGeom prst="rect">
            <a:avLst/>
          </a:prstGeom>
          <a:solidFill>
            <a:srgbClr val="AD354A"/>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6350C892-3F5E-4B6C-BCC2-EA4DCDF898AE}"/>
              </a:ext>
            </a:extLst>
          </p:cNvPr>
          <p:cNvSpPr>
            <a:spLocks noGrp="1"/>
          </p:cNvSpPr>
          <p:nvPr/>
        </p:nvSpPr>
        <p:spPr>
          <a:xfrm>
            <a:off x="3562350" y="4514850"/>
            <a:ext cx="2095500" cy="342900"/>
          </a:xfrm>
          <a:prstGeom prst="rect">
            <a:avLst/>
          </a:prstGeom>
          <a:noFill/>
          <a:ln w="0">
            <a:noFill/>
            <a:prstDash val="solid"/>
          </a:ln>
        </p:spPr>
        <p:txBody>
          <a:bodyPr anchor="t"/>
          <a:lstStyle/>
          <a:p>
            <a:pPr algn="ctr">
              <a:defRPr sz="1875" b="1" i="0">
                <a:solidFill>
                  <a:srgbClr val="AD354A"/>
                </a:solidFill>
              </a:defRPr>
            </a:pPr>
            <a:r>
              <a:rPr sz="1875" b="1" i="0">
                <a:solidFill>
                  <a:srgbClr val="AD354A"/>
                </a:solidFill>
              </a:rPr>
              <a:t>2 of 7</a:t>
            </a:r>
          </a:p>
        </p:txBody>
      </p:sp>
      <p:sp>
        <p:nvSpPr>
          <p:cNvPr id="24" name="Rectangle 23">
            <a:extLst>
              <a:ext uri="{FF2B5EF4-FFF2-40B4-BE49-F238E27FC236}">
                <a16:creationId xmlns:a16="http://schemas.microsoft.com/office/drawing/2014/main" id="{CC555B7E-CA50-4F49-9EFB-276EEAEA9ED2}"/>
              </a:ext>
            </a:extLst>
          </p:cNvPr>
          <p:cNvSpPr>
            <a:spLocks noGrp="1"/>
          </p:cNvSpPr>
          <p:nvPr/>
        </p:nvSpPr>
        <p:spPr>
          <a:xfrm>
            <a:off x="3562350" y="4933950"/>
            <a:ext cx="2095500" cy="323850"/>
          </a:xfrm>
          <a:prstGeom prst="rect">
            <a:avLst/>
          </a:prstGeom>
          <a:noFill/>
          <a:ln w="0">
            <a:noFill/>
            <a:prstDash val="solid"/>
          </a:ln>
        </p:spPr>
        <p:txBody>
          <a:bodyPr anchor="t"/>
          <a:lstStyle/>
          <a:p>
            <a:pPr algn="ctr">
              <a:defRPr sz="975" b="0" i="0">
                <a:solidFill>
                  <a:srgbClr val="5E6B75"/>
                </a:solidFill>
              </a:defRPr>
            </a:pPr>
            <a:r>
              <a:rPr sz="975" b="0" i="0">
                <a:solidFill>
                  <a:srgbClr val="5E6B75"/>
                </a:solidFill>
              </a:rPr>
              <a:t>strong-change intervals</a:t>
            </a:r>
          </a:p>
        </p:txBody>
      </p:sp>
      <p:sp>
        <p:nvSpPr>
          <p:cNvPr id="25" name="Rounded Rectangle 24">
            <a:extLst>
              <a:ext uri="{FF2B5EF4-FFF2-40B4-BE49-F238E27FC236}">
                <a16:creationId xmlns:a16="http://schemas.microsoft.com/office/drawing/2014/main" id="{003CDD6D-2038-429F-B953-C7944AE8D133}"/>
              </a:ext>
            </a:extLst>
          </p:cNvPr>
          <p:cNvSpPr>
            <a:spLocks noGrp="1"/>
          </p:cNvSpPr>
          <p:nvPr/>
        </p:nvSpPr>
        <p:spPr>
          <a:xfrm>
            <a:off x="6096000" y="4343400"/>
            <a:ext cx="2476500" cy="1066800"/>
          </a:xfrm>
          <a:prstGeom prst="roundRect">
            <a:avLst>
              <a:gd name="adj" fmla="val 5357"/>
            </a:avLst>
          </a:prstGeom>
          <a:solidFill>
            <a:srgbClr val="FFFFFF"/>
          </a:solidFill>
          <a:ln w="9525">
            <a:solidFill>
              <a:srgbClr val="D4DDE2"/>
            </a:solidFill>
            <a:prstDash val="solid"/>
          </a:ln>
        </p:spPr>
        <p:txBody>
          <a:bodyPr/>
          <a:lstStyle/>
          <a:p>
            <a:endParaRPr lang="en-US"/>
          </a:p>
        </p:txBody>
      </p:sp>
      <p:sp>
        <p:nvSpPr>
          <p:cNvPr id="26" name="Rectangle 25">
            <a:extLst>
              <a:ext uri="{FF2B5EF4-FFF2-40B4-BE49-F238E27FC236}">
                <a16:creationId xmlns:a16="http://schemas.microsoft.com/office/drawing/2014/main" id="{AEF537C3-EDAD-4B3B-97BE-3A765C75B496}"/>
              </a:ext>
            </a:extLst>
          </p:cNvPr>
          <p:cNvSpPr>
            <a:spLocks noGrp="1"/>
          </p:cNvSpPr>
          <p:nvPr/>
        </p:nvSpPr>
        <p:spPr>
          <a:xfrm>
            <a:off x="6096000" y="4343400"/>
            <a:ext cx="66675" cy="1066800"/>
          </a:xfrm>
          <a:prstGeom prst="rect">
            <a:avLst/>
          </a:prstGeom>
          <a:solidFill>
            <a:srgbClr val="234E8A"/>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0D4D085E-8A32-44DC-83F3-876760B2033A}"/>
              </a:ext>
            </a:extLst>
          </p:cNvPr>
          <p:cNvSpPr>
            <a:spLocks noGrp="1"/>
          </p:cNvSpPr>
          <p:nvPr/>
        </p:nvSpPr>
        <p:spPr>
          <a:xfrm>
            <a:off x="6305550" y="4514850"/>
            <a:ext cx="2095500" cy="342900"/>
          </a:xfrm>
          <a:prstGeom prst="rect">
            <a:avLst/>
          </a:prstGeom>
          <a:noFill/>
          <a:ln w="0">
            <a:noFill/>
            <a:prstDash val="solid"/>
          </a:ln>
        </p:spPr>
        <p:txBody>
          <a:bodyPr anchor="t"/>
          <a:lstStyle/>
          <a:p>
            <a:pPr algn="ctr">
              <a:defRPr sz="1500" b="1" i="0">
                <a:solidFill>
                  <a:srgbClr val="234E8A"/>
                </a:solidFill>
              </a:defRPr>
            </a:pPr>
            <a:r>
              <a:rPr sz="1500" b="1" i="0">
                <a:solidFill>
                  <a:srgbClr val="234E8A"/>
                </a:solidFill>
              </a:rPr>
              <a:t>Natural → Artificial</a:t>
            </a:r>
          </a:p>
        </p:txBody>
      </p:sp>
      <p:sp>
        <p:nvSpPr>
          <p:cNvPr id="28" name="Rectangle 27">
            <a:extLst>
              <a:ext uri="{FF2B5EF4-FFF2-40B4-BE49-F238E27FC236}">
                <a16:creationId xmlns:a16="http://schemas.microsoft.com/office/drawing/2014/main" id="{A33AEFE3-6EE6-445C-BB35-C75172145B3A}"/>
              </a:ext>
            </a:extLst>
          </p:cNvPr>
          <p:cNvSpPr>
            <a:spLocks noGrp="1"/>
          </p:cNvSpPr>
          <p:nvPr/>
        </p:nvSpPr>
        <p:spPr>
          <a:xfrm>
            <a:off x="6305550" y="4933950"/>
            <a:ext cx="2095500" cy="323850"/>
          </a:xfrm>
          <a:prstGeom prst="rect">
            <a:avLst/>
          </a:prstGeom>
          <a:noFill/>
          <a:ln w="0">
            <a:noFill/>
            <a:prstDash val="solid"/>
          </a:ln>
        </p:spPr>
        <p:txBody>
          <a:bodyPr anchor="t"/>
          <a:lstStyle/>
          <a:p>
            <a:pPr algn="ctr">
              <a:defRPr sz="975" b="0" i="0">
                <a:solidFill>
                  <a:srgbClr val="5E6B75"/>
                </a:solidFill>
              </a:defRPr>
            </a:pPr>
            <a:r>
              <a:rPr sz="975" b="0" i="0">
                <a:solidFill>
                  <a:srgbClr val="5E6B75"/>
                </a:solidFill>
              </a:rPr>
              <a:t>DEA broad class by 2019</a:t>
            </a:r>
          </a:p>
        </p:txBody>
      </p:sp>
      <p:sp>
        <p:nvSpPr>
          <p:cNvPr id="29" name="Rounded Rectangle 28">
            <a:extLst>
              <a:ext uri="{FF2B5EF4-FFF2-40B4-BE49-F238E27FC236}">
                <a16:creationId xmlns:a16="http://schemas.microsoft.com/office/drawing/2014/main" id="{7262C8CE-A211-4BC9-998C-131179000640}"/>
              </a:ext>
            </a:extLst>
          </p:cNvPr>
          <p:cNvSpPr>
            <a:spLocks noGrp="1"/>
          </p:cNvSpPr>
          <p:nvPr/>
        </p:nvSpPr>
        <p:spPr>
          <a:xfrm>
            <a:off x="8839200" y="4343400"/>
            <a:ext cx="2476500" cy="1066800"/>
          </a:xfrm>
          <a:prstGeom prst="roundRect">
            <a:avLst>
              <a:gd name="adj" fmla="val 5357"/>
            </a:avLst>
          </a:prstGeom>
          <a:solidFill>
            <a:srgbClr val="FFFFFF"/>
          </a:solidFill>
          <a:ln w="9525">
            <a:solidFill>
              <a:srgbClr val="D4DDE2"/>
            </a:solidFill>
            <a:prstDash val="solid"/>
          </a:ln>
        </p:spPr>
        <p:txBody>
          <a:bodyPr/>
          <a:lstStyle/>
          <a:p>
            <a:endParaRPr lang="en-US"/>
          </a:p>
        </p:txBody>
      </p:sp>
      <p:sp>
        <p:nvSpPr>
          <p:cNvPr id="30" name="Rectangle 29">
            <a:extLst>
              <a:ext uri="{FF2B5EF4-FFF2-40B4-BE49-F238E27FC236}">
                <a16:creationId xmlns:a16="http://schemas.microsoft.com/office/drawing/2014/main" id="{D39E9828-040A-45F6-84F5-3D0C941B8744}"/>
              </a:ext>
            </a:extLst>
          </p:cNvPr>
          <p:cNvSpPr>
            <a:spLocks noGrp="1"/>
          </p:cNvSpPr>
          <p:nvPr/>
        </p:nvSpPr>
        <p:spPr>
          <a:xfrm>
            <a:off x="8839200" y="4343400"/>
            <a:ext cx="66675" cy="1066800"/>
          </a:xfrm>
          <a:prstGeom prst="rect">
            <a:avLst/>
          </a:prstGeom>
          <a:solidFill>
            <a:srgbClr val="147D70"/>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C7D1920A-CA4F-40D7-9DD9-509811634CB1}"/>
              </a:ext>
            </a:extLst>
          </p:cNvPr>
          <p:cNvSpPr>
            <a:spLocks noGrp="1"/>
          </p:cNvSpPr>
          <p:nvPr/>
        </p:nvSpPr>
        <p:spPr>
          <a:xfrm>
            <a:off x="9048750" y="4514850"/>
            <a:ext cx="2095500" cy="342900"/>
          </a:xfrm>
          <a:prstGeom prst="rect">
            <a:avLst/>
          </a:prstGeom>
          <a:noFill/>
          <a:ln w="0">
            <a:noFill/>
            <a:prstDash val="solid"/>
          </a:ln>
        </p:spPr>
        <p:txBody>
          <a:bodyPr anchor="t"/>
          <a:lstStyle/>
          <a:p>
            <a:pPr algn="ctr">
              <a:defRPr sz="1875" b="1" i="0">
                <a:solidFill>
                  <a:srgbClr val="147D70"/>
                </a:solidFill>
              </a:defRPr>
            </a:pPr>
            <a:r>
              <a:rPr sz="1875" b="1" i="0">
                <a:solidFill>
                  <a:srgbClr val="147D70"/>
                </a:solidFill>
              </a:rPr>
              <a:t>0.637 → 0.184</a:t>
            </a:r>
          </a:p>
        </p:txBody>
      </p:sp>
      <p:sp>
        <p:nvSpPr>
          <p:cNvPr id="32" name="Rectangle 31">
            <a:extLst>
              <a:ext uri="{FF2B5EF4-FFF2-40B4-BE49-F238E27FC236}">
                <a16:creationId xmlns:a16="http://schemas.microsoft.com/office/drawing/2014/main" id="{E540F348-BFDD-4ADA-B387-A260BC229580}"/>
              </a:ext>
            </a:extLst>
          </p:cNvPr>
          <p:cNvSpPr>
            <a:spLocks noGrp="1"/>
          </p:cNvSpPr>
          <p:nvPr/>
        </p:nvSpPr>
        <p:spPr>
          <a:xfrm>
            <a:off x="9048750" y="4933950"/>
            <a:ext cx="2095500" cy="323850"/>
          </a:xfrm>
          <a:prstGeom prst="rect">
            <a:avLst/>
          </a:prstGeom>
          <a:noFill/>
          <a:ln w="0">
            <a:noFill/>
            <a:prstDash val="solid"/>
          </a:ln>
        </p:spPr>
        <p:txBody>
          <a:bodyPr anchor="t"/>
          <a:lstStyle/>
          <a:p>
            <a:pPr algn="ctr">
              <a:defRPr sz="975" b="0" i="0">
                <a:solidFill>
                  <a:srgbClr val="5E6B75"/>
                </a:solidFill>
              </a:defRPr>
            </a:pPr>
            <a:r>
              <a:rPr sz="975" b="0" i="0">
                <a:solidFill>
                  <a:srgbClr val="5E6B75"/>
                </a:solidFill>
              </a:rPr>
              <a:t>annual NDVI, 2017 to 2024</a:t>
            </a:r>
          </a:p>
        </p:txBody>
      </p:sp>
      <p:sp>
        <p:nvSpPr>
          <p:cNvPr id="33" name="Rectangle 32">
            <a:extLst>
              <a:ext uri="{FF2B5EF4-FFF2-40B4-BE49-F238E27FC236}">
                <a16:creationId xmlns:a16="http://schemas.microsoft.com/office/drawing/2014/main" id="{B3715F9C-405A-49F1-A1E7-5F8FDC6C5B61}"/>
              </a:ext>
            </a:extLst>
          </p:cNvPr>
          <p:cNvSpPr>
            <a:spLocks noGrp="1"/>
          </p:cNvSpPr>
          <p:nvPr/>
        </p:nvSpPr>
        <p:spPr>
          <a:xfrm>
            <a:off x="1104900" y="5619750"/>
            <a:ext cx="9982200" cy="438150"/>
          </a:xfrm>
          <a:prstGeom prst="rect">
            <a:avLst/>
          </a:prstGeom>
          <a:noFill/>
          <a:ln w="0">
            <a:noFill/>
            <a:prstDash val="solid"/>
          </a:ln>
        </p:spPr>
        <p:txBody>
          <a:bodyPr anchor="t"/>
          <a:lstStyle/>
          <a:p>
            <a:pPr algn="ctr">
              <a:defRPr sz="1350" b="1" i="0">
                <a:solidFill>
                  <a:srgbClr val="08065C"/>
                </a:solidFill>
              </a:defRPr>
            </a:pPr>
            <a:r>
              <a:rPr sz="1350" b="1" i="0">
                <a:solidFill>
                  <a:srgbClr val="08065C"/>
                </a:solidFill>
              </a:rPr>
              <a:t>Visible surface change, AI signal, DEA transition and vegetation decline tell a coherent story at this location.</a:t>
            </a:r>
          </a:p>
        </p:txBody>
      </p:sp>
      <p:sp>
        <p:nvSpPr>
          <p:cNvPr id="34" name="Rectangle 33">
            <a:extLst>
              <a:ext uri="{FF2B5EF4-FFF2-40B4-BE49-F238E27FC236}">
                <a16:creationId xmlns:a16="http://schemas.microsoft.com/office/drawing/2014/main" id="{81E7BE2E-FCF8-4B25-BC39-5571B30019F5}"/>
              </a:ext>
            </a:extLst>
          </p:cNvPr>
          <p:cNvSpPr>
            <a:spLocks noGrp="1"/>
          </p:cNvSpPr>
          <p:nvPr/>
        </p:nvSpPr>
        <p:spPr>
          <a:xfrm>
            <a:off x="1104900" y="6096000"/>
            <a:ext cx="9982200" cy="190500"/>
          </a:xfrm>
          <a:prstGeom prst="rect">
            <a:avLst/>
          </a:prstGeom>
          <a:noFill/>
          <a:ln w="0">
            <a:noFill/>
            <a:prstDash val="solid"/>
          </a:ln>
        </p:spPr>
        <p:txBody>
          <a:bodyPr anchor="t"/>
          <a:lstStyle/>
          <a:p>
            <a:pPr algn="ctr">
              <a:defRPr sz="750" b="0" i="1">
                <a:solidFill>
                  <a:srgbClr val="5E6B75"/>
                </a:solidFill>
              </a:defRPr>
            </a:pPr>
            <a:r>
              <a:rPr sz="750" b="0" i="1">
                <a:solidFill>
                  <a:srgbClr val="5E6B75"/>
                </a:solidFill>
              </a:rPr>
              <a:t>Near McKenzie Street, Wonthaggi. One case demonstrates coherence, not system-wide accuracy.</a:t>
            </a:r>
          </a:p>
        </p:txBody>
      </p:sp>
    </p:spTree>
    <p:extLst>
      <p:ext uri="{BB962C8B-B14F-4D97-AF65-F5344CB8AC3E}">
        <p14:creationId xmlns:p14="http://schemas.microsoft.com/office/powerpoint/2010/main" val="1721496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E70D511-04BB-45CF-95F3-C3BC0C10D02E}"/>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RESULT 1</a:t>
            </a:r>
          </a:p>
        </p:txBody>
      </p:sp>
      <p:sp>
        <p:nvSpPr>
          <p:cNvPr id="2" name="slide-19-title">
            <a:extLst>
              <a:ext uri="{FF2B5EF4-FFF2-40B4-BE49-F238E27FC236}">
                <a16:creationId xmlns:a16="http://schemas.microsoft.com/office/drawing/2014/main" id="{2C8F025E-2992-402D-86E0-168E2ADEC7DF}"/>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A small upper tail carries the strongest change</a:t>
            </a:r>
          </a:p>
        </p:txBody>
      </p:sp>
      <p:sp>
        <p:nvSpPr>
          <p:cNvPr id="3" name="Straight Connector 2">
            <a:extLst>
              <a:ext uri="{FF2B5EF4-FFF2-40B4-BE49-F238E27FC236}">
                <a16:creationId xmlns:a16="http://schemas.microsoft.com/office/drawing/2014/main" id="{77C8C28B-BA3E-4CB7-9FE5-B57E0CDBC695}"/>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24908DA5-E9C5-4056-AE92-C501D7154B6C}"/>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19</a:t>
            </a:r>
          </a:p>
        </p:txBody>
      </p:sp>
      <p:pic>
        <p:nvPicPr>
          <p:cNvPr id="16" name="Picture 15"/>
          <p:cNvPicPr>
            <a:picLocks noChangeAspect="1"/>
          </p:cNvPicPr>
          <p:nvPr/>
        </p:nvPicPr>
        <p:blipFill>
          <a:blip r:embed="rId3"/>
          <a:stretch/>
        </p:blipFill>
        <p:spPr>
          <a:xfrm>
            <a:off x="609600" y="1581859"/>
            <a:ext cx="5381625" cy="3884782"/>
          </a:xfrm>
          <a:prstGeom prst="rect">
            <a:avLst/>
          </a:prstGeom>
        </p:spPr>
      </p:pic>
      <p:pic>
        <p:nvPicPr>
          <p:cNvPr id="17" name="Picture 16"/>
          <p:cNvPicPr>
            <a:picLocks noChangeAspect="1"/>
          </p:cNvPicPr>
          <p:nvPr/>
        </p:nvPicPr>
        <p:blipFill>
          <a:blip r:embed="rId4"/>
          <a:stretch/>
        </p:blipFill>
        <p:spPr>
          <a:xfrm>
            <a:off x="6286500" y="1780551"/>
            <a:ext cx="5295900" cy="2868272"/>
          </a:xfrm>
          <a:prstGeom prst="rect">
            <a:avLst/>
          </a:prstGeom>
        </p:spPr>
      </p:pic>
      <p:sp>
        <p:nvSpPr>
          <p:cNvPr id="7" name="Rectangle 6">
            <a:extLst>
              <a:ext uri="{FF2B5EF4-FFF2-40B4-BE49-F238E27FC236}">
                <a16:creationId xmlns:a16="http://schemas.microsoft.com/office/drawing/2014/main" id="{FCA8E094-CD7D-477B-925A-DCD85A829AD6}"/>
              </a:ext>
            </a:extLst>
          </p:cNvPr>
          <p:cNvSpPr>
            <a:spLocks noGrp="1"/>
          </p:cNvSpPr>
          <p:nvPr/>
        </p:nvSpPr>
        <p:spPr>
          <a:xfrm>
            <a:off x="6572250" y="5010150"/>
            <a:ext cx="1714500" cy="266700"/>
          </a:xfrm>
          <a:prstGeom prst="rect">
            <a:avLst/>
          </a:prstGeom>
          <a:noFill/>
          <a:ln w="0">
            <a:noFill/>
            <a:prstDash val="solid"/>
          </a:ln>
        </p:spPr>
        <p:txBody>
          <a:bodyPr anchor="t"/>
          <a:lstStyle/>
          <a:p>
            <a:pPr algn="l">
              <a:defRPr sz="1350" b="1" i="0">
                <a:solidFill>
                  <a:srgbClr val="234E8A"/>
                </a:solidFill>
              </a:defRPr>
            </a:pPr>
            <a:r>
              <a:rPr sz="1350" b="1" i="0">
                <a:solidFill>
                  <a:srgbClr val="234E8A"/>
                </a:solidFill>
              </a:rPr>
              <a:t>Most pixels</a:t>
            </a:r>
          </a:p>
        </p:txBody>
      </p:sp>
      <p:sp>
        <p:nvSpPr>
          <p:cNvPr id="8" name="Rectangle 7">
            <a:extLst>
              <a:ext uri="{FF2B5EF4-FFF2-40B4-BE49-F238E27FC236}">
                <a16:creationId xmlns:a16="http://schemas.microsoft.com/office/drawing/2014/main" id="{E6BDC374-57EB-4B1B-B5B4-41C0C81CB0F5}"/>
              </a:ext>
            </a:extLst>
          </p:cNvPr>
          <p:cNvSpPr>
            <a:spLocks noGrp="1"/>
          </p:cNvSpPr>
          <p:nvPr/>
        </p:nvSpPr>
        <p:spPr>
          <a:xfrm>
            <a:off x="6572250" y="5314950"/>
            <a:ext cx="2095500" cy="26670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low to moderate change</a:t>
            </a:r>
          </a:p>
        </p:txBody>
      </p:sp>
      <p:sp>
        <p:nvSpPr>
          <p:cNvPr id="9" name="Rectangle 8">
            <a:extLst>
              <a:ext uri="{FF2B5EF4-FFF2-40B4-BE49-F238E27FC236}">
                <a16:creationId xmlns:a16="http://schemas.microsoft.com/office/drawing/2014/main" id="{98416EE0-1B51-4C9B-BF1F-6899D5FBBAF1}"/>
              </a:ext>
            </a:extLst>
          </p:cNvPr>
          <p:cNvSpPr>
            <a:spLocks noGrp="1"/>
          </p:cNvSpPr>
          <p:nvPr/>
        </p:nvSpPr>
        <p:spPr>
          <a:xfrm>
            <a:off x="9105900" y="5010150"/>
            <a:ext cx="2095500" cy="266700"/>
          </a:xfrm>
          <a:prstGeom prst="rect">
            <a:avLst/>
          </a:prstGeom>
          <a:noFill/>
          <a:ln w="0">
            <a:noFill/>
            <a:prstDash val="solid"/>
          </a:ln>
        </p:spPr>
        <p:txBody>
          <a:bodyPr anchor="t"/>
          <a:lstStyle/>
          <a:p>
            <a:pPr algn="l">
              <a:defRPr sz="1350" b="1" i="0">
                <a:solidFill>
                  <a:srgbClr val="D48728"/>
                </a:solidFill>
              </a:defRPr>
            </a:pPr>
            <a:r>
              <a:rPr sz="1350" b="1" i="0">
                <a:solidFill>
                  <a:srgbClr val="D48728"/>
                </a:solidFill>
              </a:rPr>
              <a:t>Small upper tail</a:t>
            </a:r>
          </a:p>
        </p:txBody>
      </p:sp>
      <p:sp>
        <p:nvSpPr>
          <p:cNvPr id="10" name="Rectangle 9">
            <a:extLst>
              <a:ext uri="{FF2B5EF4-FFF2-40B4-BE49-F238E27FC236}">
                <a16:creationId xmlns:a16="http://schemas.microsoft.com/office/drawing/2014/main" id="{610DCB19-08AC-4EB7-AA67-B9BF0DEFF750}"/>
              </a:ext>
            </a:extLst>
          </p:cNvPr>
          <p:cNvSpPr>
            <a:spLocks noGrp="1"/>
          </p:cNvSpPr>
          <p:nvPr/>
        </p:nvSpPr>
        <p:spPr>
          <a:xfrm>
            <a:off x="9105900" y="5314950"/>
            <a:ext cx="219075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strongest landscape-signal change</a:t>
            </a:r>
          </a:p>
        </p:txBody>
      </p:sp>
      <p:sp>
        <p:nvSpPr>
          <p:cNvPr id="11" name="Rectangle 10">
            <a:extLst>
              <a:ext uri="{FF2B5EF4-FFF2-40B4-BE49-F238E27FC236}">
                <a16:creationId xmlns:a16="http://schemas.microsoft.com/office/drawing/2014/main" id="{563200D2-2B4F-491A-B6AF-93361108E43D}"/>
              </a:ext>
            </a:extLst>
          </p:cNvPr>
          <p:cNvSpPr>
            <a:spLocks noGrp="1"/>
          </p:cNvSpPr>
          <p:nvPr/>
        </p:nvSpPr>
        <p:spPr>
          <a:xfrm>
            <a:off x="1428750" y="5810250"/>
            <a:ext cx="9334500" cy="342900"/>
          </a:xfrm>
          <a:prstGeom prst="rect">
            <a:avLst/>
          </a:prstGeom>
          <a:noFill/>
          <a:ln w="0">
            <a:noFill/>
            <a:prstDash val="solid"/>
          </a:ln>
        </p:spPr>
        <p:txBody>
          <a:bodyPr anchor="t"/>
          <a:lstStyle/>
          <a:p>
            <a:pPr algn="ctr">
              <a:defRPr sz="1725" b="1" i="0">
                <a:solidFill>
                  <a:srgbClr val="08065C"/>
                </a:solidFill>
              </a:defRPr>
            </a:pPr>
            <a:r>
              <a:rPr sz="1725" b="1" i="0">
                <a:solidFill>
                  <a:srgbClr val="08065C"/>
                </a:solidFill>
              </a:rPr>
              <a:t>The right-skewed distribution supports percentile-based hotspot screening.</a:t>
            </a:r>
          </a:p>
        </p:txBody>
      </p:sp>
    </p:spTree>
    <p:extLst>
      <p:ext uri="{BB962C8B-B14F-4D97-AF65-F5344CB8AC3E}">
        <p14:creationId xmlns:p14="http://schemas.microsoft.com/office/powerpoint/2010/main" val="551277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6B35D4-E619-44DB-A063-242BDEC3DC3F}"/>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RESULT 2</a:t>
            </a:r>
          </a:p>
        </p:txBody>
      </p:sp>
      <p:sp>
        <p:nvSpPr>
          <p:cNvPr id="2" name="slide-20-title">
            <a:extLst>
              <a:ext uri="{FF2B5EF4-FFF2-40B4-BE49-F238E27FC236}">
                <a16:creationId xmlns:a16="http://schemas.microsoft.com/office/drawing/2014/main" id="{83457217-143D-42A3-847C-AE5DEEBEDE44}"/>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Repeated change is spatially concentrated</a:t>
            </a:r>
          </a:p>
        </p:txBody>
      </p:sp>
      <p:sp>
        <p:nvSpPr>
          <p:cNvPr id="3" name="Straight Connector 2">
            <a:extLst>
              <a:ext uri="{FF2B5EF4-FFF2-40B4-BE49-F238E27FC236}">
                <a16:creationId xmlns:a16="http://schemas.microsoft.com/office/drawing/2014/main" id="{9F2FAE96-8D1C-46FB-95E7-F2C01A4ED439}"/>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AEDB757E-323B-4737-AD58-B397EADEF3B5}"/>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20</a:t>
            </a:r>
          </a:p>
        </p:txBody>
      </p:sp>
      <p:pic>
        <p:nvPicPr>
          <p:cNvPr id="19" name="Picture 18"/>
          <p:cNvPicPr>
            <a:picLocks noChangeAspect="1"/>
          </p:cNvPicPr>
          <p:nvPr/>
        </p:nvPicPr>
        <p:blipFill>
          <a:blip r:embed="rId3"/>
          <a:stretch/>
        </p:blipFill>
        <p:spPr>
          <a:xfrm>
            <a:off x="609600" y="1609894"/>
            <a:ext cx="6286500" cy="3943012"/>
          </a:xfrm>
          <a:prstGeom prst="rect">
            <a:avLst/>
          </a:prstGeom>
        </p:spPr>
      </p:pic>
      <p:sp>
        <p:nvSpPr>
          <p:cNvPr id="6" name="Rectangle 5">
            <a:extLst>
              <a:ext uri="{FF2B5EF4-FFF2-40B4-BE49-F238E27FC236}">
                <a16:creationId xmlns:a16="http://schemas.microsoft.com/office/drawing/2014/main" id="{142B0AFE-F552-46BB-B392-E6EFE6D15D08}"/>
              </a:ext>
            </a:extLst>
          </p:cNvPr>
          <p:cNvSpPr>
            <a:spLocks noGrp="1"/>
          </p:cNvSpPr>
          <p:nvPr/>
        </p:nvSpPr>
        <p:spPr>
          <a:xfrm>
            <a:off x="7372350" y="1714500"/>
            <a:ext cx="3429000" cy="552450"/>
          </a:xfrm>
          <a:prstGeom prst="rect">
            <a:avLst/>
          </a:prstGeom>
          <a:noFill/>
          <a:ln w="0">
            <a:noFill/>
            <a:prstDash val="solid"/>
          </a:ln>
        </p:spPr>
        <p:txBody>
          <a:bodyPr anchor="t"/>
          <a:lstStyle/>
          <a:p>
            <a:pPr algn="l">
              <a:defRPr sz="3150" b="1" i="0">
                <a:solidFill>
                  <a:srgbClr val="D48728"/>
                </a:solidFill>
              </a:defRPr>
            </a:pPr>
            <a:r>
              <a:rPr sz="3150" b="1" i="0">
                <a:solidFill>
                  <a:srgbClr val="D48728"/>
                </a:solidFill>
              </a:rPr>
              <a:t>334 km²</a:t>
            </a:r>
          </a:p>
        </p:txBody>
      </p:sp>
      <p:sp>
        <p:nvSpPr>
          <p:cNvPr id="7" name="Rectangle 6">
            <a:extLst>
              <a:ext uri="{FF2B5EF4-FFF2-40B4-BE49-F238E27FC236}">
                <a16:creationId xmlns:a16="http://schemas.microsoft.com/office/drawing/2014/main" id="{39FCD9FC-FFE2-48B3-98A8-1B2C621E5AE7}"/>
              </a:ext>
            </a:extLst>
          </p:cNvPr>
          <p:cNvSpPr>
            <a:spLocks noGrp="1"/>
          </p:cNvSpPr>
          <p:nvPr/>
        </p:nvSpPr>
        <p:spPr>
          <a:xfrm>
            <a:off x="7372350" y="2266950"/>
            <a:ext cx="342900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Long-term hotspot area</a:t>
            </a:r>
          </a:p>
        </p:txBody>
      </p:sp>
      <p:sp>
        <p:nvSpPr>
          <p:cNvPr id="8" name="Straight Connector 7">
            <a:extLst>
              <a:ext uri="{FF2B5EF4-FFF2-40B4-BE49-F238E27FC236}">
                <a16:creationId xmlns:a16="http://schemas.microsoft.com/office/drawing/2014/main" id="{CCA4C5E7-88F5-47E7-B4F4-ECF036FA88F5}"/>
              </a:ext>
            </a:extLst>
          </p:cNvPr>
          <p:cNvSpPr>
            <a:spLocks noGrp="1"/>
          </p:cNvSpPr>
          <p:nvPr/>
        </p:nvSpPr>
        <p:spPr>
          <a:xfrm>
            <a:off x="7372350" y="2724150"/>
            <a:ext cx="3657600" cy="0"/>
          </a:xfrm>
          <a:prstGeom prst="line">
            <a:avLst/>
          </a:prstGeom>
          <a:noFill/>
          <a:ln w="9525">
            <a:solidFill>
              <a:srgbClr val="D4DDE2"/>
            </a:solidFill>
            <a:prstDash val="solid"/>
          </a:ln>
        </p:spPr>
        <p:txBody>
          <a:bodyPr/>
          <a:lstStyle/>
          <a:p>
            <a:endParaRPr lang="en-US"/>
          </a:p>
        </p:txBody>
      </p:sp>
      <p:sp>
        <p:nvSpPr>
          <p:cNvPr id="9" name="Rectangle 8">
            <a:extLst>
              <a:ext uri="{FF2B5EF4-FFF2-40B4-BE49-F238E27FC236}">
                <a16:creationId xmlns:a16="http://schemas.microsoft.com/office/drawing/2014/main" id="{95691551-27F2-494D-8D07-1DBCDBB2A47E}"/>
              </a:ext>
            </a:extLst>
          </p:cNvPr>
          <p:cNvSpPr>
            <a:spLocks noGrp="1"/>
          </p:cNvSpPr>
          <p:nvPr/>
        </p:nvSpPr>
        <p:spPr>
          <a:xfrm>
            <a:off x="7372350" y="2933700"/>
            <a:ext cx="3429000" cy="552450"/>
          </a:xfrm>
          <a:prstGeom prst="rect">
            <a:avLst/>
          </a:prstGeom>
          <a:noFill/>
          <a:ln w="0">
            <a:noFill/>
            <a:prstDash val="solid"/>
          </a:ln>
        </p:spPr>
        <p:txBody>
          <a:bodyPr anchor="t"/>
          <a:lstStyle/>
          <a:p>
            <a:pPr algn="l">
              <a:defRPr sz="3150" b="1" i="0">
                <a:solidFill>
                  <a:srgbClr val="AD354A"/>
                </a:solidFill>
              </a:defRPr>
            </a:pPr>
            <a:r>
              <a:rPr sz="3150" b="1" i="0">
                <a:solidFill>
                  <a:srgbClr val="AD354A"/>
                </a:solidFill>
              </a:rPr>
              <a:t>146 km²</a:t>
            </a:r>
          </a:p>
        </p:txBody>
      </p:sp>
      <p:sp>
        <p:nvSpPr>
          <p:cNvPr id="10" name="Rectangle 9">
            <a:extLst>
              <a:ext uri="{FF2B5EF4-FFF2-40B4-BE49-F238E27FC236}">
                <a16:creationId xmlns:a16="http://schemas.microsoft.com/office/drawing/2014/main" id="{538E40C0-76FB-4CF1-8D56-28D1A79362FA}"/>
              </a:ext>
            </a:extLst>
          </p:cNvPr>
          <p:cNvSpPr>
            <a:spLocks noGrp="1"/>
          </p:cNvSpPr>
          <p:nvPr/>
        </p:nvSpPr>
        <p:spPr>
          <a:xfrm>
            <a:off x="7372350" y="3486150"/>
            <a:ext cx="3429000" cy="438150"/>
          </a:xfrm>
          <a:prstGeom prst="rect">
            <a:avLst/>
          </a:prstGeom>
          <a:noFill/>
          <a:ln w="0">
            <a:noFill/>
            <a:prstDash val="solid"/>
          </a:ln>
        </p:spPr>
        <p:txBody>
          <a:bodyPr anchor="t"/>
          <a:lstStyle/>
          <a:p>
            <a:pPr algn="l">
              <a:defRPr sz="1200" b="0" i="0">
                <a:solidFill>
                  <a:srgbClr val="5E6B75"/>
                </a:solidFill>
              </a:defRPr>
            </a:pPr>
            <a:r>
              <a:rPr sz="1200" b="0" i="0">
                <a:solidFill>
                  <a:srgbClr val="5E6B75"/>
                </a:solidFill>
              </a:rPr>
              <a:t>Strong change in at least two annual intervals</a:t>
            </a:r>
          </a:p>
        </p:txBody>
      </p:sp>
      <p:sp>
        <p:nvSpPr>
          <p:cNvPr id="11" name="Straight Connector 10">
            <a:extLst>
              <a:ext uri="{FF2B5EF4-FFF2-40B4-BE49-F238E27FC236}">
                <a16:creationId xmlns:a16="http://schemas.microsoft.com/office/drawing/2014/main" id="{01F4F377-6028-4AB1-8C47-C7D1E87566B9}"/>
              </a:ext>
            </a:extLst>
          </p:cNvPr>
          <p:cNvSpPr>
            <a:spLocks noGrp="1"/>
          </p:cNvSpPr>
          <p:nvPr/>
        </p:nvSpPr>
        <p:spPr>
          <a:xfrm>
            <a:off x="7372350" y="4057650"/>
            <a:ext cx="3657600" cy="0"/>
          </a:xfrm>
          <a:prstGeom prst="line">
            <a:avLst/>
          </a:prstGeom>
          <a:noFill/>
          <a:ln w="9525">
            <a:solidFill>
              <a:srgbClr val="D4DDE2"/>
            </a:solidFill>
            <a:prstDash val="solid"/>
          </a:ln>
        </p:spPr>
        <p:txBody>
          <a:bodyPr/>
          <a:lstStyle/>
          <a:p>
            <a:endParaRPr lang="en-US"/>
          </a:p>
        </p:txBody>
      </p:sp>
      <p:sp>
        <p:nvSpPr>
          <p:cNvPr id="12" name="Rectangle 11">
            <a:extLst>
              <a:ext uri="{FF2B5EF4-FFF2-40B4-BE49-F238E27FC236}">
                <a16:creationId xmlns:a16="http://schemas.microsoft.com/office/drawing/2014/main" id="{E7595D25-84E3-4585-AA24-072018A0AAC0}"/>
              </a:ext>
            </a:extLst>
          </p:cNvPr>
          <p:cNvSpPr>
            <a:spLocks noGrp="1"/>
          </p:cNvSpPr>
          <p:nvPr/>
        </p:nvSpPr>
        <p:spPr>
          <a:xfrm>
            <a:off x="7372350" y="4267200"/>
            <a:ext cx="3429000" cy="552450"/>
          </a:xfrm>
          <a:prstGeom prst="rect">
            <a:avLst/>
          </a:prstGeom>
          <a:noFill/>
          <a:ln w="0">
            <a:noFill/>
            <a:prstDash val="solid"/>
          </a:ln>
        </p:spPr>
        <p:txBody>
          <a:bodyPr anchor="t"/>
          <a:lstStyle/>
          <a:p>
            <a:pPr algn="l">
              <a:defRPr sz="3150" b="1" i="0">
                <a:solidFill>
                  <a:srgbClr val="08065C"/>
                </a:solidFill>
              </a:defRPr>
            </a:pPr>
            <a:r>
              <a:rPr sz="3150" b="1" i="0">
                <a:solidFill>
                  <a:srgbClr val="08065C"/>
                </a:solidFill>
              </a:rPr>
              <a:t>57 km²</a:t>
            </a:r>
          </a:p>
        </p:txBody>
      </p:sp>
      <p:sp>
        <p:nvSpPr>
          <p:cNvPr id="13" name="Rectangle 12">
            <a:extLst>
              <a:ext uri="{FF2B5EF4-FFF2-40B4-BE49-F238E27FC236}">
                <a16:creationId xmlns:a16="http://schemas.microsoft.com/office/drawing/2014/main" id="{F0C3C322-0C68-4C9A-9237-AEFD905F4397}"/>
              </a:ext>
            </a:extLst>
          </p:cNvPr>
          <p:cNvSpPr>
            <a:spLocks noGrp="1"/>
          </p:cNvSpPr>
          <p:nvPr/>
        </p:nvSpPr>
        <p:spPr>
          <a:xfrm>
            <a:off x="7372350" y="4819650"/>
            <a:ext cx="3429000" cy="438150"/>
          </a:xfrm>
          <a:prstGeom prst="rect">
            <a:avLst/>
          </a:prstGeom>
          <a:noFill/>
          <a:ln w="0">
            <a:noFill/>
            <a:prstDash val="solid"/>
          </a:ln>
        </p:spPr>
        <p:txBody>
          <a:bodyPr anchor="t"/>
          <a:lstStyle/>
          <a:p>
            <a:pPr algn="l">
              <a:defRPr sz="1200" b="0" i="0">
                <a:solidFill>
                  <a:srgbClr val="5E6B75"/>
                </a:solidFill>
              </a:defRPr>
            </a:pPr>
            <a:r>
              <a:rPr sz="1200" b="0" i="0">
                <a:solidFill>
                  <a:srgbClr val="5E6B75"/>
                </a:solidFill>
              </a:rPr>
              <a:t>Strong change in at least three annual intervals</a:t>
            </a:r>
          </a:p>
        </p:txBody>
      </p:sp>
      <p:sp>
        <p:nvSpPr>
          <p:cNvPr id="14" name="Rectangle 13">
            <a:extLst>
              <a:ext uri="{FF2B5EF4-FFF2-40B4-BE49-F238E27FC236}">
                <a16:creationId xmlns:a16="http://schemas.microsoft.com/office/drawing/2014/main" id="{A56A9653-9B9B-4C9C-9C23-F50354727BBE}"/>
              </a:ext>
            </a:extLst>
          </p:cNvPr>
          <p:cNvSpPr>
            <a:spLocks noGrp="1"/>
          </p:cNvSpPr>
          <p:nvPr/>
        </p:nvSpPr>
        <p:spPr>
          <a:xfrm>
            <a:off x="7239000" y="5524500"/>
            <a:ext cx="3905250" cy="457200"/>
          </a:xfrm>
          <a:prstGeom prst="rect">
            <a:avLst/>
          </a:prstGeom>
          <a:noFill/>
          <a:ln w="0">
            <a:noFill/>
            <a:prstDash val="solid"/>
          </a:ln>
        </p:spPr>
        <p:txBody>
          <a:bodyPr anchor="t"/>
          <a:lstStyle/>
          <a:p>
            <a:pPr algn="ctr">
              <a:defRPr sz="1575" b="1" i="0">
                <a:solidFill>
                  <a:srgbClr val="08065C"/>
                </a:solidFill>
              </a:defRPr>
            </a:pPr>
            <a:r>
              <a:rPr sz="1575" b="1" i="0">
                <a:solidFill>
                  <a:srgbClr val="08065C"/>
                </a:solidFill>
              </a:rPr>
              <a:t>As repetition criteria tighten, the footprint shrinks sharply.</a:t>
            </a:r>
          </a:p>
        </p:txBody>
      </p:sp>
    </p:spTree>
    <p:extLst>
      <p:ext uri="{BB962C8B-B14F-4D97-AF65-F5344CB8AC3E}">
        <p14:creationId xmlns:p14="http://schemas.microsoft.com/office/powerpoint/2010/main" val="1897402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D9B7B42-2021-4449-BC47-84EE5B4F7A5A}"/>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dirty="0">
                <a:solidFill>
                  <a:srgbClr val="147D70"/>
                </a:solidFill>
              </a:rPr>
              <a:t>RESULT </a:t>
            </a:r>
            <a:r>
              <a:rPr lang="vi-VN" sz="975" b="1" i="0" dirty="0">
                <a:solidFill>
                  <a:srgbClr val="147D70"/>
                </a:solidFill>
              </a:rPr>
              <a:t>3</a:t>
            </a:r>
            <a:endParaRPr sz="975" b="1" i="0" dirty="0">
              <a:solidFill>
                <a:srgbClr val="147D70"/>
              </a:solidFill>
            </a:endParaRPr>
          </a:p>
        </p:txBody>
      </p:sp>
      <p:sp>
        <p:nvSpPr>
          <p:cNvPr id="2" name="slide-22-title">
            <a:extLst>
              <a:ext uri="{FF2B5EF4-FFF2-40B4-BE49-F238E27FC236}">
                <a16:creationId xmlns:a16="http://schemas.microsoft.com/office/drawing/2014/main" id="{07E2419F-AB97-490E-AFFC-4CD1F8FE7B26}"/>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Embedding-change groups show more DEA class changes</a:t>
            </a:r>
          </a:p>
        </p:txBody>
      </p:sp>
      <p:sp>
        <p:nvSpPr>
          <p:cNvPr id="3" name="Straight Connector 2">
            <a:extLst>
              <a:ext uri="{FF2B5EF4-FFF2-40B4-BE49-F238E27FC236}">
                <a16:creationId xmlns:a16="http://schemas.microsoft.com/office/drawing/2014/main" id="{6AEE9324-902F-4DC2-8D31-7D7E83BF66E9}"/>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F41F4FA1-F16E-4213-A6E2-F98552DA0EF4}"/>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22</a:t>
            </a:r>
          </a:p>
        </p:txBody>
      </p:sp>
      <p:graphicFrame>
        <p:nvGraphicFramePr>
          <p:cNvPr id="17" name="Chart"/>
          <p:cNvGraphicFramePr/>
          <p:nvPr/>
        </p:nvGraphicFramePr>
        <p:xfrm>
          <a:off x="666750" y="1524000"/>
          <a:ext cx="74295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59922FAF-AA81-4A32-AC62-855E49538632}"/>
              </a:ext>
            </a:extLst>
          </p:cNvPr>
          <p:cNvSpPr>
            <a:spLocks noGrp="1"/>
          </p:cNvSpPr>
          <p:nvPr/>
        </p:nvSpPr>
        <p:spPr>
          <a:xfrm>
            <a:off x="8572500" y="1790700"/>
            <a:ext cx="2571750" cy="552450"/>
          </a:xfrm>
          <a:prstGeom prst="rect">
            <a:avLst/>
          </a:prstGeom>
          <a:noFill/>
          <a:ln w="0">
            <a:noFill/>
            <a:prstDash val="solid"/>
          </a:ln>
        </p:spPr>
        <p:txBody>
          <a:bodyPr anchor="t"/>
          <a:lstStyle/>
          <a:p>
            <a:pPr algn="ctr">
              <a:defRPr sz="3150" b="1" i="0">
                <a:solidFill>
                  <a:srgbClr val="AD354A"/>
                </a:solidFill>
              </a:defRPr>
            </a:pPr>
            <a:r>
              <a:rPr sz="3150" b="1" i="0">
                <a:solidFill>
                  <a:srgbClr val="AD354A"/>
                </a:solidFill>
              </a:rPr>
              <a:t>75%</a:t>
            </a:r>
          </a:p>
        </p:txBody>
      </p:sp>
      <p:sp>
        <p:nvSpPr>
          <p:cNvPr id="7" name="Rectangle 6">
            <a:extLst>
              <a:ext uri="{FF2B5EF4-FFF2-40B4-BE49-F238E27FC236}">
                <a16:creationId xmlns:a16="http://schemas.microsoft.com/office/drawing/2014/main" id="{F3F4A966-C9C5-43A9-9B3E-E87C92288A4F}"/>
              </a:ext>
            </a:extLst>
          </p:cNvPr>
          <p:cNvSpPr>
            <a:spLocks noGrp="1"/>
          </p:cNvSpPr>
          <p:nvPr/>
        </p:nvSpPr>
        <p:spPr>
          <a:xfrm>
            <a:off x="8572500" y="2343150"/>
            <a:ext cx="2571750" cy="438150"/>
          </a:xfrm>
          <a:prstGeom prst="rect">
            <a:avLst/>
          </a:prstGeom>
          <a:noFill/>
          <a:ln w="0">
            <a:noFill/>
            <a:prstDash val="solid"/>
          </a:ln>
        </p:spPr>
        <p:txBody>
          <a:bodyPr anchor="t"/>
          <a:lstStyle/>
          <a:p>
            <a:pPr algn="ctr">
              <a:defRPr sz="1275" b="0" i="0">
                <a:solidFill>
                  <a:srgbClr val="5E6B75"/>
                </a:solidFill>
              </a:defRPr>
            </a:pPr>
            <a:r>
              <a:rPr sz="1275" b="0" i="0">
                <a:solidFill>
                  <a:srgbClr val="5E6B75"/>
                </a:solidFill>
              </a:rPr>
              <a:t>Positive-slope pixels with a DEA broad-class change</a:t>
            </a:r>
          </a:p>
        </p:txBody>
      </p:sp>
      <p:sp>
        <p:nvSpPr>
          <p:cNvPr id="8" name="Rectangle 7">
            <a:extLst>
              <a:ext uri="{FF2B5EF4-FFF2-40B4-BE49-F238E27FC236}">
                <a16:creationId xmlns:a16="http://schemas.microsoft.com/office/drawing/2014/main" id="{D99556B7-4FDC-4D78-B560-C84A7DA079B8}"/>
              </a:ext>
            </a:extLst>
          </p:cNvPr>
          <p:cNvSpPr>
            <a:spLocks noGrp="1"/>
          </p:cNvSpPr>
          <p:nvPr/>
        </p:nvSpPr>
        <p:spPr>
          <a:xfrm>
            <a:off x="8572500" y="3009900"/>
            <a:ext cx="2571750" cy="304800"/>
          </a:xfrm>
          <a:prstGeom prst="rect">
            <a:avLst/>
          </a:prstGeom>
          <a:noFill/>
          <a:ln w="0">
            <a:noFill/>
            <a:prstDash val="solid"/>
          </a:ln>
        </p:spPr>
        <p:txBody>
          <a:bodyPr anchor="t"/>
          <a:lstStyle/>
          <a:p>
            <a:pPr algn="ctr">
              <a:defRPr sz="1350" b="0" i="0">
                <a:solidFill>
                  <a:srgbClr val="5E6B75"/>
                </a:solidFill>
              </a:defRPr>
            </a:pPr>
            <a:r>
              <a:rPr sz="1350" b="0" i="0">
                <a:solidFill>
                  <a:srgbClr val="5E6B75"/>
                </a:solidFill>
              </a:rPr>
              <a:t>versus</a:t>
            </a:r>
          </a:p>
        </p:txBody>
      </p:sp>
      <p:sp>
        <p:nvSpPr>
          <p:cNvPr id="9" name="Rectangle 8">
            <a:extLst>
              <a:ext uri="{FF2B5EF4-FFF2-40B4-BE49-F238E27FC236}">
                <a16:creationId xmlns:a16="http://schemas.microsoft.com/office/drawing/2014/main" id="{81DF4AE2-B768-41DF-8CFD-A0E534F1BADB}"/>
              </a:ext>
            </a:extLst>
          </p:cNvPr>
          <p:cNvSpPr>
            <a:spLocks noGrp="1"/>
          </p:cNvSpPr>
          <p:nvPr/>
        </p:nvSpPr>
        <p:spPr>
          <a:xfrm>
            <a:off x="8572500" y="3371850"/>
            <a:ext cx="2571750" cy="552450"/>
          </a:xfrm>
          <a:prstGeom prst="rect">
            <a:avLst/>
          </a:prstGeom>
          <a:noFill/>
          <a:ln w="0">
            <a:noFill/>
            <a:prstDash val="solid"/>
          </a:ln>
        </p:spPr>
        <p:txBody>
          <a:bodyPr anchor="t"/>
          <a:lstStyle/>
          <a:p>
            <a:pPr algn="ctr">
              <a:defRPr sz="3150" b="1" i="0">
                <a:solidFill>
                  <a:srgbClr val="234E8A"/>
                </a:solidFill>
              </a:defRPr>
            </a:pPr>
            <a:r>
              <a:rPr sz="3150" b="1" i="0">
                <a:solidFill>
                  <a:srgbClr val="234E8A"/>
                </a:solidFill>
              </a:rPr>
              <a:t>30%</a:t>
            </a:r>
          </a:p>
        </p:txBody>
      </p:sp>
      <p:sp>
        <p:nvSpPr>
          <p:cNvPr id="10" name="Rectangle 9">
            <a:extLst>
              <a:ext uri="{FF2B5EF4-FFF2-40B4-BE49-F238E27FC236}">
                <a16:creationId xmlns:a16="http://schemas.microsoft.com/office/drawing/2014/main" id="{CC9EA65B-22BA-4D66-8760-68EBA3BF5ED3}"/>
              </a:ext>
            </a:extLst>
          </p:cNvPr>
          <p:cNvSpPr>
            <a:spLocks noGrp="1"/>
          </p:cNvSpPr>
          <p:nvPr/>
        </p:nvSpPr>
        <p:spPr>
          <a:xfrm>
            <a:off x="8572500" y="3924300"/>
            <a:ext cx="2571750" cy="438150"/>
          </a:xfrm>
          <a:prstGeom prst="rect">
            <a:avLst/>
          </a:prstGeom>
          <a:noFill/>
          <a:ln w="0">
            <a:noFill/>
            <a:prstDash val="solid"/>
          </a:ln>
        </p:spPr>
        <p:txBody>
          <a:bodyPr anchor="t"/>
          <a:lstStyle/>
          <a:p>
            <a:pPr algn="ctr">
              <a:defRPr sz="1275" b="0" i="0">
                <a:solidFill>
                  <a:srgbClr val="5E6B75"/>
                </a:solidFill>
              </a:defRPr>
            </a:pPr>
            <a:r>
              <a:rPr sz="1275" b="0" i="0">
                <a:solidFill>
                  <a:srgbClr val="5E6B75"/>
                </a:solidFill>
              </a:rPr>
              <a:t>Stable controls with a DEA broad-class change</a:t>
            </a:r>
          </a:p>
        </p:txBody>
      </p:sp>
      <p:sp>
        <p:nvSpPr>
          <p:cNvPr id="11" name="Rounded Rectangle 10">
            <a:extLst>
              <a:ext uri="{FF2B5EF4-FFF2-40B4-BE49-F238E27FC236}">
                <a16:creationId xmlns:a16="http://schemas.microsoft.com/office/drawing/2014/main" id="{B036D833-8B9D-44B2-9DD9-F4FEB8F0029A}"/>
              </a:ext>
            </a:extLst>
          </p:cNvPr>
          <p:cNvSpPr>
            <a:spLocks noGrp="1"/>
          </p:cNvSpPr>
          <p:nvPr/>
        </p:nvSpPr>
        <p:spPr>
          <a:xfrm>
            <a:off x="8524875" y="4819650"/>
            <a:ext cx="2667000" cy="781050"/>
          </a:xfrm>
          <a:prstGeom prst="roundRect">
            <a:avLst>
              <a:gd name="adj" fmla="val 7317"/>
            </a:avLst>
          </a:prstGeom>
          <a:solidFill>
            <a:srgbClr val="EEF2F4"/>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A4F8A535-F38E-438C-B53F-15AE4250E986}"/>
              </a:ext>
            </a:extLst>
          </p:cNvPr>
          <p:cNvSpPr>
            <a:spLocks noGrp="1"/>
          </p:cNvSpPr>
          <p:nvPr/>
        </p:nvSpPr>
        <p:spPr>
          <a:xfrm>
            <a:off x="8763000" y="5010150"/>
            <a:ext cx="2190750" cy="457200"/>
          </a:xfrm>
          <a:prstGeom prst="rect">
            <a:avLst/>
          </a:prstGeom>
          <a:noFill/>
          <a:ln w="0">
            <a:noFill/>
            <a:prstDash val="solid"/>
          </a:ln>
        </p:spPr>
        <p:txBody>
          <a:bodyPr anchor="t"/>
          <a:lstStyle/>
          <a:p>
            <a:pPr algn="ctr">
              <a:defRPr sz="1350" b="1" i="0">
                <a:solidFill>
                  <a:srgbClr val="08065C"/>
                </a:solidFill>
              </a:defRPr>
            </a:pPr>
            <a:r>
              <a:rPr sz="1350" b="1" i="0">
                <a:solidFill>
                  <a:srgbClr val="08065C"/>
                </a:solidFill>
              </a:rPr>
              <a:t>Agreement / enrichment</a:t>
            </a:r>
          </a:p>
          <a:p>
            <a:pPr algn="ctr">
              <a:defRPr sz="1350" b="1" i="0">
                <a:solidFill>
                  <a:srgbClr val="08065C"/>
                </a:solidFill>
              </a:defRPr>
            </a:pPr>
            <a:r>
              <a:rPr sz="1350" b="1" i="0">
                <a:solidFill>
                  <a:srgbClr val="08065C"/>
                </a:solidFill>
              </a:rPr>
              <a:t>not model accuracy</a:t>
            </a:r>
          </a:p>
        </p:txBody>
      </p:sp>
    </p:spTree>
    <p:extLst>
      <p:ext uri="{BB962C8B-B14F-4D97-AF65-F5344CB8AC3E}">
        <p14:creationId xmlns:p14="http://schemas.microsoft.com/office/powerpoint/2010/main" val="77596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F54C973-997E-4B60-8EEB-A33082FA45AF}"/>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dirty="0">
                <a:solidFill>
                  <a:srgbClr val="147D70"/>
                </a:solidFill>
              </a:rPr>
              <a:t>RESULT </a:t>
            </a:r>
            <a:r>
              <a:rPr lang="vi-VN" sz="975" b="1" i="0" dirty="0">
                <a:solidFill>
                  <a:srgbClr val="147D70"/>
                </a:solidFill>
              </a:rPr>
              <a:t>4</a:t>
            </a:r>
            <a:endParaRPr sz="975" b="1" i="0" dirty="0">
              <a:solidFill>
                <a:srgbClr val="147D70"/>
              </a:solidFill>
            </a:endParaRPr>
          </a:p>
        </p:txBody>
      </p:sp>
      <p:sp>
        <p:nvSpPr>
          <p:cNvPr id="2" name="slide-23-title">
            <a:extLst>
              <a:ext uri="{FF2B5EF4-FFF2-40B4-BE49-F238E27FC236}">
                <a16:creationId xmlns:a16="http://schemas.microsoft.com/office/drawing/2014/main" id="{B56C1D29-8A12-48BE-B7E9-4BE4CF9E40ED}"/>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The sample and full-area analysis tell the same story</a:t>
            </a:r>
          </a:p>
        </p:txBody>
      </p:sp>
      <p:sp>
        <p:nvSpPr>
          <p:cNvPr id="3" name="Straight Connector 2">
            <a:extLst>
              <a:ext uri="{FF2B5EF4-FFF2-40B4-BE49-F238E27FC236}">
                <a16:creationId xmlns:a16="http://schemas.microsoft.com/office/drawing/2014/main" id="{E2BB83FE-8941-4FFB-AB9C-E65A3CE1D5C8}"/>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CFA767FE-606F-4939-816A-2ECBCE16D0DD}"/>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23</a:t>
            </a:r>
          </a:p>
        </p:txBody>
      </p:sp>
      <p:graphicFrame>
        <p:nvGraphicFramePr>
          <p:cNvPr id="23" name="Chart"/>
          <p:cNvGraphicFramePr/>
          <p:nvPr/>
        </p:nvGraphicFramePr>
        <p:xfrm>
          <a:off x="723900" y="1562100"/>
          <a:ext cx="74295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B69F73CB-E268-455F-9C30-D90294BC0CA9}"/>
              </a:ext>
            </a:extLst>
          </p:cNvPr>
          <p:cNvSpPr>
            <a:spLocks noGrp="1"/>
          </p:cNvSpPr>
          <p:nvPr/>
        </p:nvSpPr>
        <p:spPr>
          <a:xfrm>
            <a:off x="8667750" y="1752600"/>
            <a:ext cx="2381250" cy="323850"/>
          </a:xfrm>
          <a:prstGeom prst="rect">
            <a:avLst/>
          </a:prstGeom>
          <a:noFill/>
          <a:ln w="0">
            <a:noFill/>
            <a:prstDash val="solid"/>
          </a:ln>
        </p:spPr>
        <p:txBody>
          <a:bodyPr anchor="t"/>
          <a:lstStyle/>
          <a:p>
            <a:pPr algn="ctr">
              <a:defRPr sz="1800" b="1" i="0">
                <a:solidFill>
                  <a:srgbClr val="08065C"/>
                </a:solidFill>
              </a:defRPr>
            </a:pPr>
            <a:r>
              <a:rPr sz="1800" b="1" i="0">
                <a:solidFill>
                  <a:srgbClr val="08065C"/>
                </a:solidFill>
              </a:rPr>
              <a:t>Why sample first?</a:t>
            </a:r>
          </a:p>
        </p:txBody>
      </p:sp>
      <p:sp>
        <p:nvSpPr>
          <p:cNvPr id="7" name="Oval 6">
            <a:extLst>
              <a:ext uri="{FF2B5EF4-FFF2-40B4-BE49-F238E27FC236}">
                <a16:creationId xmlns:a16="http://schemas.microsoft.com/office/drawing/2014/main" id="{137A89F3-3BF5-4E31-AF45-97C33183A4A3}"/>
              </a:ext>
            </a:extLst>
          </p:cNvPr>
          <p:cNvSpPr>
            <a:spLocks noGrp="1"/>
          </p:cNvSpPr>
          <p:nvPr/>
        </p:nvSpPr>
        <p:spPr>
          <a:xfrm>
            <a:off x="8629650" y="2428875"/>
            <a:ext cx="76200" cy="76200"/>
          </a:xfrm>
          <a:prstGeom prst="ellipse">
            <a:avLst/>
          </a:prstGeom>
          <a:solidFill>
            <a:srgbClr val="234E8A"/>
          </a:solidFill>
          <a:ln w="0">
            <a:noFill/>
            <a:prstDash val="solid"/>
          </a:ln>
        </p:spPr>
        <p:txBody>
          <a:bodyPr/>
          <a:lstStyle/>
          <a:p>
            <a:endParaRPr lang="en-US"/>
          </a:p>
        </p:txBody>
      </p:sp>
      <p:sp>
        <p:nvSpPr>
          <p:cNvPr id="8" name="Rectangle 7">
            <a:extLst>
              <a:ext uri="{FF2B5EF4-FFF2-40B4-BE49-F238E27FC236}">
                <a16:creationId xmlns:a16="http://schemas.microsoft.com/office/drawing/2014/main" id="{9F846E12-8F27-4283-B38F-2703E4331C21}"/>
              </a:ext>
            </a:extLst>
          </p:cNvPr>
          <p:cNvSpPr>
            <a:spLocks noGrp="1"/>
          </p:cNvSpPr>
          <p:nvPr/>
        </p:nvSpPr>
        <p:spPr>
          <a:xfrm>
            <a:off x="8839200" y="2343150"/>
            <a:ext cx="23622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Faster method testing</a:t>
            </a:r>
          </a:p>
        </p:txBody>
      </p:sp>
      <p:sp>
        <p:nvSpPr>
          <p:cNvPr id="9" name="Oval 8">
            <a:extLst>
              <a:ext uri="{FF2B5EF4-FFF2-40B4-BE49-F238E27FC236}">
                <a16:creationId xmlns:a16="http://schemas.microsoft.com/office/drawing/2014/main" id="{A518B35B-326F-4C3A-871F-56D20D802388}"/>
              </a:ext>
            </a:extLst>
          </p:cNvPr>
          <p:cNvSpPr>
            <a:spLocks noGrp="1"/>
          </p:cNvSpPr>
          <p:nvPr/>
        </p:nvSpPr>
        <p:spPr>
          <a:xfrm>
            <a:off x="8629650" y="2981325"/>
            <a:ext cx="76200" cy="76200"/>
          </a:xfrm>
          <a:prstGeom prst="ellipse">
            <a:avLst/>
          </a:prstGeom>
          <a:solidFill>
            <a:srgbClr val="234E8A"/>
          </a:solidFill>
          <a:ln w="0">
            <a:noFill/>
            <a:prstDash val="solid"/>
          </a:ln>
        </p:spPr>
        <p:txBody>
          <a:bodyPr/>
          <a:lstStyle/>
          <a:p>
            <a:endParaRPr lang="en-US"/>
          </a:p>
        </p:txBody>
      </p:sp>
      <p:sp>
        <p:nvSpPr>
          <p:cNvPr id="10" name="Rectangle 9">
            <a:extLst>
              <a:ext uri="{FF2B5EF4-FFF2-40B4-BE49-F238E27FC236}">
                <a16:creationId xmlns:a16="http://schemas.microsoft.com/office/drawing/2014/main" id="{3108C262-A31F-4363-B944-7EF1A9B79782}"/>
              </a:ext>
            </a:extLst>
          </p:cNvPr>
          <p:cNvSpPr>
            <a:spLocks noGrp="1"/>
          </p:cNvSpPr>
          <p:nvPr/>
        </p:nvSpPr>
        <p:spPr>
          <a:xfrm>
            <a:off x="8839200" y="2895600"/>
            <a:ext cx="23622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Balanced category comparison</a:t>
            </a:r>
          </a:p>
        </p:txBody>
      </p:sp>
      <p:sp>
        <p:nvSpPr>
          <p:cNvPr id="11" name="Oval 10">
            <a:extLst>
              <a:ext uri="{FF2B5EF4-FFF2-40B4-BE49-F238E27FC236}">
                <a16:creationId xmlns:a16="http://schemas.microsoft.com/office/drawing/2014/main" id="{E74484E0-21F6-4E9F-B284-F34691A7F3C2}"/>
              </a:ext>
            </a:extLst>
          </p:cNvPr>
          <p:cNvSpPr>
            <a:spLocks noGrp="1"/>
          </p:cNvSpPr>
          <p:nvPr/>
        </p:nvSpPr>
        <p:spPr>
          <a:xfrm>
            <a:off x="8629650" y="3533775"/>
            <a:ext cx="76200" cy="76200"/>
          </a:xfrm>
          <a:prstGeom prst="ellipse">
            <a:avLst/>
          </a:prstGeom>
          <a:solidFill>
            <a:srgbClr val="234E8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25E1CCF-CB2F-4144-B0E8-2BE6224CA8A9}"/>
              </a:ext>
            </a:extLst>
          </p:cNvPr>
          <p:cNvSpPr>
            <a:spLocks noGrp="1"/>
          </p:cNvSpPr>
          <p:nvPr/>
        </p:nvSpPr>
        <p:spPr>
          <a:xfrm>
            <a:off x="8839200" y="3448050"/>
            <a:ext cx="23622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Detailed point histories</a:t>
            </a:r>
          </a:p>
        </p:txBody>
      </p:sp>
      <p:sp>
        <p:nvSpPr>
          <p:cNvPr id="13" name="Oval 12">
            <a:extLst>
              <a:ext uri="{FF2B5EF4-FFF2-40B4-BE49-F238E27FC236}">
                <a16:creationId xmlns:a16="http://schemas.microsoft.com/office/drawing/2014/main" id="{B72256B0-EEA7-4AC1-BE8D-91934FF431DF}"/>
              </a:ext>
            </a:extLst>
          </p:cNvPr>
          <p:cNvSpPr>
            <a:spLocks noGrp="1"/>
          </p:cNvSpPr>
          <p:nvPr/>
        </p:nvSpPr>
        <p:spPr>
          <a:xfrm>
            <a:off x="8629650" y="4086225"/>
            <a:ext cx="76200" cy="76200"/>
          </a:xfrm>
          <a:prstGeom prst="ellipse">
            <a:avLst/>
          </a:prstGeom>
          <a:solidFill>
            <a:srgbClr val="234E8A"/>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271D82AB-4A6B-42F3-B0B7-B9ED0E3BDC6E}"/>
              </a:ext>
            </a:extLst>
          </p:cNvPr>
          <p:cNvSpPr>
            <a:spLocks noGrp="1"/>
          </p:cNvSpPr>
          <p:nvPr/>
        </p:nvSpPr>
        <p:spPr>
          <a:xfrm>
            <a:off x="8839200" y="4000500"/>
            <a:ext cx="2362200" cy="514350"/>
          </a:xfrm>
          <a:prstGeom prst="rect">
            <a:avLst/>
          </a:prstGeom>
          <a:noFill/>
          <a:ln w="0">
            <a:noFill/>
            <a:prstDash val="solid"/>
          </a:ln>
        </p:spPr>
        <p:txBody>
          <a:bodyPr anchor="t"/>
          <a:lstStyle/>
          <a:p>
            <a:pPr algn="l">
              <a:defRPr sz="1350" b="0" i="0">
                <a:solidFill>
                  <a:srgbClr val="18232B"/>
                </a:solidFill>
              </a:defRPr>
            </a:pPr>
            <a:r>
              <a:rPr sz="1350" b="0" i="0">
                <a:solidFill>
                  <a:srgbClr val="18232B"/>
                </a:solidFill>
              </a:rPr>
              <a:t>Fixed-seed reproducibility</a:t>
            </a:r>
          </a:p>
        </p:txBody>
      </p:sp>
      <p:sp>
        <p:nvSpPr>
          <p:cNvPr id="15" name="Rectangle 14">
            <a:extLst>
              <a:ext uri="{FF2B5EF4-FFF2-40B4-BE49-F238E27FC236}">
                <a16:creationId xmlns:a16="http://schemas.microsoft.com/office/drawing/2014/main" id="{15DCB6B1-A6C6-4EFD-992E-0C3D13D8D3D8}"/>
              </a:ext>
            </a:extLst>
          </p:cNvPr>
          <p:cNvSpPr>
            <a:spLocks noGrp="1"/>
          </p:cNvSpPr>
          <p:nvPr/>
        </p:nvSpPr>
        <p:spPr>
          <a:xfrm>
            <a:off x="8572500" y="4762500"/>
            <a:ext cx="2667000" cy="781050"/>
          </a:xfrm>
          <a:prstGeom prst="rect">
            <a:avLst/>
          </a:prstGeom>
          <a:noFill/>
          <a:ln w="0">
            <a:noFill/>
            <a:prstDash val="solid"/>
          </a:ln>
        </p:spPr>
        <p:txBody>
          <a:bodyPr anchor="t"/>
          <a:lstStyle/>
          <a:p>
            <a:pPr algn="ctr">
              <a:defRPr sz="1425" b="1" i="0">
                <a:solidFill>
                  <a:srgbClr val="147D70"/>
                </a:solidFill>
              </a:defRPr>
            </a:pPr>
            <a:r>
              <a:rPr sz="1425" b="1" i="0">
                <a:solidFill>
                  <a:srgbClr val="147D70"/>
                </a:solidFill>
              </a:rPr>
              <a:t>Wall-to-wall processing then confirmed the category-level relationship across the full raster stack.</a:t>
            </a:r>
          </a:p>
        </p:txBody>
      </p:sp>
      <p:sp>
        <p:nvSpPr>
          <p:cNvPr id="16" name="Straight Connector 15">
            <a:extLst>
              <a:ext uri="{FF2B5EF4-FFF2-40B4-BE49-F238E27FC236}">
                <a16:creationId xmlns:a16="http://schemas.microsoft.com/office/drawing/2014/main" id="{776A3F11-5BE7-4971-A5C0-FA584FCB2F57}"/>
              </a:ext>
            </a:extLst>
          </p:cNvPr>
          <p:cNvSpPr>
            <a:spLocks noGrp="1"/>
          </p:cNvSpPr>
          <p:nvPr/>
        </p:nvSpPr>
        <p:spPr>
          <a:xfrm>
            <a:off x="609600" y="6229350"/>
            <a:ext cx="10972800" cy="0"/>
          </a:xfrm>
          <a:prstGeom prst="line">
            <a:avLst/>
          </a:prstGeom>
          <a:noFill/>
          <a:ln w="9525">
            <a:solidFill>
              <a:srgbClr val="D4DDE2"/>
            </a:solidFill>
            <a:prstDash val="solid"/>
          </a:ln>
        </p:spPr>
        <p:txBody>
          <a:bodyPr/>
          <a:lstStyle/>
          <a:p>
            <a:endParaRPr lang="en-US"/>
          </a:p>
        </p:txBody>
      </p:sp>
      <p:sp>
        <p:nvSpPr>
          <p:cNvPr id="17" name="Rectangle 16">
            <a:extLst>
              <a:ext uri="{FF2B5EF4-FFF2-40B4-BE49-F238E27FC236}">
                <a16:creationId xmlns:a16="http://schemas.microsoft.com/office/drawing/2014/main" id="{8BA1AE4B-BC08-404F-9CE8-6219E5390AD2}"/>
              </a:ext>
            </a:extLst>
          </p:cNvPr>
          <p:cNvSpPr>
            <a:spLocks noGrp="1"/>
          </p:cNvSpPr>
          <p:nvPr/>
        </p:nvSpPr>
        <p:spPr>
          <a:xfrm>
            <a:off x="609600" y="6324600"/>
            <a:ext cx="1428750" cy="228600"/>
          </a:xfrm>
          <a:prstGeom prst="rect">
            <a:avLst/>
          </a:prstGeom>
          <a:noFill/>
          <a:ln w="0">
            <a:noFill/>
            <a:prstDash val="solid"/>
          </a:ln>
        </p:spPr>
        <p:txBody>
          <a:bodyPr anchor="t"/>
          <a:lstStyle/>
          <a:p>
            <a:pPr algn="l">
              <a:defRPr sz="975" b="1" i="0">
                <a:solidFill>
                  <a:srgbClr val="08065C"/>
                </a:solidFill>
              </a:defRPr>
            </a:pPr>
            <a:r>
              <a:rPr sz="975" b="1" i="0">
                <a:solidFill>
                  <a:srgbClr val="08065C"/>
                </a:solidFill>
              </a:rPr>
              <a:t>Wall-to-wall:</a:t>
            </a:r>
          </a:p>
        </p:txBody>
      </p:sp>
      <p:sp>
        <p:nvSpPr>
          <p:cNvPr id="18" name="Rectangle 17">
            <a:extLst>
              <a:ext uri="{FF2B5EF4-FFF2-40B4-BE49-F238E27FC236}">
                <a16:creationId xmlns:a16="http://schemas.microsoft.com/office/drawing/2014/main" id="{60F44F9D-656B-481E-A776-B4273C291942}"/>
              </a:ext>
            </a:extLst>
          </p:cNvPr>
          <p:cNvSpPr>
            <a:spLocks noGrp="1"/>
          </p:cNvSpPr>
          <p:nvPr/>
        </p:nvSpPr>
        <p:spPr>
          <a:xfrm>
            <a:off x="1752600" y="6324600"/>
            <a:ext cx="9144000" cy="247650"/>
          </a:xfrm>
          <a:prstGeom prst="rect">
            <a:avLst/>
          </a:prstGeom>
          <a:noFill/>
          <a:ln w="0">
            <a:noFill/>
            <a:prstDash val="solid"/>
          </a:ln>
        </p:spPr>
        <p:txBody>
          <a:bodyPr anchor="t"/>
          <a:lstStyle/>
          <a:p>
            <a:pPr algn="l">
              <a:defRPr sz="975" b="0" i="0">
                <a:solidFill>
                  <a:srgbClr val="5E6B75"/>
                </a:solidFill>
              </a:defRPr>
            </a:pPr>
            <a:r>
              <a:rPr sz="975" b="0" i="0">
                <a:solidFill>
                  <a:srgbClr val="5E6B75"/>
                </a:solidFill>
              </a:rPr>
              <a:t>Processing the complete mapped raster extent rather than estimating area-wide patterns from a sample.</a:t>
            </a:r>
          </a:p>
        </p:txBody>
      </p:sp>
    </p:spTree>
    <p:extLst>
      <p:ext uri="{BB962C8B-B14F-4D97-AF65-F5344CB8AC3E}">
        <p14:creationId xmlns:p14="http://schemas.microsoft.com/office/powerpoint/2010/main" val="1306950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3C99609-7474-4136-B767-B9308DB00D35}"/>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dirty="0">
                <a:solidFill>
                  <a:srgbClr val="147D70"/>
                </a:solidFill>
              </a:rPr>
              <a:t>RESULT </a:t>
            </a:r>
            <a:r>
              <a:rPr lang="vi-VN" sz="975" b="1" i="0" dirty="0">
                <a:solidFill>
                  <a:srgbClr val="147D70"/>
                </a:solidFill>
              </a:rPr>
              <a:t>5</a:t>
            </a:r>
            <a:endParaRPr sz="975" b="1" i="0" dirty="0">
              <a:solidFill>
                <a:srgbClr val="147D70"/>
              </a:solidFill>
            </a:endParaRPr>
          </a:p>
        </p:txBody>
      </p:sp>
      <p:sp>
        <p:nvSpPr>
          <p:cNvPr id="2" name="slide-24-title">
            <a:extLst>
              <a:ext uri="{FF2B5EF4-FFF2-40B4-BE49-F238E27FC236}">
                <a16:creationId xmlns:a16="http://schemas.microsoft.com/office/drawing/2014/main" id="{C8A2B7AD-A020-4332-B0E9-ACC595513485}"/>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NDVI adds vegetation context to the embedding signal</a:t>
            </a:r>
          </a:p>
        </p:txBody>
      </p:sp>
      <p:sp>
        <p:nvSpPr>
          <p:cNvPr id="3" name="Straight Connector 2">
            <a:extLst>
              <a:ext uri="{FF2B5EF4-FFF2-40B4-BE49-F238E27FC236}">
                <a16:creationId xmlns:a16="http://schemas.microsoft.com/office/drawing/2014/main" id="{42462A62-3EA6-44A4-BFB7-C4AC276BC271}"/>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7DA3B685-4FD2-439E-B4D1-ACA6735244C0}"/>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24</a:t>
            </a:r>
          </a:p>
        </p:txBody>
      </p:sp>
      <p:pic>
        <p:nvPicPr>
          <p:cNvPr id="17" name="Picture 16"/>
          <p:cNvPicPr>
            <a:picLocks noChangeAspect="1"/>
          </p:cNvPicPr>
          <p:nvPr/>
        </p:nvPicPr>
        <p:blipFill>
          <a:blip r:embed="rId3"/>
          <a:stretch/>
        </p:blipFill>
        <p:spPr>
          <a:xfrm>
            <a:off x="612097" y="1524000"/>
            <a:ext cx="6186256" cy="4095750"/>
          </a:xfrm>
          <a:prstGeom prst="rect">
            <a:avLst/>
          </a:prstGeom>
        </p:spPr>
      </p:pic>
      <p:sp>
        <p:nvSpPr>
          <p:cNvPr id="6" name="Rectangle 5">
            <a:extLst>
              <a:ext uri="{FF2B5EF4-FFF2-40B4-BE49-F238E27FC236}">
                <a16:creationId xmlns:a16="http://schemas.microsoft.com/office/drawing/2014/main" id="{4D8F8954-5A00-47F0-BECC-C809B0DA3C9E}"/>
              </a:ext>
            </a:extLst>
          </p:cNvPr>
          <p:cNvSpPr>
            <a:spLocks noGrp="1"/>
          </p:cNvSpPr>
          <p:nvPr/>
        </p:nvSpPr>
        <p:spPr>
          <a:xfrm>
            <a:off x="7448550" y="1695450"/>
            <a:ext cx="3238500" cy="552450"/>
          </a:xfrm>
          <a:prstGeom prst="rect">
            <a:avLst/>
          </a:prstGeom>
          <a:noFill/>
          <a:ln w="0">
            <a:noFill/>
            <a:prstDash val="solid"/>
          </a:ln>
        </p:spPr>
        <p:txBody>
          <a:bodyPr anchor="t"/>
          <a:lstStyle/>
          <a:p>
            <a:pPr algn="ctr">
              <a:defRPr sz="3150" b="1" i="0">
                <a:solidFill>
                  <a:srgbClr val="147D70"/>
                </a:solidFill>
              </a:defRPr>
            </a:pPr>
            <a:r>
              <a:rPr sz="3150" b="1" i="0">
                <a:solidFill>
                  <a:srgbClr val="147D70"/>
                </a:solidFill>
              </a:rPr>
              <a:t>0.574</a:t>
            </a:r>
          </a:p>
        </p:txBody>
      </p:sp>
      <p:sp>
        <p:nvSpPr>
          <p:cNvPr id="7" name="Rectangle 6">
            <a:extLst>
              <a:ext uri="{FF2B5EF4-FFF2-40B4-BE49-F238E27FC236}">
                <a16:creationId xmlns:a16="http://schemas.microsoft.com/office/drawing/2014/main" id="{D229DD97-AD13-4D99-8529-163CEB618A80}"/>
              </a:ext>
            </a:extLst>
          </p:cNvPr>
          <p:cNvSpPr>
            <a:spLocks noGrp="1"/>
          </p:cNvSpPr>
          <p:nvPr/>
        </p:nvSpPr>
        <p:spPr>
          <a:xfrm>
            <a:off x="7448550" y="2247900"/>
            <a:ext cx="3238500" cy="438150"/>
          </a:xfrm>
          <a:prstGeom prst="rect">
            <a:avLst/>
          </a:prstGeom>
          <a:noFill/>
          <a:ln w="0">
            <a:noFill/>
            <a:prstDash val="solid"/>
          </a:ln>
        </p:spPr>
        <p:txBody>
          <a:bodyPr anchor="t"/>
          <a:lstStyle/>
          <a:p>
            <a:pPr algn="ctr">
              <a:defRPr sz="1275" b="0" i="0">
                <a:solidFill>
                  <a:srgbClr val="5E6B75"/>
                </a:solidFill>
              </a:defRPr>
            </a:pPr>
            <a:r>
              <a:rPr sz="1275" b="0" i="0">
                <a:solidFill>
                  <a:srgbClr val="5E6B75"/>
                </a:solidFill>
              </a:rPr>
              <a:t>Overall Spearman association</a:t>
            </a:r>
          </a:p>
        </p:txBody>
      </p:sp>
      <p:sp>
        <p:nvSpPr>
          <p:cNvPr id="8" name="Rectangle 7">
            <a:extLst>
              <a:ext uri="{FF2B5EF4-FFF2-40B4-BE49-F238E27FC236}">
                <a16:creationId xmlns:a16="http://schemas.microsoft.com/office/drawing/2014/main" id="{4825A4C8-F5C1-4AE3-8EA3-AF67360DFFFD}"/>
              </a:ext>
            </a:extLst>
          </p:cNvPr>
          <p:cNvSpPr>
            <a:spLocks noGrp="1"/>
          </p:cNvSpPr>
          <p:nvPr/>
        </p:nvSpPr>
        <p:spPr>
          <a:xfrm>
            <a:off x="7448550" y="3067050"/>
            <a:ext cx="3238500" cy="552450"/>
          </a:xfrm>
          <a:prstGeom prst="rect">
            <a:avLst/>
          </a:prstGeom>
          <a:noFill/>
          <a:ln w="0">
            <a:noFill/>
            <a:prstDash val="solid"/>
          </a:ln>
        </p:spPr>
        <p:txBody>
          <a:bodyPr anchor="t"/>
          <a:lstStyle/>
          <a:p>
            <a:pPr algn="ctr">
              <a:defRPr sz="3150" b="1" i="0">
                <a:solidFill>
                  <a:srgbClr val="D48728"/>
                </a:solidFill>
              </a:defRPr>
            </a:pPr>
            <a:r>
              <a:rPr sz="3150" b="1" i="0">
                <a:solidFill>
                  <a:srgbClr val="D48728"/>
                </a:solidFill>
              </a:rPr>
              <a:t>78.1%</a:t>
            </a:r>
          </a:p>
        </p:txBody>
      </p:sp>
      <p:sp>
        <p:nvSpPr>
          <p:cNvPr id="9" name="Rectangle 8">
            <a:extLst>
              <a:ext uri="{FF2B5EF4-FFF2-40B4-BE49-F238E27FC236}">
                <a16:creationId xmlns:a16="http://schemas.microsoft.com/office/drawing/2014/main" id="{7050A4B7-C4AD-4355-8299-5752D8A33503}"/>
              </a:ext>
            </a:extLst>
          </p:cNvPr>
          <p:cNvSpPr>
            <a:spLocks noGrp="1"/>
          </p:cNvSpPr>
          <p:nvPr/>
        </p:nvSpPr>
        <p:spPr>
          <a:xfrm>
            <a:off x="7448550" y="3619500"/>
            <a:ext cx="3238500" cy="438150"/>
          </a:xfrm>
          <a:prstGeom prst="rect">
            <a:avLst/>
          </a:prstGeom>
          <a:noFill/>
          <a:ln w="0">
            <a:noFill/>
            <a:prstDash val="solid"/>
          </a:ln>
        </p:spPr>
        <p:txBody>
          <a:bodyPr anchor="t"/>
          <a:lstStyle/>
          <a:p>
            <a:pPr algn="ctr">
              <a:defRPr sz="1200" b="0" i="0">
                <a:solidFill>
                  <a:srgbClr val="5E6B75"/>
                </a:solidFill>
              </a:defRPr>
            </a:pPr>
            <a:r>
              <a:rPr sz="1200" b="0" i="0">
                <a:solidFill>
                  <a:srgbClr val="5E6B75"/>
                </a:solidFill>
              </a:rPr>
              <a:t>Embedding-hotspot intervals also showed a substantial NDVI change</a:t>
            </a:r>
          </a:p>
        </p:txBody>
      </p:sp>
      <p:sp>
        <p:nvSpPr>
          <p:cNvPr id="10" name="Rectangle 9">
            <a:extLst>
              <a:ext uri="{FF2B5EF4-FFF2-40B4-BE49-F238E27FC236}">
                <a16:creationId xmlns:a16="http://schemas.microsoft.com/office/drawing/2014/main" id="{193AB5DA-A772-45B1-BC95-AE3AD1F6E233}"/>
              </a:ext>
            </a:extLst>
          </p:cNvPr>
          <p:cNvSpPr>
            <a:spLocks noGrp="1"/>
          </p:cNvSpPr>
          <p:nvPr/>
        </p:nvSpPr>
        <p:spPr>
          <a:xfrm>
            <a:off x="7448550" y="4610100"/>
            <a:ext cx="3238500" cy="552450"/>
          </a:xfrm>
          <a:prstGeom prst="rect">
            <a:avLst/>
          </a:prstGeom>
          <a:noFill/>
          <a:ln w="0">
            <a:noFill/>
            <a:prstDash val="solid"/>
          </a:ln>
        </p:spPr>
        <p:txBody>
          <a:bodyPr anchor="t"/>
          <a:lstStyle/>
          <a:p>
            <a:pPr algn="ctr">
              <a:defRPr sz="3150" b="1" i="0">
                <a:solidFill>
                  <a:srgbClr val="234E8A"/>
                </a:solidFill>
              </a:defRPr>
            </a:pPr>
            <a:r>
              <a:rPr sz="3150" b="1" i="0">
                <a:solidFill>
                  <a:srgbClr val="234E8A"/>
                </a:solidFill>
              </a:rPr>
              <a:t>64.4%</a:t>
            </a:r>
          </a:p>
        </p:txBody>
      </p:sp>
      <p:sp>
        <p:nvSpPr>
          <p:cNvPr id="11" name="Rectangle 10">
            <a:extLst>
              <a:ext uri="{FF2B5EF4-FFF2-40B4-BE49-F238E27FC236}">
                <a16:creationId xmlns:a16="http://schemas.microsoft.com/office/drawing/2014/main" id="{B54F9112-0378-46D0-B002-AEB89BF06BEE}"/>
              </a:ext>
            </a:extLst>
          </p:cNvPr>
          <p:cNvSpPr>
            <a:spLocks noGrp="1"/>
          </p:cNvSpPr>
          <p:nvPr/>
        </p:nvSpPr>
        <p:spPr>
          <a:xfrm>
            <a:off x="7448550" y="5162550"/>
            <a:ext cx="3238500" cy="438150"/>
          </a:xfrm>
          <a:prstGeom prst="rect">
            <a:avLst/>
          </a:prstGeom>
          <a:noFill/>
          <a:ln w="0">
            <a:noFill/>
            <a:prstDash val="solid"/>
          </a:ln>
        </p:spPr>
        <p:txBody>
          <a:bodyPr anchor="t"/>
          <a:lstStyle/>
          <a:p>
            <a:pPr algn="ctr">
              <a:defRPr sz="1200" b="0" i="0">
                <a:solidFill>
                  <a:srgbClr val="5E6B75"/>
                </a:solidFill>
              </a:defRPr>
            </a:pPr>
            <a:r>
              <a:rPr sz="1200" b="0" i="0">
                <a:solidFill>
                  <a:srgbClr val="5E6B75"/>
                </a:solidFill>
              </a:rPr>
              <a:t>Maximum-change timing agreed within one year</a:t>
            </a:r>
          </a:p>
        </p:txBody>
      </p:sp>
      <p:sp>
        <p:nvSpPr>
          <p:cNvPr id="12" name="Rectangle 11">
            <a:extLst>
              <a:ext uri="{FF2B5EF4-FFF2-40B4-BE49-F238E27FC236}">
                <a16:creationId xmlns:a16="http://schemas.microsoft.com/office/drawing/2014/main" id="{6A2FEDD6-CE57-4EB5-AA9E-F5D6254996B3}"/>
              </a:ext>
            </a:extLst>
          </p:cNvPr>
          <p:cNvSpPr>
            <a:spLocks noGrp="1"/>
          </p:cNvSpPr>
          <p:nvPr/>
        </p:nvSpPr>
        <p:spPr>
          <a:xfrm>
            <a:off x="1657350" y="5810250"/>
            <a:ext cx="8877300" cy="323850"/>
          </a:xfrm>
          <a:prstGeom prst="rect">
            <a:avLst/>
          </a:prstGeom>
          <a:noFill/>
          <a:ln w="0">
            <a:noFill/>
            <a:prstDash val="solid"/>
          </a:ln>
        </p:spPr>
        <p:txBody>
          <a:bodyPr anchor="t"/>
          <a:lstStyle/>
          <a:p>
            <a:pPr algn="ctr">
              <a:defRPr sz="1725" b="1" i="0">
                <a:solidFill>
                  <a:srgbClr val="08065C"/>
                </a:solidFill>
              </a:defRPr>
            </a:pPr>
            <a:r>
              <a:rPr sz="1725" b="1" i="0">
                <a:solidFill>
                  <a:srgbClr val="08065C"/>
                </a:solidFill>
              </a:rPr>
              <a:t>Moderate agreement is useful: embeddings respond to more than greenness alone.</a:t>
            </a:r>
          </a:p>
        </p:txBody>
      </p:sp>
    </p:spTree>
    <p:extLst>
      <p:ext uri="{BB962C8B-B14F-4D97-AF65-F5344CB8AC3E}">
        <p14:creationId xmlns:p14="http://schemas.microsoft.com/office/powerpoint/2010/main" val="901092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B07D2C-4319-4925-973D-4A08676CD489}"/>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dirty="0">
                <a:solidFill>
                  <a:srgbClr val="147D70"/>
                </a:solidFill>
              </a:rPr>
              <a:t>RESULT </a:t>
            </a:r>
            <a:r>
              <a:rPr lang="vi-VN" sz="975" b="1" i="0" dirty="0">
                <a:solidFill>
                  <a:srgbClr val="147D70"/>
                </a:solidFill>
              </a:rPr>
              <a:t>6</a:t>
            </a:r>
            <a:endParaRPr sz="975" b="1" i="0" dirty="0">
              <a:solidFill>
                <a:srgbClr val="147D70"/>
              </a:solidFill>
            </a:endParaRPr>
          </a:p>
        </p:txBody>
      </p:sp>
      <p:sp>
        <p:nvSpPr>
          <p:cNvPr id="2" name="slide-25-title">
            <a:extLst>
              <a:ext uri="{FF2B5EF4-FFF2-40B4-BE49-F238E27FC236}">
                <a16:creationId xmlns:a16="http://schemas.microsoft.com/office/drawing/2014/main" id="{AD981C8E-AA74-4493-B496-F7D75C7548BA}"/>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Wall-to-wall analysis powers the interactive map</a:t>
            </a:r>
          </a:p>
        </p:txBody>
      </p:sp>
      <p:sp>
        <p:nvSpPr>
          <p:cNvPr id="3" name="Straight Connector 2">
            <a:extLst>
              <a:ext uri="{FF2B5EF4-FFF2-40B4-BE49-F238E27FC236}">
                <a16:creationId xmlns:a16="http://schemas.microsoft.com/office/drawing/2014/main" id="{1FD2A774-9C26-4717-A22E-EA36564FCDA3}"/>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C54DDDBD-2D7F-46B6-900F-B7337A28853C}"/>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25</a:t>
            </a:r>
          </a:p>
        </p:txBody>
      </p:sp>
      <p:pic>
        <p:nvPicPr>
          <p:cNvPr id="24" name="Picture 23"/>
          <p:cNvPicPr>
            <a:picLocks noChangeAspect="1"/>
          </p:cNvPicPr>
          <p:nvPr/>
        </p:nvPicPr>
        <p:blipFill>
          <a:blip r:embed="rId3"/>
          <a:stretch/>
        </p:blipFill>
        <p:spPr>
          <a:xfrm>
            <a:off x="674202" y="1504950"/>
            <a:ext cx="6347796" cy="4210050"/>
          </a:xfrm>
          <a:prstGeom prst="rect">
            <a:avLst/>
          </a:prstGeom>
        </p:spPr>
      </p:pic>
      <p:sp>
        <p:nvSpPr>
          <p:cNvPr id="6" name="Rectangle 5">
            <a:extLst>
              <a:ext uri="{FF2B5EF4-FFF2-40B4-BE49-F238E27FC236}">
                <a16:creationId xmlns:a16="http://schemas.microsoft.com/office/drawing/2014/main" id="{36C9911F-C7BF-490B-9C1D-CDCFDDD959DE}"/>
              </a:ext>
            </a:extLst>
          </p:cNvPr>
          <p:cNvSpPr>
            <a:spLocks noGrp="1"/>
          </p:cNvSpPr>
          <p:nvPr/>
        </p:nvSpPr>
        <p:spPr>
          <a:xfrm>
            <a:off x="7524750" y="1600200"/>
            <a:ext cx="1714500" cy="552450"/>
          </a:xfrm>
          <a:prstGeom prst="rect">
            <a:avLst/>
          </a:prstGeom>
          <a:noFill/>
          <a:ln w="0">
            <a:noFill/>
            <a:prstDash val="solid"/>
          </a:ln>
        </p:spPr>
        <p:txBody>
          <a:bodyPr anchor="t"/>
          <a:lstStyle/>
          <a:p>
            <a:pPr algn="l">
              <a:defRPr sz="2850" b="1" i="0">
                <a:solidFill>
                  <a:srgbClr val="08065C"/>
                </a:solidFill>
              </a:defRPr>
            </a:pPr>
            <a:r>
              <a:rPr sz="2850" b="1" i="0">
                <a:solidFill>
                  <a:srgbClr val="08065C"/>
                </a:solidFill>
              </a:rPr>
              <a:t>191.2M</a:t>
            </a:r>
          </a:p>
        </p:txBody>
      </p:sp>
      <p:sp>
        <p:nvSpPr>
          <p:cNvPr id="7" name="Rectangle 6">
            <a:extLst>
              <a:ext uri="{FF2B5EF4-FFF2-40B4-BE49-F238E27FC236}">
                <a16:creationId xmlns:a16="http://schemas.microsoft.com/office/drawing/2014/main" id="{1BAB9ABD-DD89-4C07-9FD9-04016C370127}"/>
              </a:ext>
            </a:extLst>
          </p:cNvPr>
          <p:cNvSpPr>
            <a:spLocks noGrp="1"/>
          </p:cNvSpPr>
          <p:nvPr/>
        </p:nvSpPr>
        <p:spPr>
          <a:xfrm>
            <a:off x="7524750" y="2152650"/>
            <a:ext cx="171450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Original raster positions</a:t>
            </a:r>
          </a:p>
        </p:txBody>
      </p:sp>
      <p:sp>
        <p:nvSpPr>
          <p:cNvPr id="8" name="Rectangle 7">
            <a:extLst>
              <a:ext uri="{FF2B5EF4-FFF2-40B4-BE49-F238E27FC236}">
                <a16:creationId xmlns:a16="http://schemas.microsoft.com/office/drawing/2014/main" id="{DE508F12-AFE2-4AC9-889D-65163C025188}"/>
              </a:ext>
            </a:extLst>
          </p:cNvPr>
          <p:cNvSpPr>
            <a:spLocks noGrp="1"/>
          </p:cNvSpPr>
          <p:nvPr/>
        </p:nvSpPr>
        <p:spPr>
          <a:xfrm>
            <a:off x="9525000" y="1600200"/>
            <a:ext cx="1714500" cy="552450"/>
          </a:xfrm>
          <a:prstGeom prst="rect">
            <a:avLst/>
          </a:prstGeom>
          <a:noFill/>
          <a:ln w="0">
            <a:noFill/>
            <a:prstDash val="solid"/>
          </a:ln>
        </p:spPr>
        <p:txBody>
          <a:bodyPr anchor="t"/>
          <a:lstStyle/>
          <a:p>
            <a:pPr algn="l">
              <a:defRPr sz="2850" b="1" i="0">
                <a:solidFill>
                  <a:srgbClr val="D48728"/>
                </a:solidFill>
              </a:defRPr>
            </a:pPr>
            <a:r>
              <a:rPr sz="2850" b="1" i="0">
                <a:solidFill>
                  <a:srgbClr val="D48728"/>
                </a:solidFill>
              </a:rPr>
              <a:t>83.0M</a:t>
            </a:r>
          </a:p>
        </p:txBody>
      </p:sp>
      <p:sp>
        <p:nvSpPr>
          <p:cNvPr id="9" name="Rectangle 8">
            <a:extLst>
              <a:ext uri="{FF2B5EF4-FFF2-40B4-BE49-F238E27FC236}">
                <a16:creationId xmlns:a16="http://schemas.microsoft.com/office/drawing/2014/main" id="{FFA02586-E229-46BA-8A5E-3BB279C848F6}"/>
              </a:ext>
            </a:extLst>
          </p:cNvPr>
          <p:cNvSpPr>
            <a:spLocks noGrp="1"/>
          </p:cNvSpPr>
          <p:nvPr/>
        </p:nvSpPr>
        <p:spPr>
          <a:xfrm>
            <a:off x="9525000" y="2152650"/>
            <a:ext cx="171450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Valid endpoint values</a:t>
            </a:r>
          </a:p>
        </p:txBody>
      </p:sp>
      <p:sp>
        <p:nvSpPr>
          <p:cNvPr id="10" name="Straight Connector 9">
            <a:extLst>
              <a:ext uri="{FF2B5EF4-FFF2-40B4-BE49-F238E27FC236}">
                <a16:creationId xmlns:a16="http://schemas.microsoft.com/office/drawing/2014/main" id="{FC21E84A-60D5-48EE-9193-C10CC2F8F006}"/>
              </a:ext>
            </a:extLst>
          </p:cNvPr>
          <p:cNvSpPr>
            <a:spLocks noGrp="1"/>
          </p:cNvSpPr>
          <p:nvPr/>
        </p:nvSpPr>
        <p:spPr>
          <a:xfrm>
            <a:off x="7524750" y="2686050"/>
            <a:ext cx="3714750" cy="0"/>
          </a:xfrm>
          <a:prstGeom prst="line">
            <a:avLst/>
          </a:prstGeom>
          <a:noFill/>
          <a:ln w="9525">
            <a:solidFill>
              <a:srgbClr val="D4DDE2"/>
            </a:solidFill>
            <a:prstDash val="solid"/>
          </a:ln>
        </p:spPr>
        <p:txBody>
          <a:bodyPr/>
          <a:lstStyle/>
          <a:p>
            <a:endParaRPr lang="en-US"/>
          </a:p>
        </p:txBody>
      </p:sp>
      <p:sp>
        <p:nvSpPr>
          <p:cNvPr id="11" name="Rectangle 10">
            <a:extLst>
              <a:ext uri="{FF2B5EF4-FFF2-40B4-BE49-F238E27FC236}">
                <a16:creationId xmlns:a16="http://schemas.microsoft.com/office/drawing/2014/main" id="{D1BA221D-0E4C-46C6-A40A-59AA8DC21D58}"/>
              </a:ext>
            </a:extLst>
          </p:cNvPr>
          <p:cNvSpPr>
            <a:spLocks noGrp="1"/>
          </p:cNvSpPr>
          <p:nvPr/>
        </p:nvSpPr>
        <p:spPr>
          <a:xfrm>
            <a:off x="7524750" y="2952750"/>
            <a:ext cx="1714500" cy="552450"/>
          </a:xfrm>
          <a:prstGeom prst="rect">
            <a:avLst/>
          </a:prstGeom>
          <a:noFill/>
          <a:ln w="0">
            <a:noFill/>
            <a:prstDash val="solid"/>
          </a:ln>
        </p:spPr>
        <p:txBody>
          <a:bodyPr anchor="t"/>
          <a:lstStyle/>
          <a:p>
            <a:pPr algn="l">
              <a:defRPr sz="2850" b="1" i="0">
                <a:solidFill>
                  <a:srgbClr val="AD354A"/>
                </a:solidFill>
              </a:defRPr>
            </a:pPr>
            <a:r>
              <a:rPr sz="2850" b="1" i="0">
                <a:solidFill>
                  <a:srgbClr val="AD354A"/>
                </a:solidFill>
              </a:rPr>
              <a:t>13,477</a:t>
            </a:r>
          </a:p>
        </p:txBody>
      </p:sp>
      <p:sp>
        <p:nvSpPr>
          <p:cNvPr id="12" name="Rectangle 11">
            <a:extLst>
              <a:ext uri="{FF2B5EF4-FFF2-40B4-BE49-F238E27FC236}">
                <a16:creationId xmlns:a16="http://schemas.microsoft.com/office/drawing/2014/main" id="{9342A9DC-B485-4499-9B18-CA80CD21D988}"/>
              </a:ext>
            </a:extLst>
          </p:cNvPr>
          <p:cNvSpPr>
            <a:spLocks noGrp="1"/>
          </p:cNvSpPr>
          <p:nvPr/>
        </p:nvSpPr>
        <p:spPr>
          <a:xfrm>
            <a:off x="7524750" y="3505200"/>
            <a:ext cx="171450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Interactive change regions</a:t>
            </a:r>
          </a:p>
        </p:txBody>
      </p:sp>
      <p:sp>
        <p:nvSpPr>
          <p:cNvPr id="13" name="Rectangle 12">
            <a:extLst>
              <a:ext uri="{FF2B5EF4-FFF2-40B4-BE49-F238E27FC236}">
                <a16:creationId xmlns:a16="http://schemas.microsoft.com/office/drawing/2014/main" id="{FD84D35D-3AA2-46D6-8A77-966908E1BD93}"/>
              </a:ext>
            </a:extLst>
          </p:cNvPr>
          <p:cNvSpPr>
            <a:spLocks noGrp="1"/>
          </p:cNvSpPr>
          <p:nvPr/>
        </p:nvSpPr>
        <p:spPr>
          <a:xfrm>
            <a:off x="9525000" y="2952750"/>
            <a:ext cx="1714500" cy="552450"/>
          </a:xfrm>
          <a:prstGeom prst="rect">
            <a:avLst/>
          </a:prstGeom>
          <a:noFill/>
          <a:ln w="0">
            <a:noFill/>
            <a:prstDash val="solid"/>
          </a:ln>
        </p:spPr>
        <p:txBody>
          <a:bodyPr anchor="t"/>
          <a:lstStyle/>
          <a:p>
            <a:pPr algn="l">
              <a:defRPr sz="2850" b="1" i="0">
                <a:solidFill>
                  <a:srgbClr val="234E8A"/>
                </a:solidFill>
              </a:defRPr>
            </a:pPr>
            <a:r>
              <a:rPr sz="2850" b="1" i="0">
                <a:solidFill>
                  <a:srgbClr val="234E8A"/>
                </a:solidFill>
              </a:rPr>
              <a:t>307</a:t>
            </a:r>
          </a:p>
        </p:txBody>
      </p:sp>
      <p:sp>
        <p:nvSpPr>
          <p:cNvPr id="14" name="Rectangle 13">
            <a:extLst>
              <a:ext uri="{FF2B5EF4-FFF2-40B4-BE49-F238E27FC236}">
                <a16:creationId xmlns:a16="http://schemas.microsoft.com/office/drawing/2014/main" id="{CB12BAD5-DFFE-48E8-A707-2BE02E3D55BB}"/>
              </a:ext>
            </a:extLst>
          </p:cNvPr>
          <p:cNvSpPr>
            <a:spLocks noGrp="1"/>
          </p:cNvSpPr>
          <p:nvPr/>
        </p:nvSpPr>
        <p:spPr>
          <a:xfrm>
            <a:off x="9525000" y="3505200"/>
            <a:ext cx="1714500" cy="438150"/>
          </a:xfrm>
          <a:prstGeom prst="rect">
            <a:avLst/>
          </a:prstGeom>
          <a:noFill/>
          <a:ln w="0">
            <a:noFill/>
            <a:prstDash val="solid"/>
          </a:ln>
        </p:spPr>
        <p:txBody>
          <a:bodyPr anchor="t"/>
          <a:lstStyle/>
          <a:p>
            <a:pPr algn="l">
              <a:defRPr sz="1275" b="0" i="0">
                <a:solidFill>
                  <a:srgbClr val="5E6B75"/>
                </a:solidFill>
              </a:defRPr>
            </a:pPr>
            <a:r>
              <a:rPr sz="1275" b="0" i="0">
                <a:solidFill>
                  <a:srgbClr val="5E6B75"/>
                </a:solidFill>
              </a:rPr>
              <a:t>Low-change reference regions</a:t>
            </a:r>
          </a:p>
        </p:txBody>
      </p:sp>
      <p:sp>
        <p:nvSpPr>
          <p:cNvPr id="15" name="Straight Connector 14">
            <a:extLst>
              <a:ext uri="{FF2B5EF4-FFF2-40B4-BE49-F238E27FC236}">
                <a16:creationId xmlns:a16="http://schemas.microsoft.com/office/drawing/2014/main" id="{C4FC118E-FB7C-4FD7-9976-1624269164A0}"/>
              </a:ext>
            </a:extLst>
          </p:cNvPr>
          <p:cNvSpPr>
            <a:spLocks noGrp="1"/>
          </p:cNvSpPr>
          <p:nvPr/>
        </p:nvSpPr>
        <p:spPr>
          <a:xfrm>
            <a:off x="7524750" y="4038600"/>
            <a:ext cx="3714750" cy="0"/>
          </a:xfrm>
          <a:prstGeom prst="line">
            <a:avLst/>
          </a:prstGeom>
          <a:noFill/>
          <a:ln w="9525">
            <a:solidFill>
              <a:srgbClr val="D4DDE2"/>
            </a:solidFill>
            <a:prstDash val="solid"/>
          </a:ln>
        </p:spPr>
        <p:txBody>
          <a:bodyPr/>
          <a:lstStyle/>
          <a:p>
            <a:endParaRPr lang="en-US"/>
          </a:p>
        </p:txBody>
      </p:sp>
      <p:sp>
        <p:nvSpPr>
          <p:cNvPr id="16" name="Rectangle 15">
            <a:extLst>
              <a:ext uri="{FF2B5EF4-FFF2-40B4-BE49-F238E27FC236}">
                <a16:creationId xmlns:a16="http://schemas.microsoft.com/office/drawing/2014/main" id="{5943C38E-B9C7-4050-A693-D79415FFA615}"/>
              </a:ext>
            </a:extLst>
          </p:cNvPr>
          <p:cNvSpPr>
            <a:spLocks noGrp="1"/>
          </p:cNvSpPr>
          <p:nvPr/>
        </p:nvSpPr>
        <p:spPr>
          <a:xfrm>
            <a:off x="7524750" y="4305300"/>
            <a:ext cx="3714750" cy="552450"/>
          </a:xfrm>
          <a:prstGeom prst="rect">
            <a:avLst/>
          </a:prstGeom>
          <a:noFill/>
          <a:ln w="0">
            <a:noFill/>
            <a:prstDash val="solid"/>
          </a:ln>
        </p:spPr>
        <p:txBody>
          <a:bodyPr anchor="t"/>
          <a:lstStyle/>
          <a:p>
            <a:pPr algn="ctr">
              <a:defRPr sz="2850" b="1" i="0">
                <a:solidFill>
                  <a:srgbClr val="147D70"/>
                </a:solidFill>
              </a:defRPr>
            </a:pPr>
            <a:r>
              <a:rPr sz="2850" b="1" i="0">
                <a:solidFill>
                  <a:srgbClr val="147D70"/>
                </a:solidFill>
              </a:rPr>
              <a:t>110,272</a:t>
            </a:r>
          </a:p>
        </p:txBody>
      </p:sp>
      <p:sp>
        <p:nvSpPr>
          <p:cNvPr id="17" name="Rectangle 16">
            <a:extLst>
              <a:ext uri="{FF2B5EF4-FFF2-40B4-BE49-F238E27FC236}">
                <a16:creationId xmlns:a16="http://schemas.microsoft.com/office/drawing/2014/main" id="{BD00EF7E-8D2F-4F68-B10B-CE82DD24314E}"/>
              </a:ext>
            </a:extLst>
          </p:cNvPr>
          <p:cNvSpPr>
            <a:spLocks noGrp="1"/>
          </p:cNvSpPr>
          <p:nvPr/>
        </p:nvSpPr>
        <p:spPr>
          <a:xfrm>
            <a:off x="7524750" y="4857750"/>
            <a:ext cx="3714750" cy="438150"/>
          </a:xfrm>
          <a:prstGeom prst="rect">
            <a:avLst/>
          </a:prstGeom>
          <a:noFill/>
          <a:ln w="0">
            <a:noFill/>
            <a:prstDash val="solid"/>
          </a:ln>
        </p:spPr>
        <p:txBody>
          <a:bodyPr anchor="t"/>
          <a:lstStyle/>
          <a:p>
            <a:pPr algn="ctr">
              <a:defRPr sz="1275" b="0" i="0">
                <a:solidFill>
                  <a:srgbClr val="5E6B75"/>
                </a:solidFill>
              </a:defRPr>
            </a:pPr>
            <a:r>
              <a:rPr sz="1275" b="0" i="0">
                <a:solidFill>
                  <a:srgbClr val="5E6B75"/>
                </a:solidFill>
              </a:rPr>
              <a:t>Region-year context records</a:t>
            </a:r>
          </a:p>
        </p:txBody>
      </p:sp>
      <p:sp>
        <p:nvSpPr>
          <p:cNvPr id="18" name="Rectangle 17">
            <a:extLst>
              <a:ext uri="{FF2B5EF4-FFF2-40B4-BE49-F238E27FC236}">
                <a16:creationId xmlns:a16="http://schemas.microsoft.com/office/drawing/2014/main" id="{422C9488-BD80-4661-9B5C-901B37516CB9}"/>
              </a:ext>
            </a:extLst>
          </p:cNvPr>
          <p:cNvSpPr>
            <a:spLocks noGrp="1"/>
          </p:cNvSpPr>
          <p:nvPr/>
        </p:nvSpPr>
        <p:spPr>
          <a:xfrm>
            <a:off x="7524750" y="5391150"/>
            <a:ext cx="3714750" cy="419100"/>
          </a:xfrm>
          <a:prstGeom prst="rect">
            <a:avLst/>
          </a:prstGeom>
          <a:noFill/>
          <a:ln w="0">
            <a:noFill/>
            <a:prstDash val="solid"/>
          </a:ln>
        </p:spPr>
        <p:txBody>
          <a:bodyPr anchor="t"/>
          <a:lstStyle/>
          <a:p>
            <a:pPr algn="ctr">
              <a:defRPr sz="1425" b="1" i="0">
                <a:solidFill>
                  <a:srgbClr val="08065C"/>
                </a:solidFill>
              </a:defRPr>
            </a:pPr>
            <a:r>
              <a:rPr sz="1425" b="1" i="0">
                <a:solidFill>
                  <a:srgbClr val="08065C"/>
                </a:solidFill>
              </a:rPr>
              <a:t>Eight annual DEA and NDVI records for every mapped region</a:t>
            </a:r>
          </a:p>
        </p:txBody>
      </p:sp>
      <p:sp>
        <p:nvSpPr>
          <p:cNvPr id="19" name="Rectangle 18">
            <a:extLst>
              <a:ext uri="{FF2B5EF4-FFF2-40B4-BE49-F238E27FC236}">
                <a16:creationId xmlns:a16="http://schemas.microsoft.com/office/drawing/2014/main" id="{128F306D-DA91-4D71-935F-80D16E07AE6F}"/>
              </a:ext>
            </a:extLst>
          </p:cNvPr>
          <p:cNvSpPr>
            <a:spLocks noGrp="1"/>
          </p:cNvSpPr>
          <p:nvPr/>
        </p:nvSpPr>
        <p:spPr>
          <a:xfrm>
            <a:off x="609600" y="5924550"/>
            <a:ext cx="6477000" cy="228600"/>
          </a:xfrm>
          <a:prstGeom prst="rect">
            <a:avLst/>
          </a:prstGeom>
          <a:noFill/>
          <a:ln w="0">
            <a:noFill/>
            <a:prstDash val="solid"/>
          </a:ln>
        </p:spPr>
        <p:txBody>
          <a:bodyPr anchor="t"/>
          <a:lstStyle/>
          <a:p>
            <a:pPr algn="l">
              <a:defRPr sz="900" b="0" i="1">
                <a:solidFill>
                  <a:srgbClr val="5E6B75"/>
                </a:solidFill>
              </a:defRPr>
            </a:pPr>
            <a:r>
              <a:rPr sz="900" b="0" i="1">
                <a:solidFill>
                  <a:srgbClr val="5E6B75"/>
                </a:solidFill>
              </a:rPr>
              <a:t>Positions include land, water and no-data cells; they are not annual observations.</a:t>
            </a:r>
          </a:p>
        </p:txBody>
      </p:sp>
    </p:spTree>
    <p:extLst>
      <p:ext uri="{BB962C8B-B14F-4D97-AF65-F5344CB8AC3E}">
        <p14:creationId xmlns:p14="http://schemas.microsoft.com/office/powerpoint/2010/main" val="541297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803CAB-BCFF-4BF4-9130-20D6567434D8}"/>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CURRENT PRODUCT</a:t>
            </a:r>
          </a:p>
        </p:txBody>
      </p:sp>
      <p:sp>
        <p:nvSpPr>
          <p:cNvPr id="2" name="slide-26-title">
            <a:extLst>
              <a:ext uri="{FF2B5EF4-FFF2-40B4-BE49-F238E27FC236}">
                <a16:creationId xmlns:a16="http://schemas.microsoft.com/office/drawing/2014/main" id="{624E15B5-FAC1-4F75-99CF-D1B8C8F785C7}"/>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AusHabitat makes the evidence explorable</a:t>
            </a:r>
          </a:p>
        </p:txBody>
      </p:sp>
      <p:sp>
        <p:nvSpPr>
          <p:cNvPr id="3" name="Straight Connector 2">
            <a:extLst>
              <a:ext uri="{FF2B5EF4-FFF2-40B4-BE49-F238E27FC236}">
                <a16:creationId xmlns:a16="http://schemas.microsoft.com/office/drawing/2014/main" id="{58984C42-5BB2-4269-B992-CFE7778312F6}"/>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08EE53CC-49E0-4508-BBB3-11BB525D0E83}"/>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26</a:t>
            </a:r>
          </a:p>
        </p:txBody>
      </p:sp>
      <p:pic>
        <p:nvPicPr>
          <p:cNvPr id="15" name="Picture 14"/>
          <p:cNvPicPr>
            <a:picLocks noChangeAspect="1"/>
          </p:cNvPicPr>
          <p:nvPr/>
        </p:nvPicPr>
        <p:blipFill>
          <a:blip r:embed="rId3"/>
          <a:stretch/>
        </p:blipFill>
        <p:spPr>
          <a:xfrm>
            <a:off x="9715500" y="1680311"/>
            <a:ext cx="2000250" cy="2000250"/>
          </a:xfrm>
          <a:prstGeom prst="rect">
            <a:avLst/>
          </a:prstGeom>
        </p:spPr>
      </p:pic>
      <p:sp>
        <p:nvSpPr>
          <p:cNvPr id="7" name="Rectangle 6">
            <a:extLst>
              <a:ext uri="{FF2B5EF4-FFF2-40B4-BE49-F238E27FC236}">
                <a16:creationId xmlns:a16="http://schemas.microsoft.com/office/drawing/2014/main" id="{602488FC-8F78-4B31-B3E4-669398D9C0F9}"/>
              </a:ext>
            </a:extLst>
          </p:cNvPr>
          <p:cNvSpPr>
            <a:spLocks noGrp="1"/>
          </p:cNvSpPr>
          <p:nvPr/>
        </p:nvSpPr>
        <p:spPr>
          <a:xfrm>
            <a:off x="9582150" y="3830311"/>
            <a:ext cx="2266950" cy="266700"/>
          </a:xfrm>
          <a:prstGeom prst="rect">
            <a:avLst/>
          </a:prstGeom>
          <a:noFill/>
          <a:ln w="0">
            <a:noFill/>
            <a:prstDash val="solid"/>
          </a:ln>
        </p:spPr>
        <p:txBody>
          <a:bodyPr anchor="t"/>
          <a:lstStyle/>
          <a:p>
            <a:pPr algn="ctr">
              <a:defRPr sz="1050" b="1" i="0">
                <a:solidFill>
                  <a:srgbClr val="147D70"/>
                </a:solidFill>
              </a:defRPr>
            </a:pPr>
            <a:r>
              <a:rPr sz="1050" b="1" i="0" dirty="0">
                <a:solidFill>
                  <a:srgbClr val="147D70"/>
                </a:solidFill>
              </a:rPr>
              <a:t>SCAN FOR LIVE MAP</a:t>
            </a:r>
          </a:p>
        </p:txBody>
      </p:sp>
      <p:sp>
        <p:nvSpPr>
          <p:cNvPr id="8" name="Rectangle 7">
            <a:extLst>
              <a:ext uri="{FF2B5EF4-FFF2-40B4-BE49-F238E27FC236}">
                <a16:creationId xmlns:a16="http://schemas.microsoft.com/office/drawing/2014/main" id="{5361F2BF-BB82-4FAF-B1DA-BDB232BED98C}"/>
              </a:ext>
            </a:extLst>
          </p:cNvPr>
          <p:cNvSpPr>
            <a:spLocks noGrp="1"/>
          </p:cNvSpPr>
          <p:nvPr/>
        </p:nvSpPr>
        <p:spPr>
          <a:xfrm>
            <a:off x="9515475" y="4343400"/>
            <a:ext cx="2533650" cy="1219200"/>
          </a:xfrm>
          <a:prstGeom prst="rect">
            <a:avLst/>
          </a:prstGeom>
          <a:noFill/>
          <a:ln w="0">
            <a:noFill/>
            <a:prstDash val="solid"/>
          </a:ln>
        </p:spPr>
        <p:txBody>
          <a:bodyPr anchor="t"/>
          <a:lstStyle/>
          <a:p>
            <a:pPr algn="ctr">
              <a:defRPr sz="1350" b="0" i="0">
                <a:solidFill>
                  <a:srgbClr val="18232B"/>
                </a:solidFill>
              </a:defRPr>
            </a:pPr>
            <a:r>
              <a:rPr sz="1350" b="0" i="0" dirty="0">
                <a:solidFill>
                  <a:srgbClr val="18232B"/>
                </a:solidFill>
              </a:rPr>
              <a:t>Search locations</a:t>
            </a:r>
          </a:p>
          <a:p>
            <a:pPr algn="ctr">
              <a:defRPr sz="1350" b="0" i="0">
                <a:solidFill>
                  <a:srgbClr val="18232B"/>
                </a:solidFill>
              </a:defRPr>
            </a:pPr>
            <a:r>
              <a:rPr sz="1350" b="0" i="0" dirty="0">
                <a:solidFill>
                  <a:srgbClr val="18232B"/>
                </a:solidFill>
              </a:rPr>
              <a:t>Filter hot and cold regions</a:t>
            </a:r>
          </a:p>
          <a:p>
            <a:pPr algn="ctr">
              <a:defRPr sz="1350" b="0" i="0">
                <a:solidFill>
                  <a:srgbClr val="18232B"/>
                </a:solidFill>
              </a:defRPr>
            </a:pPr>
            <a:r>
              <a:rPr sz="1350" b="0" i="0" dirty="0">
                <a:solidFill>
                  <a:srgbClr val="18232B"/>
                </a:solidFill>
              </a:rPr>
              <a:t>Change the annual period</a:t>
            </a:r>
          </a:p>
          <a:p>
            <a:pPr algn="ctr">
              <a:defRPr sz="1350" b="0" i="0">
                <a:solidFill>
                  <a:srgbClr val="18232B"/>
                </a:solidFill>
              </a:defRPr>
            </a:pPr>
            <a:r>
              <a:rPr sz="1350" b="0" i="0" dirty="0">
                <a:solidFill>
                  <a:srgbClr val="18232B"/>
                </a:solidFill>
              </a:rPr>
              <a:t>Inspect DEA and NDVI histories</a:t>
            </a:r>
          </a:p>
        </p:txBody>
      </p:sp>
      <p:sp>
        <p:nvSpPr>
          <p:cNvPr id="9" name="Rectangle 8">
            <a:extLst>
              <a:ext uri="{FF2B5EF4-FFF2-40B4-BE49-F238E27FC236}">
                <a16:creationId xmlns:a16="http://schemas.microsoft.com/office/drawing/2014/main" id="{9AF4498D-0601-4EE8-9861-7042FDD925CD}"/>
              </a:ext>
            </a:extLst>
          </p:cNvPr>
          <p:cNvSpPr>
            <a:spLocks noGrp="1"/>
          </p:cNvSpPr>
          <p:nvPr/>
        </p:nvSpPr>
        <p:spPr>
          <a:xfrm>
            <a:off x="9448800" y="5638800"/>
            <a:ext cx="2667000" cy="285750"/>
          </a:xfrm>
          <a:prstGeom prst="rect">
            <a:avLst/>
          </a:prstGeom>
          <a:noFill/>
          <a:ln w="0">
            <a:noFill/>
            <a:prstDash val="solid"/>
          </a:ln>
        </p:spPr>
        <p:txBody>
          <a:bodyPr anchor="t"/>
          <a:lstStyle/>
          <a:p>
            <a:pPr algn="ctr">
              <a:defRPr sz="900" b="0" i="0">
                <a:solidFill>
                  <a:srgbClr val="234E8A"/>
                </a:solidFill>
              </a:defRPr>
            </a:pPr>
            <a:r>
              <a:rPr lang="en-US" sz="900" b="0" i="0" dirty="0">
                <a:solidFill>
                  <a:srgbClr val="234E8A"/>
                </a:solidFill>
              </a:rPr>
              <a:t>https://</a:t>
            </a:r>
            <a:r>
              <a:rPr lang="en-US" sz="900" b="0" i="0" dirty="0" err="1">
                <a:solidFill>
                  <a:srgbClr val="234E8A"/>
                </a:solidFill>
              </a:rPr>
              <a:t>thieulong.github.io</a:t>
            </a:r>
            <a:r>
              <a:rPr lang="en-US" sz="900" b="0" i="0" dirty="0">
                <a:solidFill>
                  <a:srgbClr val="234E8A"/>
                </a:solidFill>
              </a:rPr>
              <a:t>/SatelliteEmbeddingV1-SpatialAnalysis/</a:t>
            </a:r>
            <a:endParaRPr sz="900" b="0" i="0" dirty="0">
              <a:solidFill>
                <a:srgbClr val="234E8A"/>
              </a:solidFill>
            </a:endParaRPr>
          </a:p>
        </p:txBody>
      </p:sp>
      <p:pic>
        <p:nvPicPr>
          <p:cNvPr id="5" name="Picture 4">
            <a:extLst>
              <a:ext uri="{FF2B5EF4-FFF2-40B4-BE49-F238E27FC236}">
                <a16:creationId xmlns:a16="http://schemas.microsoft.com/office/drawing/2014/main" id="{1AC94B19-C127-E4B0-ADCA-89E879F470AD}"/>
              </a:ext>
            </a:extLst>
          </p:cNvPr>
          <p:cNvPicPr>
            <a:picLocks noChangeAspect="1"/>
          </p:cNvPicPr>
          <p:nvPr/>
        </p:nvPicPr>
        <p:blipFill>
          <a:blip r:embed="rId4"/>
          <a:stretch>
            <a:fillRect/>
          </a:stretch>
        </p:blipFill>
        <p:spPr>
          <a:xfrm>
            <a:off x="253770" y="1541346"/>
            <a:ext cx="9195030" cy="4556357"/>
          </a:xfrm>
          <a:prstGeom prst="rect">
            <a:avLst/>
          </a:prstGeom>
        </p:spPr>
      </p:pic>
    </p:spTree>
    <p:extLst>
      <p:ext uri="{BB962C8B-B14F-4D97-AF65-F5344CB8AC3E}">
        <p14:creationId xmlns:p14="http://schemas.microsoft.com/office/powerpoint/2010/main" val="724377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82726E4-46B3-451C-BEB5-AC7091927E32}"/>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SYNTHESIS</a:t>
            </a:r>
          </a:p>
        </p:txBody>
      </p:sp>
      <p:sp>
        <p:nvSpPr>
          <p:cNvPr id="2" name="slide-27-title">
            <a:extLst>
              <a:ext uri="{FF2B5EF4-FFF2-40B4-BE49-F238E27FC236}">
                <a16:creationId xmlns:a16="http://schemas.microsoft.com/office/drawing/2014/main" id="{364FAA2E-BC4A-4F36-B56B-D7CACAF86FEE}"/>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What this milestone establishes</a:t>
            </a:r>
          </a:p>
        </p:txBody>
      </p:sp>
      <p:sp>
        <p:nvSpPr>
          <p:cNvPr id="3" name="Straight Connector 2">
            <a:extLst>
              <a:ext uri="{FF2B5EF4-FFF2-40B4-BE49-F238E27FC236}">
                <a16:creationId xmlns:a16="http://schemas.microsoft.com/office/drawing/2014/main" id="{3A142D7F-3EA4-4AD9-A8D2-702CF5538779}"/>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E6840897-66A8-4A71-AD97-B1FA38ADBF6C}"/>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27</a:t>
            </a:r>
          </a:p>
        </p:txBody>
      </p:sp>
      <p:sp>
        <p:nvSpPr>
          <p:cNvPr id="5" name="Rectangle 4">
            <a:extLst>
              <a:ext uri="{FF2B5EF4-FFF2-40B4-BE49-F238E27FC236}">
                <a16:creationId xmlns:a16="http://schemas.microsoft.com/office/drawing/2014/main" id="{66730E39-F21E-41D2-A3C7-DA6E700CB92B}"/>
              </a:ext>
            </a:extLst>
          </p:cNvPr>
          <p:cNvSpPr>
            <a:spLocks noGrp="1"/>
          </p:cNvSpPr>
          <p:nvPr/>
        </p:nvSpPr>
        <p:spPr>
          <a:xfrm>
            <a:off x="742950" y="1752600"/>
            <a:ext cx="571500" cy="381000"/>
          </a:xfrm>
          <a:prstGeom prst="rect">
            <a:avLst/>
          </a:prstGeom>
          <a:noFill/>
          <a:ln w="0">
            <a:noFill/>
            <a:prstDash val="solid"/>
          </a:ln>
        </p:spPr>
        <p:txBody>
          <a:bodyPr anchor="t"/>
          <a:lstStyle/>
          <a:p>
            <a:pPr algn="l">
              <a:defRPr sz="2100" b="1" i="0">
                <a:solidFill>
                  <a:srgbClr val="D48728"/>
                </a:solidFill>
              </a:defRPr>
            </a:pPr>
            <a:r>
              <a:rPr sz="2100" b="1" i="0">
                <a:solidFill>
                  <a:srgbClr val="D48728"/>
                </a:solidFill>
              </a:rPr>
              <a:t>01</a:t>
            </a:r>
          </a:p>
        </p:txBody>
      </p:sp>
      <p:sp>
        <p:nvSpPr>
          <p:cNvPr id="6" name="Straight Connector 5">
            <a:extLst>
              <a:ext uri="{FF2B5EF4-FFF2-40B4-BE49-F238E27FC236}">
                <a16:creationId xmlns:a16="http://schemas.microsoft.com/office/drawing/2014/main" id="{082F4207-C3E4-4125-A50C-A7CB38265978}"/>
              </a:ext>
            </a:extLst>
          </p:cNvPr>
          <p:cNvSpPr>
            <a:spLocks noGrp="1"/>
          </p:cNvSpPr>
          <p:nvPr/>
        </p:nvSpPr>
        <p:spPr>
          <a:xfrm>
            <a:off x="1428750" y="1924050"/>
            <a:ext cx="952500" cy="0"/>
          </a:xfrm>
          <a:prstGeom prst="line">
            <a:avLst/>
          </a:prstGeom>
          <a:noFill/>
          <a:ln w="28575">
            <a:solidFill>
              <a:srgbClr val="D48728"/>
            </a:solidFill>
            <a:prstDash val="solid"/>
          </a:ln>
        </p:spPr>
        <p:txBody>
          <a:bodyPr/>
          <a:lstStyle/>
          <a:p>
            <a:endParaRPr lang="en-US"/>
          </a:p>
        </p:txBody>
      </p:sp>
      <p:sp>
        <p:nvSpPr>
          <p:cNvPr id="7" name="Rectangle 6">
            <a:extLst>
              <a:ext uri="{FF2B5EF4-FFF2-40B4-BE49-F238E27FC236}">
                <a16:creationId xmlns:a16="http://schemas.microsoft.com/office/drawing/2014/main" id="{D3742219-B701-4070-BA96-62EFE1BA3B77}"/>
              </a:ext>
            </a:extLst>
          </p:cNvPr>
          <p:cNvSpPr>
            <a:spLocks noGrp="1"/>
          </p:cNvSpPr>
          <p:nvPr/>
        </p:nvSpPr>
        <p:spPr>
          <a:xfrm>
            <a:off x="2686050" y="1657350"/>
            <a:ext cx="2762250" cy="323850"/>
          </a:xfrm>
          <a:prstGeom prst="rect">
            <a:avLst/>
          </a:prstGeom>
          <a:noFill/>
          <a:ln w="0">
            <a:noFill/>
            <a:prstDash val="solid"/>
          </a:ln>
        </p:spPr>
        <p:txBody>
          <a:bodyPr anchor="t"/>
          <a:lstStyle/>
          <a:p>
            <a:pPr algn="l">
              <a:defRPr sz="1500" b="1" i="0">
                <a:solidFill>
                  <a:srgbClr val="D48728"/>
                </a:solidFill>
              </a:defRPr>
            </a:pPr>
            <a:r>
              <a:rPr sz="1500" b="1" i="0">
                <a:solidFill>
                  <a:srgbClr val="D48728"/>
                </a:solidFill>
              </a:rPr>
              <a:t>SCALABLE DETECTION</a:t>
            </a:r>
          </a:p>
        </p:txBody>
      </p:sp>
      <p:sp>
        <p:nvSpPr>
          <p:cNvPr id="8" name="Rectangle 7">
            <a:extLst>
              <a:ext uri="{FF2B5EF4-FFF2-40B4-BE49-F238E27FC236}">
                <a16:creationId xmlns:a16="http://schemas.microsoft.com/office/drawing/2014/main" id="{FC1536B8-F675-418D-85F6-EA3DDA57F49E}"/>
              </a:ext>
            </a:extLst>
          </p:cNvPr>
          <p:cNvSpPr>
            <a:spLocks noGrp="1"/>
          </p:cNvSpPr>
          <p:nvPr/>
        </p:nvSpPr>
        <p:spPr>
          <a:xfrm>
            <a:off x="5638800" y="1619250"/>
            <a:ext cx="5715000" cy="628650"/>
          </a:xfrm>
          <a:prstGeom prst="rect">
            <a:avLst/>
          </a:prstGeom>
          <a:noFill/>
          <a:ln w="0">
            <a:noFill/>
            <a:prstDash val="solid"/>
          </a:ln>
        </p:spPr>
        <p:txBody>
          <a:bodyPr anchor="t"/>
          <a:lstStyle/>
          <a:p>
            <a:pPr algn="l">
              <a:defRPr sz="1500" b="0" i="0">
                <a:solidFill>
                  <a:srgbClr val="18232B"/>
                </a:solidFill>
              </a:defRPr>
            </a:pPr>
            <a:r>
              <a:rPr sz="1500" b="0" i="0">
                <a:solidFill>
                  <a:srgbClr val="18232B"/>
                </a:solidFill>
              </a:rPr>
              <a:t>Annual embeddings can identify and characterise strong landscape-signal change across a large raster stack.</a:t>
            </a:r>
          </a:p>
        </p:txBody>
      </p:sp>
      <p:sp>
        <p:nvSpPr>
          <p:cNvPr id="9" name="Rectangle 8">
            <a:extLst>
              <a:ext uri="{FF2B5EF4-FFF2-40B4-BE49-F238E27FC236}">
                <a16:creationId xmlns:a16="http://schemas.microsoft.com/office/drawing/2014/main" id="{1054DFE9-1E66-49BF-87AC-350CB8687F10}"/>
              </a:ext>
            </a:extLst>
          </p:cNvPr>
          <p:cNvSpPr>
            <a:spLocks noGrp="1"/>
          </p:cNvSpPr>
          <p:nvPr/>
        </p:nvSpPr>
        <p:spPr>
          <a:xfrm>
            <a:off x="742950" y="3009900"/>
            <a:ext cx="571500" cy="381000"/>
          </a:xfrm>
          <a:prstGeom prst="rect">
            <a:avLst/>
          </a:prstGeom>
          <a:noFill/>
          <a:ln w="0">
            <a:noFill/>
            <a:prstDash val="solid"/>
          </a:ln>
        </p:spPr>
        <p:txBody>
          <a:bodyPr anchor="t"/>
          <a:lstStyle/>
          <a:p>
            <a:pPr algn="l">
              <a:defRPr sz="2100" b="1" i="0">
                <a:solidFill>
                  <a:srgbClr val="147D70"/>
                </a:solidFill>
              </a:defRPr>
            </a:pPr>
            <a:r>
              <a:rPr sz="2100" b="1" i="0">
                <a:solidFill>
                  <a:srgbClr val="147D70"/>
                </a:solidFill>
              </a:rPr>
              <a:t>02</a:t>
            </a:r>
          </a:p>
        </p:txBody>
      </p:sp>
      <p:sp>
        <p:nvSpPr>
          <p:cNvPr id="10" name="Straight Connector 9">
            <a:extLst>
              <a:ext uri="{FF2B5EF4-FFF2-40B4-BE49-F238E27FC236}">
                <a16:creationId xmlns:a16="http://schemas.microsoft.com/office/drawing/2014/main" id="{AF77010F-F7E6-4F2A-8BC6-0E67526434ED}"/>
              </a:ext>
            </a:extLst>
          </p:cNvPr>
          <p:cNvSpPr>
            <a:spLocks noGrp="1"/>
          </p:cNvSpPr>
          <p:nvPr/>
        </p:nvSpPr>
        <p:spPr>
          <a:xfrm>
            <a:off x="1428750" y="3181350"/>
            <a:ext cx="952500" cy="0"/>
          </a:xfrm>
          <a:prstGeom prst="line">
            <a:avLst/>
          </a:prstGeom>
          <a:noFill/>
          <a:ln w="28575">
            <a:solidFill>
              <a:srgbClr val="147D70"/>
            </a:solidFill>
            <a:prstDash val="solid"/>
          </a:ln>
        </p:spPr>
        <p:txBody>
          <a:bodyPr/>
          <a:lstStyle/>
          <a:p>
            <a:endParaRPr lang="en-US"/>
          </a:p>
        </p:txBody>
      </p:sp>
      <p:sp>
        <p:nvSpPr>
          <p:cNvPr id="11" name="Rectangle 10">
            <a:extLst>
              <a:ext uri="{FF2B5EF4-FFF2-40B4-BE49-F238E27FC236}">
                <a16:creationId xmlns:a16="http://schemas.microsoft.com/office/drawing/2014/main" id="{8E258C6B-497A-4630-833B-0ECBBA1BC1C4}"/>
              </a:ext>
            </a:extLst>
          </p:cNvPr>
          <p:cNvSpPr>
            <a:spLocks noGrp="1"/>
          </p:cNvSpPr>
          <p:nvPr/>
        </p:nvSpPr>
        <p:spPr>
          <a:xfrm>
            <a:off x="2686050" y="2914650"/>
            <a:ext cx="2762250" cy="323850"/>
          </a:xfrm>
          <a:prstGeom prst="rect">
            <a:avLst/>
          </a:prstGeom>
          <a:noFill/>
          <a:ln w="0">
            <a:noFill/>
            <a:prstDash val="solid"/>
          </a:ln>
        </p:spPr>
        <p:txBody>
          <a:bodyPr anchor="t"/>
          <a:lstStyle/>
          <a:p>
            <a:pPr algn="l">
              <a:defRPr sz="1500" b="1" i="0">
                <a:solidFill>
                  <a:srgbClr val="147D70"/>
                </a:solidFill>
              </a:defRPr>
            </a:pPr>
            <a:r>
              <a:rPr sz="1500" b="1" i="0">
                <a:solidFill>
                  <a:srgbClr val="147D70"/>
                </a:solidFill>
              </a:rPr>
              <a:t>INDEPENDENT CONTEXT</a:t>
            </a:r>
          </a:p>
        </p:txBody>
      </p:sp>
      <p:sp>
        <p:nvSpPr>
          <p:cNvPr id="12" name="Rectangle 11">
            <a:extLst>
              <a:ext uri="{FF2B5EF4-FFF2-40B4-BE49-F238E27FC236}">
                <a16:creationId xmlns:a16="http://schemas.microsoft.com/office/drawing/2014/main" id="{7A245D54-8C23-42CE-8FC8-E096E47033A8}"/>
              </a:ext>
            </a:extLst>
          </p:cNvPr>
          <p:cNvSpPr>
            <a:spLocks noGrp="1"/>
          </p:cNvSpPr>
          <p:nvPr/>
        </p:nvSpPr>
        <p:spPr>
          <a:xfrm>
            <a:off x="5638800" y="2876550"/>
            <a:ext cx="5715000" cy="628650"/>
          </a:xfrm>
          <a:prstGeom prst="rect">
            <a:avLst/>
          </a:prstGeom>
          <a:noFill/>
          <a:ln w="0">
            <a:noFill/>
            <a:prstDash val="solid"/>
          </a:ln>
        </p:spPr>
        <p:txBody>
          <a:bodyPr anchor="t"/>
          <a:lstStyle/>
          <a:p>
            <a:pPr algn="l">
              <a:defRPr sz="1500" b="0" i="0">
                <a:solidFill>
                  <a:srgbClr val="18232B"/>
                </a:solidFill>
              </a:defRPr>
            </a:pPr>
            <a:r>
              <a:rPr sz="1500" b="0" i="0">
                <a:solidFill>
                  <a:srgbClr val="18232B"/>
                </a:solidFill>
              </a:rPr>
              <a:t>DEA Land Cover and NDVI add annual categorical and vegetation evidence at every mapped region.</a:t>
            </a:r>
          </a:p>
        </p:txBody>
      </p:sp>
      <p:sp>
        <p:nvSpPr>
          <p:cNvPr id="13" name="Rectangle 12">
            <a:extLst>
              <a:ext uri="{FF2B5EF4-FFF2-40B4-BE49-F238E27FC236}">
                <a16:creationId xmlns:a16="http://schemas.microsoft.com/office/drawing/2014/main" id="{82E422D9-A10D-4D4A-BA70-D0DD96731EAB}"/>
              </a:ext>
            </a:extLst>
          </p:cNvPr>
          <p:cNvSpPr>
            <a:spLocks noGrp="1"/>
          </p:cNvSpPr>
          <p:nvPr/>
        </p:nvSpPr>
        <p:spPr>
          <a:xfrm>
            <a:off x="742950" y="4267200"/>
            <a:ext cx="571500" cy="381000"/>
          </a:xfrm>
          <a:prstGeom prst="rect">
            <a:avLst/>
          </a:prstGeom>
          <a:noFill/>
          <a:ln w="0">
            <a:noFill/>
            <a:prstDash val="solid"/>
          </a:ln>
        </p:spPr>
        <p:txBody>
          <a:bodyPr anchor="t"/>
          <a:lstStyle/>
          <a:p>
            <a:pPr algn="l">
              <a:defRPr sz="2100" b="1" i="0">
                <a:solidFill>
                  <a:srgbClr val="08065C"/>
                </a:solidFill>
              </a:defRPr>
            </a:pPr>
            <a:r>
              <a:rPr sz="2100" b="1" i="0">
                <a:solidFill>
                  <a:srgbClr val="08065C"/>
                </a:solidFill>
              </a:rPr>
              <a:t>03</a:t>
            </a:r>
          </a:p>
        </p:txBody>
      </p:sp>
      <p:sp>
        <p:nvSpPr>
          <p:cNvPr id="14" name="Straight Connector 13">
            <a:extLst>
              <a:ext uri="{FF2B5EF4-FFF2-40B4-BE49-F238E27FC236}">
                <a16:creationId xmlns:a16="http://schemas.microsoft.com/office/drawing/2014/main" id="{64622077-F40A-4BC9-9E08-5E7E1262B91D}"/>
              </a:ext>
            </a:extLst>
          </p:cNvPr>
          <p:cNvSpPr>
            <a:spLocks noGrp="1"/>
          </p:cNvSpPr>
          <p:nvPr/>
        </p:nvSpPr>
        <p:spPr>
          <a:xfrm>
            <a:off x="1428750" y="4438650"/>
            <a:ext cx="952500" cy="0"/>
          </a:xfrm>
          <a:prstGeom prst="line">
            <a:avLst/>
          </a:prstGeom>
          <a:noFill/>
          <a:ln w="28575">
            <a:solidFill>
              <a:srgbClr val="08065C"/>
            </a:solidFill>
            <a:prstDash val="solid"/>
          </a:ln>
        </p:spPr>
        <p:txBody>
          <a:bodyPr/>
          <a:lstStyle/>
          <a:p>
            <a:endParaRPr lang="en-US"/>
          </a:p>
        </p:txBody>
      </p:sp>
      <p:sp>
        <p:nvSpPr>
          <p:cNvPr id="15" name="Rectangle 14">
            <a:extLst>
              <a:ext uri="{FF2B5EF4-FFF2-40B4-BE49-F238E27FC236}">
                <a16:creationId xmlns:a16="http://schemas.microsoft.com/office/drawing/2014/main" id="{06869205-A666-436F-A54E-DEEA1B011556}"/>
              </a:ext>
            </a:extLst>
          </p:cNvPr>
          <p:cNvSpPr>
            <a:spLocks noGrp="1"/>
          </p:cNvSpPr>
          <p:nvPr/>
        </p:nvSpPr>
        <p:spPr>
          <a:xfrm>
            <a:off x="2686050" y="4171950"/>
            <a:ext cx="2762250" cy="323850"/>
          </a:xfrm>
          <a:prstGeom prst="rect">
            <a:avLst/>
          </a:prstGeom>
          <a:noFill/>
          <a:ln w="0">
            <a:noFill/>
            <a:prstDash val="solid"/>
          </a:ln>
        </p:spPr>
        <p:txBody>
          <a:bodyPr anchor="t"/>
          <a:lstStyle/>
          <a:p>
            <a:pPr algn="l">
              <a:defRPr sz="1500" b="1" i="0">
                <a:solidFill>
                  <a:srgbClr val="08065C"/>
                </a:solidFill>
              </a:defRPr>
            </a:pPr>
            <a:r>
              <a:rPr sz="1500" b="1" i="0">
                <a:solidFill>
                  <a:srgbClr val="08065C"/>
                </a:solidFill>
              </a:rPr>
              <a:t>USABLE COMMUNICATION</a:t>
            </a:r>
          </a:p>
        </p:txBody>
      </p:sp>
      <p:sp>
        <p:nvSpPr>
          <p:cNvPr id="16" name="Rectangle 15">
            <a:extLst>
              <a:ext uri="{FF2B5EF4-FFF2-40B4-BE49-F238E27FC236}">
                <a16:creationId xmlns:a16="http://schemas.microsoft.com/office/drawing/2014/main" id="{3C5B915E-4FDB-4A67-ABC7-B1B46FB050A6}"/>
              </a:ext>
            </a:extLst>
          </p:cNvPr>
          <p:cNvSpPr>
            <a:spLocks noGrp="1"/>
          </p:cNvSpPr>
          <p:nvPr/>
        </p:nvSpPr>
        <p:spPr>
          <a:xfrm>
            <a:off x="5638800" y="4133850"/>
            <a:ext cx="5715000" cy="628650"/>
          </a:xfrm>
          <a:prstGeom prst="rect">
            <a:avLst/>
          </a:prstGeom>
          <a:noFill/>
          <a:ln w="0">
            <a:noFill/>
            <a:prstDash val="solid"/>
          </a:ln>
        </p:spPr>
        <p:txBody>
          <a:bodyPr anchor="t"/>
          <a:lstStyle/>
          <a:p>
            <a:pPr algn="l">
              <a:defRPr sz="1500" b="0" i="0">
                <a:solidFill>
                  <a:srgbClr val="18232B"/>
                </a:solidFill>
              </a:defRPr>
            </a:pPr>
            <a:r>
              <a:rPr sz="1500" b="0" i="0">
                <a:solidFill>
                  <a:srgbClr val="18232B"/>
                </a:solidFill>
              </a:rPr>
              <a:t>The evidence is packaged into an interactive map that supports search, filtering and historical inspection.</a:t>
            </a:r>
          </a:p>
        </p:txBody>
      </p:sp>
      <p:sp>
        <p:nvSpPr>
          <p:cNvPr id="17" name="Rounded Rectangle 16">
            <a:extLst>
              <a:ext uri="{FF2B5EF4-FFF2-40B4-BE49-F238E27FC236}">
                <a16:creationId xmlns:a16="http://schemas.microsoft.com/office/drawing/2014/main" id="{93DE8604-A596-4311-8E70-08D5128897F8}"/>
              </a:ext>
            </a:extLst>
          </p:cNvPr>
          <p:cNvSpPr>
            <a:spLocks noGrp="1"/>
          </p:cNvSpPr>
          <p:nvPr/>
        </p:nvSpPr>
        <p:spPr>
          <a:xfrm>
            <a:off x="1790700" y="5486400"/>
            <a:ext cx="8610600" cy="552450"/>
          </a:xfrm>
          <a:prstGeom prst="roundRect">
            <a:avLst>
              <a:gd name="adj" fmla="val 8621"/>
            </a:avLst>
          </a:prstGeom>
          <a:solidFill>
            <a:srgbClr val="EEF2F4"/>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64029027-4BD4-4FD6-9770-FBBF33F34B47}"/>
              </a:ext>
            </a:extLst>
          </p:cNvPr>
          <p:cNvSpPr>
            <a:spLocks noGrp="1"/>
          </p:cNvSpPr>
          <p:nvPr/>
        </p:nvSpPr>
        <p:spPr>
          <a:xfrm>
            <a:off x="2095500" y="5629275"/>
            <a:ext cx="8001000" cy="285750"/>
          </a:xfrm>
          <a:prstGeom prst="rect">
            <a:avLst/>
          </a:prstGeom>
          <a:noFill/>
          <a:ln w="0">
            <a:noFill/>
            <a:prstDash val="solid"/>
          </a:ln>
        </p:spPr>
        <p:txBody>
          <a:bodyPr anchor="t"/>
          <a:lstStyle/>
          <a:p>
            <a:pPr algn="ctr">
              <a:defRPr sz="1650" b="1" i="0">
                <a:solidFill>
                  <a:srgbClr val="08065C"/>
                </a:solidFill>
              </a:defRPr>
            </a:pPr>
            <a:r>
              <a:rPr sz="1650" b="1" i="0">
                <a:solidFill>
                  <a:srgbClr val="08065C"/>
                </a:solidFill>
              </a:rPr>
              <a:t>Current boundary: evidence for investigation, not automated causal attribution.</a:t>
            </a:r>
          </a:p>
        </p:txBody>
      </p:sp>
    </p:spTree>
    <p:extLst>
      <p:ext uri="{BB962C8B-B14F-4D97-AF65-F5344CB8AC3E}">
        <p14:creationId xmlns:p14="http://schemas.microsoft.com/office/powerpoint/2010/main" val="1317255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09D7B91-F260-4921-AC29-626789530B22}"/>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FUTURE WORK</a:t>
            </a:r>
          </a:p>
        </p:txBody>
      </p:sp>
      <p:sp>
        <p:nvSpPr>
          <p:cNvPr id="2" name="slide-28-title">
            <a:extLst>
              <a:ext uri="{FF2B5EF4-FFF2-40B4-BE49-F238E27FC236}">
                <a16:creationId xmlns:a16="http://schemas.microsoft.com/office/drawing/2014/main" id="{CB4EA59A-ECA4-4431-9773-8434F3065B62}"/>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Next: from Bass Coast prototype to national service</a:t>
            </a:r>
          </a:p>
        </p:txBody>
      </p:sp>
      <p:sp>
        <p:nvSpPr>
          <p:cNvPr id="3" name="Straight Connector 2">
            <a:extLst>
              <a:ext uri="{FF2B5EF4-FFF2-40B4-BE49-F238E27FC236}">
                <a16:creationId xmlns:a16="http://schemas.microsoft.com/office/drawing/2014/main" id="{6CD95E6A-600E-48C0-8479-902134217DED}"/>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172336D4-A51E-4878-B03E-DE3E7F5D8C11}"/>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28</a:t>
            </a:r>
          </a:p>
        </p:txBody>
      </p:sp>
      <p:sp>
        <p:nvSpPr>
          <p:cNvPr id="5" name="Rectangle 4">
            <a:extLst>
              <a:ext uri="{FF2B5EF4-FFF2-40B4-BE49-F238E27FC236}">
                <a16:creationId xmlns:a16="http://schemas.microsoft.com/office/drawing/2014/main" id="{6FD6394F-8FE5-49F2-AC6F-8CA5D082471B}"/>
              </a:ext>
            </a:extLst>
          </p:cNvPr>
          <p:cNvSpPr>
            <a:spLocks noGrp="1"/>
          </p:cNvSpPr>
          <p:nvPr/>
        </p:nvSpPr>
        <p:spPr>
          <a:xfrm>
            <a:off x="857250" y="1771650"/>
            <a:ext cx="2571750" cy="266700"/>
          </a:xfrm>
          <a:prstGeom prst="rect">
            <a:avLst/>
          </a:prstGeom>
          <a:noFill/>
          <a:ln w="0">
            <a:noFill/>
            <a:prstDash val="solid"/>
          </a:ln>
        </p:spPr>
        <p:txBody>
          <a:bodyPr anchor="t"/>
          <a:lstStyle/>
          <a:p>
            <a:pPr algn="ctr">
              <a:defRPr sz="1125" b="1" i="0">
                <a:solidFill>
                  <a:srgbClr val="147D70"/>
                </a:solidFill>
              </a:defRPr>
            </a:pPr>
            <a:r>
              <a:rPr sz="1125" b="1" i="0">
                <a:solidFill>
                  <a:srgbClr val="147D70"/>
                </a:solidFill>
              </a:rPr>
              <a:t>BASS COAST</a:t>
            </a:r>
          </a:p>
        </p:txBody>
      </p:sp>
      <p:sp>
        <p:nvSpPr>
          <p:cNvPr id="6" name="Rounded Rectangle 5">
            <a:extLst>
              <a:ext uri="{FF2B5EF4-FFF2-40B4-BE49-F238E27FC236}">
                <a16:creationId xmlns:a16="http://schemas.microsoft.com/office/drawing/2014/main" id="{86D9EE4A-A56D-498E-9CF8-05D2193F83CA}"/>
              </a:ext>
            </a:extLst>
          </p:cNvPr>
          <p:cNvSpPr>
            <a:spLocks noGrp="1"/>
          </p:cNvSpPr>
          <p:nvPr/>
        </p:nvSpPr>
        <p:spPr>
          <a:xfrm>
            <a:off x="895350" y="2171700"/>
            <a:ext cx="2476500" cy="2381250"/>
          </a:xfrm>
          <a:prstGeom prst="roundRect">
            <a:avLst>
              <a:gd name="adj" fmla="val 5600"/>
            </a:avLst>
          </a:prstGeom>
          <a:solidFill>
            <a:srgbClr val="DDEFEA"/>
          </a:solidFill>
          <a:ln w="19050">
            <a:solidFill>
              <a:srgbClr val="147D70"/>
            </a:solidFill>
            <a:prstDash val="solid"/>
          </a:ln>
        </p:spPr>
        <p:txBody>
          <a:bodyPr/>
          <a:lstStyle/>
          <a:p>
            <a:endParaRPr lang="en-US"/>
          </a:p>
        </p:txBody>
      </p:sp>
      <p:sp>
        <p:nvSpPr>
          <p:cNvPr id="7" name="Rectangle 6">
            <a:extLst>
              <a:ext uri="{FF2B5EF4-FFF2-40B4-BE49-F238E27FC236}">
                <a16:creationId xmlns:a16="http://schemas.microsoft.com/office/drawing/2014/main" id="{80831F1E-58B5-49AA-9D9E-484E5DAE27B1}"/>
              </a:ext>
            </a:extLst>
          </p:cNvPr>
          <p:cNvSpPr>
            <a:spLocks noGrp="1"/>
          </p:cNvSpPr>
          <p:nvPr/>
        </p:nvSpPr>
        <p:spPr>
          <a:xfrm>
            <a:off x="1143000" y="2571750"/>
            <a:ext cx="1981200" cy="400050"/>
          </a:xfrm>
          <a:prstGeom prst="rect">
            <a:avLst/>
          </a:prstGeom>
          <a:noFill/>
          <a:ln w="0">
            <a:noFill/>
            <a:prstDash val="solid"/>
          </a:ln>
        </p:spPr>
        <p:txBody>
          <a:bodyPr anchor="t"/>
          <a:lstStyle/>
          <a:p>
            <a:pPr algn="ctr">
              <a:defRPr sz="1950" b="1" i="0">
                <a:solidFill>
                  <a:srgbClr val="08065C"/>
                </a:solidFill>
              </a:defRPr>
            </a:pPr>
            <a:r>
              <a:rPr sz="1950" b="1" i="0">
                <a:solidFill>
                  <a:srgbClr val="08065C"/>
                </a:solidFill>
              </a:rPr>
              <a:t>Working prototype</a:t>
            </a:r>
          </a:p>
        </p:txBody>
      </p:sp>
      <p:sp>
        <p:nvSpPr>
          <p:cNvPr id="8" name="Rectangle 7">
            <a:extLst>
              <a:ext uri="{FF2B5EF4-FFF2-40B4-BE49-F238E27FC236}">
                <a16:creationId xmlns:a16="http://schemas.microsoft.com/office/drawing/2014/main" id="{C3582589-CE7E-4216-A011-D335086CFFD0}"/>
              </a:ext>
            </a:extLst>
          </p:cNvPr>
          <p:cNvSpPr>
            <a:spLocks noGrp="1"/>
          </p:cNvSpPr>
          <p:nvPr/>
        </p:nvSpPr>
        <p:spPr>
          <a:xfrm>
            <a:off x="1143000" y="3276600"/>
            <a:ext cx="1981200" cy="914400"/>
          </a:xfrm>
          <a:prstGeom prst="rect">
            <a:avLst/>
          </a:prstGeom>
          <a:noFill/>
          <a:ln w="0">
            <a:noFill/>
            <a:prstDash val="solid"/>
          </a:ln>
        </p:spPr>
        <p:txBody>
          <a:bodyPr anchor="t"/>
          <a:lstStyle/>
          <a:p>
            <a:pPr algn="ctr">
              <a:defRPr sz="1500" b="0" i="0">
                <a:solidFill>
                  <a:srgbClr val="18232B"/>
                </a:solidFill>
              </a:defRPr>
            </a:pPr>
            <a:r>
              <a:rPr sz="1500" b="0" i="0">
                <a:solidFill>
                  <a:srgbClr val="18232B"/>
                </a:solidFill>
              </a:rPr>
              <a:t>Annual evidence</a:t>
            </a:r>
          </a:p>
          <a:p>
            <a:pPr algn="ctr">
              <a:defRPr sz="1500" b="0" i="0">
                <a:solidFill>
                  <a:srgbClr val="18232B"/>
                </a:solidFill>
              </a:defRPr>
            </a:pPr>
            <a:r>
              <a:rPr sz="1500" b="0" i="0">
                <a:solidFill>
                  <a:srgbClr val="18232B"/>
                </a:solidFill>
              </a:rPr>
              <a:t>Interactive regions</a:t>
            </a:r>
          </a:p>
          <a:p>
            <a:pPr algn="ctr">
              <a:defRPr sz="1500" b="0" i="0">
                <a:solidFill>
                  <a:srgbClr val="18232B"/>
                </a:solidFill>
              </a:defRPr>
            </a:pPr>
            <a:r>
              <a:rPr sz="1500" b="0" i="0">
                <a:solidFill>
                  <a:srgbClr val="18232B"/>
                </a:solidFill>
              </a:rPr>
              <a:t>Public web map</a:t>
            </a:r>
          </a:p>
        </p:txBody>
      </p:sp>
      <p:sp>
        <p:nvSpPr>
          <p:cNvPr id="9" name="Rectangle 8">
            <a:extLst>
              <a:ext uri="{FF2B5EF4-FFF2-40B4-BE49-F238E27FC236}">
                <a16:creationId xmlns:a16="http://schemas.microsoft.com/office/drawing/2014/main" id="{B8108644-D9AD-4FB9-B970-BFE7D7DFA5DC}"/>
              </a:ext>
            </a:extLst>
          </p:cNvPr>
          <p:cNvSpPr>
            <a:spLocks noGrp="1"/>
          </p:cNvSpPr>
          <p:nvPr/>
        </p:nvSpPr>
        <p:spPr>
          <a:xfrm>
            <a:off x="3733800" y="2933700"/>
            <a:ext cx="762000" cy="609600"/>
          </a:xfrm>
          <a:prstGeom prst="rect">
            <a:avLst/>
          </a:prstGeom>
          <a:noFill/>
          <a:ln w="0">
            <a:noFill/>
            <a:prstDash val="solid"/>
          </a:ln>
        </p:spPr>
        <p:txBody>
          <a:bodyPr anchor="t"/>
          <a:lstStyle/>
          <a:p>
            <a:pPr algn="ctr">
              <a:defRPr sz="3750" b="1" i="0">
                <a:solidFill>
                  <a:srgbClr val="D48728"/>
                </a:solidFill>
              </a:defRPr>
            </a:pPr>
            <a:r>
              <a:rPr sz="3750" b="1" i="0">
                <a:solidFill>
                  <a:srgbClr val="D48728"/>
                </a:solidFill>
              </a:rPr>
              <a:t>→</a:t>
            </a:r>
          </a:p>
        </p:txBody>
      </p:sp>
      <p:sp>
        <p:nvSpPr>
          <p:cNvPr id="10" name="Rectangle 9">
            <a:extLst>
              <a:ext uri="{FF2B5EF4-FFF2-40B4-BE49-F238E27FC236}">
                <a16:creationId xmlns:a16="http://schemas.microsoft.com/office/drawing/2014/main" id="{4E2FC595-220C-4588-969C-839EE0F4FF98}"/>
              </a:ext>
            </a:extLst>
          </p:cNvPr>
          <p:cNvSpPr>
            <a:spLocks noGrp="1"/>
          </p:cNvSpPr>
          <p:nvPr/>
        </p:nvSpPr>
        <p:spPr>
          <a:xfrm>
            <a:off x="4914900" y="1771650"/>
            <a:ext cx="6191250" cy="266700"/>
          </a:xfrm>
          <a:prstGeom prst="rect">
            <a:avLst/>
          </a:prstGeom>
          <a:noFill/>
          <a:ln w="0">
            <a:noFill/>
            <a:prstDash val="solid"/>
          </a:ln>
        </p:spPr>
        <p:txBody>
          <a:bodyPr anchor="t"/>
          <a:lstStyle/>
          <a:p>
            <a:pPr algn="ctr">
              <a:defRPr sz="1125" b="1" i="0">
                <a:solidFill>
                  <a:srgbClr val="D48728"/>
                </a:solidFill>
              </a:defRPr>
            </a:pPr>
            <a:r>
              <a:rPr sz="1125" b="1" i="0">
                <a:solidFill>
                  <a:srgbClr val="D48728"/>
                </a:solidFill>
              </a:rPr>
              <a:t>AUSTRALIA</a:t>
            </a:r>
          </a:p>
        </p:txBody>
      </p:sp>
      <p:sp>
        <p:nvSpPr>
          <p:cNvPr id="11" name="Rounded Rectangle 10">
            <a:extLst>
              <a:ext uri="{FF2B5EF4-FFF2-40B4-BE49-F238E27FC236}">
                <a16:creationId xmlns:a16="http://schemas.microsoft.com/office/drawing/2014/main" id="{49937405-16F5-44F6-8D01-1293A8F21E65}"/>
              </a:ext>
            </a:extLst>
          </p:cNvPr>
          <p:cNvSpPr>
            <a:spLocks noGrp="1"/>
          </p:cNvSpPr>
          <p:nvPr/>
        </p:nvSpPr>
        <p:spPr>
          <a:xfrm>
            <a:off x="4838700" y="2171700"/>
            <a:ext cx="6477000" cy="2381250"/>
          </a:xfrm>
          <a:prstGeom prst="roundRect">
            <a:avLst>
              <a:gd name="adj" fmla="val 5600"/>
            </a:avLst>
          </a:prstGeom>
          <a:solidFill>
            <a:srgbClr val="F7EAD8"/>
          </a:solidFill>
          <a:ln w="19050">
            <a:solidFill>
              <a:srgbClr val="D48728"/>
            </a:solidFill>
            <a:prstDash val="solid"/>
          </a:ln>
        </p:spPr>
        <p:txBody>
          <a:bodyPr/>
          <a:lstStyle/>
          <a:p>
            <a:endParaRPr lang="en-US"/>
          </a:p>
        </p:txBody>
      </p:sp>
      <p:sp>
        <p:nvSpPr>
          <p:cNvPr id="12" name="Rectangle 11">
            <a:extLst>
              <a:ext uri="{FF2B5EF4-FFF2-40B4-BE49-F238E27FC236}">
                <a16:creationId xmlns:a16="http://schemas.microsoft.com/office/drawing/2014/main" id="{AF46304B-8AF9-423E-AA38-4589D8931285}"/>
              </a:ext>
            </a:extLst>
          </p:cNvPr>
          <p:cNvSpPr>
            <a:spLocks noGrp="1"/>
          </p:cNvSpPr>
          <p:nvPr/>
        </p:nvSpPr>
        <p:spPr>
          <a:xfrm>
            <a:off x="5143500" y="2457450"/>
            <a:ext cx="2571750" cy="285750"/>
          </a:xfrm>
          <a:prstGeom prst="rect">
            <a:avLst/>
          </a:prstGeom>
          <a:noFill/>
          <a:ln w="0">
            <a:noFill/>
            <a:prstDash val="solid"/>
          </a:ln>
        </p:spPr>
        <p:txBody>
          <a:bodyPr anchor="t"/>
          <a:lstStyle/>
          <a:p>
            <a:pPr algn="l">
              <a:defRPr sz="1500" b="1" i="0">
                <a:solidFill>
                  <a:srgbClr val="D48728"/>
                </a:solidFill>
              </a:defRPr>
            </a:pPr>
            <a:r>
              <a:rPr sz="1500" b="1" i="0">
                <a:solidFill>
                  <a:srgbClr val="D48728"/>
                </a:solidFill>
              </a:rPr>
              <a:t>Cloud delivery</a:t>
            </a:r>
          </a:p>
        </p:txBody>
      </p:sp>
      <p:sp>
        <p:nvSpPr>
          <p:cNvPr id="13" name="Rectangle 12">
            <a:extLst>
              <a:ext uri="{FF2B5EF4-FFF2-40B4-BE49-F238E27FC236}">
                <a16:creationId xmlns:a16="http://schemas.microsoft.com/office/drawing/2014/main" id="{375B08A2-02B5-44E1-A643-0D9B89EAB436}"/>
              </a:ext>
            </a:extLst>
          </p:cNvPr>
          <p:cNvSpPr>
            <a:spLocks noGrp="1"/>
          </p:cNvSpPr>
          <p:nvPr/>
        </p:nvSpPr>
        <p:spPr>
          <a:xfrm>
            <a:off x="5143500" y="2800350"/>
            <a:ext cx="2571750" cy="476250"/>
          </a:xfrm>
          <a:prstGeom prst="rect">
            <a:avLst/>
          </a:prstGeom>
          <a:noFill/>
          <a:ln w="0">
            <a:noFill/>
            <a:prstDash val="solid"/>
          </a:ln>
        </p:spPr>
        <p:txBody>
          <a:bodyPr anchor="t"/>
          <a:lstStyle/>
          <a:p>
            <a:pPr algn="l">
              <a:defRPr sz="1200" b="0" i="0">
                <a:solidFill>
                  <a:srgbClr val="18232B"/>
                </a:solidFill>
              </a:defRPr>
            </a:pPr>
            <a:r>
              <a:rPr sz="1200" b="0" i="0">
                <a:solidFill>
                  <a:srgbClr val="18232B"/>
                </a:solidFill>
              </a:rPr>
              <a:t>Tiled rasters and vector services for heavy load</a:t>
            </a:r>
          </a:p>
        </p:txBody>
      </p:sp>
      <p:sp>
        <p:nvSpPr>
          <p:cNvPr id="14" name="Rectangle 13">
            <a:extLst>
              <a:ext uri="{FF2B5EF4-FFF2-40B4-BE49-F238E27FC236}">
                <a16:creationId xmlns:a16="http://schemas.microsoft.com/office/drawing/2014/main" id="{480A7D73-A77D-4729-85F6-619C86F2804B}"/>
              </a:ext>
            </a:extLst>
          </p:cNvPr>
          <p:cNvSpPr>
            <a:spLocks noGrp="1"/>
          </p:cNvSpPr>
          <p:nvPr/>
        </p:nvSpPr>
        <p:spPr>
          <a:xfrm>
            <a:off x="8096250" y="2457450"/>
            <a:ext cx="2571750" cy="285750"/>
          </a:xfrm>
          <a:prstGeom prst="rect">
            <a:avLst/>
          </a:prstGeom>
          <a:noFill/>
          <a:ln w="0">
            <a:noFill/>
            <a:prstDash val="solid"/>
          </a:ln>
        </p:spPr>
        <p:txBody>
          <a:bodyPr anchor="t"/>
          <a:lstStyle/>
          <a:p>
            <a:pPr algn="l">
              <a:defRPr sz="1500" b="1" i="0">
                <a:solidFill>
                  <a:srgbClr val="D48728"/>
                </a:solidFill>
              </a:defRPr>
            </a:pPr>
            <a:r>
              <a:rPr sz="1500" b="1" i="0">
                <a:solidFill>
                  <a:srgbClr val="D48728"/>
                </a:solidFill>
              </a:rPr>
              <a:t>National pipeline</a:t>
            </a:r>
          </a:p>
        </p:txBody>
      </p:sp>
      <p:sp>
        <p:nvSpPr>
          <p:cNvPr id="15" name="Rectangle 14">
            <a:extLst>
              <a:ext uri="{FF2B5EF4-FFF2-40B4-BE49-F238E27FC236}">
                <a16:creationId xmlns:a16="http://schemas.microsoft.com/office/drawing/2014/main" id="{3F795801-1BC7-4831-84B8-7B120C64ACD3}"/>
              </a:ext>
            </a:extLst>
          </p:cNvPr>
          <p:cNvSpPr>
            <a:spLocks noGrp="1"/>
          </p:cNvSpPr>
          <p:nvPr/>
        </p:nvSpPr>
        <p:spPr>
          <a:xfrm>
            <a:off x="8096250" y="2800350"/>
            <a:ext cx="2571750" cy="476250"/>
          </a:xfrm>
          <a:prstGeom prst="rect">
            <a:avLst/>
          </a:prstGeom>
          <a:noFill/>
          <a:ln w="0">
            <a:noFill/>
            <a:prstDash val="solid"/>
          </a:ln>
        </p:spPr>
        <p:txBody>
          <a:bodyPr anchor="t"/>
          <a:lstStyle/>
          <a:p>
            <a:pPr algn="l">
              <a:defRPr sz="1200" b="0" i="0">
                <a:solidFill>
                  <a:srgbClr val="18232B"/>
                </a:solidFill>
              </a:defRPr>
            </a:pPr>
            <a:r>
              <a:rPr sz="1200" b="0" i="0">
                <a:solidFill>
                  <a:srgbClr val="18232B"/>
                </a:solidFill>
              </a:rPr>
              <a:t>Automated processing across regions and years</a:t>
            </a:r>
          </a:p>
        </p:txBody>
      </p:sp>
      <p:sp>
        <p:nvSpPr>
          <p:cNvPr id="16" name="Rectangle 15">
            <a:extLst>
              <a:ext uri="{FF2B5EF4-FFF2-40B4-BE49-F238E27FC236}">
                <a16:creationId xmlns:a16="http://schemas.microsoft.com/office/drawing/2014/main" id="{A381692C-8C69-4C31-A627-81D20B03B486}"/>
              </a:ext>
            </a:extLst>
          </p:cNvPr>
          <p:cNvSpPr>
            <a:spLocks noGrp="1"/>
          </p:cNvSpPr>
          <p:nvPr/>
        </p:nvSpPr>
        <p:spPr>
          <a:xfrm>
            <a:off x="5143500" y="3429000"/>
            <a:ext cx="2571750" cy="285750"/>
          </a:xfrm>
          <a:prstGeom prst="rect">
            <a:avLst/>
          </a:prstGeom>
          <a:noFill/>
          <a:ln w="0">
            <a:noFill/>
            <a:prstDash val="solid"/>
          </a:ln>
        </p:spPr>
        <p:txBody>
          <a:bodyPr anchor="t"/>
          <a:lstStyle/>
          <a:p>
            <a:pPr algn="l">
              <a:defRPr sz="1500" b="1" i="0">
                <a:solidFill>
                  <a:srgbClr val="08065C"/>
                </a:solidFill>
              </a:defRPr>
            </a:pPr>
            <a:r>
              <a:rPr sz="1500" b="1" i="0">
                <a:solidFill>
                  <a:srgbClr val="08065C"/>
                </a:solidFill>
              </a:rPr>
              <a:t>Accessible products</a:t>
            </a:r>
          </a:p>
        </p:txBody>
      </p:sp>
      <p:sp>
        <p:nvSpPr>
          <p:cNvPr id="17" name="Rectangle 16">
            <a:extLst>
              <a:ext uri="{FF2B5EF4-FFF2-40B4-BE49-F238E27FC236}">
                <a16:creationId xmlns:a16="http://schemas.microsoft.com/office/drawing/2014/main" id="{CEAE631E-736B-4092-9D35-1A0C176C0EA2}"/>
              </a:ext>
            </a:extLst>
          </p:cNvPr>
          <p:cNvSpPr>
            <a:spLocks noGrp="1"/>
          </p:cNvSpPr>
          <p:nvPr/>
        </p:nvSpPr>
        <p:spPr>
          <a:xfrm>
            <a:off x="5143500" y="3771900"/>
            <a:ext cx="2571750" cy="476250"/>
          </a:xfrm>
          <a:prstGeom prst="rect">
            <a:avLst/>
          </a:prstGeom>
          <a:noFill/>
          <a:ln w="0">
            <a:noFill/>
            <a:prstDash val="solid"/>
          </a:ln>
        </p:spPr>
        <p:txBody>
          <a:bodyPr anchor="t"/>
          <a:lstStyle/>
          <a:p>
            <a:pPr algn="l">
              <a:defRPr sz="1200" b="0" i="0">
                <a:solidFill>
                  <a:srgbClr val="18232B"/>
                </a:solidFill>
              </a:defRPr>
            </a:pPr>
            <a:r>
              <a:rPr sz="1200" b="0" i="0">
                <a:solidFill>
                  <a:srgbClr val="18232B"/>
                </a:solidFill>
              </a:rPr>
              <a:t>Mobile experience and inclusive interaction</a:t>
            </a:r>
          </a:p>
        </p:txBody>
      </p:sp>
      <p:sp>
        <p:nvSpPr>
          <p:cNvPr id="18" name="Rectangle 17">
            <a:extLst>
              <a:ext uri="{FF2B5EF4-FFF2-40B4-BE49-F238E27FC236}">
                <a16:creationId xmlns:a16="http://schemas.microsoft.com/office/drawing/2014/main" id="{406E4D1A-9113-4DE6-A9BD-A694F3E22865}"/>
              </a:ext>
            </a:extLst>
          </p:cNvPr>
          <p:cNvSpPr>
            <a:spLocks noGrp="1"/>
          </p:cNvSpPr>
          <p:nvPr/>
        </p:nvSpPr>
        <p:spPr>
          <a:xfrm>
            <a:off x="8096250" y="3429000"/>
            <a:ext cx="2571750" cy="285750"/>
          </a:xfrm>
          <a:prstGeom prst="rect">
            <a:avLst/>
          </a:prstGeom>
          <a:noFill/>
          <a:ln w="0">
            <a:noFill/>
            <a:prstDash val="solid"/>
          </a:ln>
        </p:spPr>
        <p:txBody>
          <a:bodyPr anchor="t"/>
          <a:lstStyle/>
          <a:p>
            <a:pPr algn="l">
              <a:defRPr sz="1500" b="1" i="0">
                <a:solidFill>
                  <a:srgbClr val="08065C"/>
                </a:solidFill>
              </a:defRPr>
            </a:pPr>
            <a:r>
              <a:rPr sz="1500" b="1" i="0">
                <a:solidFill>
                  <a:srgbClr val="08065C"/>
                </a:solidFill>
              </a:rPr>
              <a:t>Richer intelligence</a:t>
            </a:r>
          </a:p>
        </p:txBody>
      </p:sp>
      <p:sp>
        <p:nvSpPr>
          <p:cNvPr id="19" name="Rectangle 18">
            <a:extLst>
              <a:ext uri="{FF2B5EF4-FFF2-40B4-BE49-F238E27FC236}">
                <a16:creationId xmlns:a16="http://schemas.microsoft.com/office/drawing/2014/main" id="{9ED1A64A-C6A4-413D-B005-D692AF9E3B79}"/>
              </a:ext>
            </a:extLst>
          </p:cNvPr>
          <p:cNvSpPr>
            <a:spLocks noGrp="1"/>
          </p:cNvSpPr>
          <p:nvPr/>
        </p:nvSpPr>
        <p:spPr>
          <a:xfrm>
            <a:off x="8096250" y="3771900"/>
            <a:ext cx="2571750" cy="476250"/>
          </a:xfrm>
          <a:prstGeom prst="rect">
            <a:avLst/>
          </a:prstGeom>
          <a:noFill/>
          <a:ln w="0">
            <a:noFill/>
            <a:prstDash val="solid"/>
          </a:ln>
        </p:spPr>
        <p:txBody>
          <a:bodyPr anchor="t"/>
          <a:lstStyle/>
          <a:p>
            <a:pPr algn="l">
              <a:defRPr sz="1200" b="0" i="0">
                <a:solidFill>
                  <a:srgbClr val="18232B"/>
                </a:solidFill>
              </a:defRPr>
            </a:pPr>
            <a:r>
              <a:rPr sz="1200" b="0" i="0">
                <a:solidFill>
                  <a:srgbClr val="18232B"/>
                </a:solidFill>
              </a:rPr>
              <a:t>More evidence layers and predictive modelling</a:t>
            </a:r>
          </a:p>
        </p:txBody>
      </p:sp>
      <p:sp>
        <p:nvSpPr>
          <p:cNvPr id="20" name="Rectangle 19">
            <a:extLst>
              <a:ext uri="{FF2B5EF4-FFF2-40B4-BE49-F238E27FC236}">
                <a16:creationId xmlns:a16="http://schemas.microsoft.com/office/drawing/2014/main" id="{79225143-99B5-4775-997F-E6E2E6C8E14E}"/>
              </a:ext>
            </a:extLst>
          </p:cNvPr>
          <p:cNvSpPr>
            <a:spLocks noGrp="1"/>
          </p:cNvSpPr>
          <p:nvPr/>
        </p:nvSpPr>
        <p:spPr>
          <a:xfrm>
            <a:off x="1524000" y="5219700"/>
            <a:ext cx="9144000" cy="666750"/>
          </a:xfrm>
          <a:prstGeom prst="rect">
            <a:avLst/>
          </a:prstGeom>
          <a:noFill/>
          <a:ln w="0">
            <a:noFill/>
            <a:prstDash val="solid"/>
          </a:ln>
        </p:spPr>
        <p:txBody>
          <a:bodyPr anchor="t"/>
          <a:lstStyle/>
          <a:p>
            <a:pPr algn="ctr">
              <a:defRPr sz="1875" b="1" i="0">
                <a:solidFill>
                  <a:srgbClr val="08065C"/>
                </a:solidFill>
              </a:defRPr>
            </a:pPr>
            <a:r>
              <a:rPr sz="1875" b="1" i="0">
                <a:solidFill>
                  <a:srgbClr val="08065C"/>
                </a:solidFill>
              </a:rPr>
              <a:t>The prototype demonstrates the product idea; the next phase is production engineering and national-scale delivery.</a:t>
            </a:r>
          </a:p>
        </p:txBody>
      </p:sp>
    </p:spTree>
    <p:extLst>
      <p:ext uri="{BB962C8B-B14F-4D97-AF65-F5344CB8AC3E}">
        <p14:creationId xmlns:p14="http://schemas.microsoft.com/office/powerpoint/2010/main" val="451153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8065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0AFE797-5DC8-4796-AC86-5C1DBE88ADC7}"/>
              </a:ext>
            </a:extLst>
          </p:cNvPr>
          <p:cNvSpPr>
            <a:spLocks noGrp="1"/>
          </p:cNvSpPr>
          <p:nvPr/>
        </p:nvSpPr>
        <p:spPr>
          <a:xfrm>
            <a:off x="0" y="0"/>
            <a:ext cx="171450" cy="6858000"/>
          </a:xfrm>
          <a:prstGeom prst="rect">
            <a:avLst/>
          </a:prstGeom>
          <a:solidFill>
            <a:srgbClr val="C00000"/>
          </a:solidFill>
          <a:ln w="0">
            <a:noFill/>
            <a:prstDash val="solid"/>
          </a:ln>
        </p:spPr>
        <p:txBody>
          <a:bodyPr/>
          <a:lstStyle/>
          <a:p>
            <a:endParaRPr lang="en-US"/>
          </a:p>
        </p:txBody>
      </p:sp>
      <p:pic>
        <p:nvPicPr>
          <p:cNvPr id="17" name="Picture 16"/>
          <p:cNvPicPr>
            <a:picLocks noChangeAspect="1"/>
          </p:cNvPicPr>
          <p:nvPr/>
        </p:nvPicPr>
        <p:blipFill>
          <a:blip r:embed="rId3"/>
          <a:stretch/>
        </p:blipFill>
        <p:spPr>
          <a:xfrm>
            <a:off x="685800" y="552450"/>
            <a:ext cx="781050" cy="781050"/>
          </a:xfrm>
          <a:prstGeom prst="rect">
            <a:avLst/>
          </a:prstGeom>
        </p:spPr>
      </p:pic>
      <p:sp>
        <p:nvSpPr>
          <p:cNvPr id="3" name="Rectangle 2">
            <a:extLst>
              <a:ext uri="{FF2B5EF4-FFF2-40B4-BE49-F238E27FC236}">
                <a16:creationId xmlns:a16="http://schemas.microsoft.com/office/drawing/2014/main" id="{6DE1BFC0-DB77-46E0-B611-7A58A5B7FED6}"/>
              </a:ext>
            </a:extLst>
          </p:cNvPr>
          <p:cNvSpPr>
            <a:spLocks noGrp="1"/>
          </p:cNvSpPr>
          <p:nvPr/>
        </p:nvSpPr>
        <p:spPr>
          <a:xfrm>
            <a:off x="685800" y="1504950"/>
            <a:ext cx="3429000" cy="228600"/>
          </a:xfrm>
          <a:prstGeom prst="rect">
            <a:avLst/>
          </a:prstGeom>
          <a:noFill/>
          <a:ln w="0">
            <a:noFill/>
            <a:prstDash val="solid"/>
          </a:ln>
        </p:spPr>
        <p:txBody>
          <a:bodyPr anchor="t"/>
          <a:lstStyle/>
          <a:p>
            <a:pPr algn="l">
              <a:defRPr sz="1050" b="1" i="0">
                <a:solidFill>
                  <a:srgbClr val="DDEFEA"/>
                </a:solidFill>
              </a:defRPr>
            </a:pPr>
            <a:r>
              <a:rPr sz="1050" b="1" i="0">
                <a:solidFill>
                  <a:srgbClr val="DDEFEA"/>
                </a:solidFill>
              </a:rPr>
              <a:t>AUSHABITAT</a:t>
            </a:r>
          </a:p>
        </p:txBody>
      </p:sp>
      <p:sp>
        <p:nvSpPr>
          <p:cNvPr id="4" name="Rectangle 3">
            <a:extLst>
              <a:ext uri="{FF2B5EF4-FFF2-40B4-BE49-F238E27FC236}">
                <a16:creationId xmlns:a16="http://schemas.microsoft.com/office/drawing/2014/main" id="{C6BB4445-430C-48C0-B95B-B64CD58D014B}"/>
              </a:ext>
            </a:extLst>
          </p:cNvPr>
          <p:cNvSpPr>
            <a:spLocks noGrp="1"/>
          </p:cNvSpPr>
          <p:nvPr/>
        </p:nvSpPr>
        <p:spPr>
          <a:xfrm>
            <a:off x="685800" y="2000250"/>
            <a:ext cx="7239000" cy="666750"/>
          </a:xfrm>
          <a:prstGeom prst="rect">
            <a:avLst/>
          </a:prstGeom>
          <a:noFill/>
          <a:ln w="0">
            <a:noFill/>
            <a:prstDash val="solid"/>
          </a:ln>
        </p:spPr>
        <p:txBody>
          <a:bodyPr anchor="t"/>
          <a:lstStyle/>
          <a:p>
            <a:pPr algn="l">
              <a:defRPr sz="3750" b="1" i="0">
                <a:solidFill>
                  <a:srgbClr val="FFFFFF"/>
                </a:solidFill>
              </a:defRPr>
            </a:pPr>
            <a:r>
              <a:rPr sz="3750" b="1" i="0">
                <a:solidFill>
                  <a:srgbClr val="FFFFFF"/>
                </a:solidFill>
              </a:rPr>
              <a:t>Thank you for listening</a:t>
            </a:r>
          </a:p>
        </p:txBody>
      </p:sp>
      <p:sp>
        <p:nvSpPr>
          <p:cNvPr id="5" name="Straight Connector 4">
            <a:extLst>
              <a:ext uri="{FF2B5EF4-FFF2-40B4-BE49-F238E27FC236}">
                <a16:creationId xmlns:a16="http://schemas.microsoft.com/office/drawing/2014/main" id="{420DBBF7-E6EE-47D3-ACF2-C83C3B92BC65}"/>
              </a:ext>
            </a:extLst>
          </p:cNvPr>
          <p:cNvSpPr>
            <a:spLocks noGrp="1"/>
          </p:cNvSpPr>
          <p:nvPr/>
        </p:nvSpPr>
        <p:spPr>
          <a:xfrm>
            <a:off x="685800" y="2895600"/>
            <a:ext cx="4267200" cy="0"/>
          </a:xfrm>
          <a:prstGeom prst="line">
            <a:avLst/>
          </a:prstGeom>
          <a:noFill/>
          <a:ln w="47625">
            <a:solidFill>
              <a:srgbClr val="D48728"/>
            </a:solidFill>
            <a:prstDash val="solid"/>
          </a:ln>
        </p:spPr>
        <p:txBody>
          <a:bodyPr/>
          <a:lstStyle/>
          <a:p>
            <a:endParaRPr lang="en-US"/>
          </a:p>
        </p:txBody>
      </p:sp>
      <p:sp>
        <p:nvSpPr>
          <p:cNvPr id="6" name="Rectangle 5">
            <a:extLst>
              <a:ext uri="{FF2B5EF4-FFF2-40B4-BE49-F238E27FC236}">
                <a16:creationId xmlns:a16="http://schemas.microsoft.com/office/drawing/2014/main" id="{38DB3A8A-492B-4B59-AE24-4CA2BD29D42C}"/>
              </a:ext>
            </a:extLst>
          </p:cNvPr>
          <p:cNvSpPr>
            <a:spLocks noGrp="1"/>
          </p:cNvSpPr>
          <p:nvPr/>
        </p:nvSpPr>
        <p:spPr>
          <a:xfrm>
            <a:off x="685800" y="3143250"/>
            <a:ext cx="5905500" cy="419100"/>
          </a:xfrm>
          <a:prstGeom prst="rect">
            <a:avLst/>
          </a:prstGeom>
          <a:noFill/>
          <a:ln w="0">
            <a:noFill/>
            <a:prstDash val="solid"/>
          </a:ln>
        </p:spPr>
        <p:txBody>
          <a:bodyPr anchor="t"/>
          <a:lstStyle/>
          <a:p>
            <a:pPr algn="l">
              <a:defRPr sz="2175" b="1" i="0">
                <a:solidFill>
                  <a:srgbClr val="DDEFEA"/>
                </a:solidFill>
              </a:defRPr>
            </a:pPr>
            <a:r>
              <a:rPr sz="2175" b="1" i="0">
                <a:solidFill>
                  <a:srgbClr val="DDEFEA"/>
                </a:solidFill>
              </a:rPr>
              <a:t>Questions &amp; discussion</a:t>
            </a:r>
          </a:p>
        </p:txBody>
      </p:sp>
      <p:sp>
        <p:nvSpPr>
          <p:cNvPr id="7" name="Rectangle 6">
            <a:extLst>
              <a:ext uri="{FF2B5EF4-FFF2-40B4-BE49-F238E27FC236}">
                <a16:creationId xmlns:a16="http://schemas.microsoft.com/office/drawing/2014/main" id="{052698AD-3341-4A88-9091-63579C939F3D}"/>
              </a:ext>
            </a:extLst>
          </p:cNvPr>
          <p:cNvSpPr>
            <a:spLocks noGrp="1"/>
          </p:cNvSpPr>
          <p:nvPr/>
        </p:nvSpPr>
        <p:spPr>
          <a:xfrm>
            <a:off x="685800" y="3924300"/>
            <a:ext cx="6477000" cy="838200"/>
          </a:xfrm>
          <a:prstGeom prst="rect">
            <a:avLst/>
          </a:prstGeom>
          <a:noFill/>
          <a:ln w="0">
            <a:noFill/>
            <a:prstDash val="solid"/>
          </a:ln>
        </p:spPr>
        <p:txBody>
          <a:bodyPr anchor="t"/>
          <a:lstStyle/>
          <a:p>
            <a:pPr algn="l">
              <a:defRPr sz="1650" b="0" i="0">
                <a:solidFill>
                  <a:srgbClr val="FFFFFF"/>
                </a:solidFill>
              </a:defRPr>
            </a:pPr>
            <a:r>
              <a:rPr sz="1650" b="0" i="0">
                <a:solidFill>
                  <a:srgbClr val="FFFFFF"/>
                </a:solidFill>
              </a:rPr>
              <a:t>AusHabitat turns annual AI-derived change signals into evidence people can inspect, question and explore.</a:t>
            </a:r>
          </a:p>
        </p:txBody>
      </p:sp>
      <p:sp>
        <p:nvSpPr>
          <p:cNvPr id="9" name="Rectangle 8">
            <a:extLst>
              <a:ext uri="{FF2B5EF4-FFF2-40B4-BE49-F238E27FC236}">
                <a16:creationId xmlns:a16="http://schemas.microsoft.com/office/drawing/2014/main" id="{59C92340-0C4B-4FAB-8429-C7AAB949429B}"/>
              </a:ext>
            </a:extLst>
          </p:cNvPr>
          <p:cNvSpPr>
            <a:spLocks noGrp="1"/>
          </p:cNvSpPr>
          <p:nvPr/>
        </p:nvSpPr>
        <p:spPr>
          <a:xfrm>
            <a:off x="685800" y="5772150"/>
            <a:ext cx="4000500" cy="247650"/>
          </a:xfrm>
          <a:prstGeom prst="rect">
            <a:avLst/>
          </a:prstGeom>
          <a:noFill/>
          <a:ln w="0">
            <a:noFill/>
            <a:prstDash val="solid"/>
          </a:ln>
        </p:spPr>
        <p:txBody>
          <a:bodyPr anchor="t"/>
          <a:lstStyle/>
          <a:p>
            <a:pPr algn="l">
              <a:defRPr sz="1125" b="0" i="0">
                <a:solidFill>
                  <a:srgbClr val="DDEFEA"/>
                </a:solidFill>
              </a:defRPr>
            </a:pPr>
            <a:r>
              <a:rPr sz="1125" b="0" i="0" dirty="0" err="1">
                <a:solidFill>
                  <a:srgbClr val="DDEFEA"/>
                </a:solidFill>
              </a:rPr>
              <a:t>AusHabitat</a:t>
            </a:r>
            <a:r>
              <a:rPr sz="1125" b="0" i="0" dirty="0">
                <a:solidFill>
                  <a:srgbClr val="DDEFEA"/>
                </a:solidFill>
              </a:rPr>
              <a:t> · Bass Coast prototype</a:t>
            </a:r>
          </a:p>
        </p:txBody>
      </p:sp>
      <p:sp>
        <p:nvSpPr>
          <p:cNvPr id="10" name="Rounded Rectangle 9">
            <a:extLst>
              <a:ext uri="{FF2B5EF4-FFF2-40B4-BE49-F238E27FC236}">
                <a16:creationId xmlns:a16="http://schemas.microsoft.com/office/drawing/2014/main" id="{2298287E-5712-455D-BF22-197CA32C8652}"/>
              </a:ext>
            </a:extLst>
          </p:cNvPr>
          <p:cNvSpPr>
            <a:spLocks noGrp="1"/>
          </p:cNvSpPr>
          <p:nvPr/>
        </p:nvSpPr>
        <p:spPr>
          <a:xfrm>
            <a:off x="8267700" y="1314450"/>
            <a:ext cx="2857500" cy="3943350"/>
          </a:xfrm>
          <a:prstGeom prst="roundRect">
            <a:avLst>
              <a:gd name="adj" fmla="val 4000"/>
            </a:avLst>
          </a:prstGeom>
          <a:solidFill>
            <a:srgbClr val="FFFFFF"/>
          </a:solidFill>
          <a:ln w="14288">
            <a:solidFill>
              <a:srgbClr val="DDEFEA"/>
            </a:solidFill>
            <a:prstDash val="solid"/>
          </a:ln>
        </p:spPr>
        <p:txBody>
          <a:bodyPr/>
          <a:lstStyle/>
          <a:p>
            <a:endParaRPr lang="en-US"/>
          </a:p>
        </p:txBody>
      </p:sp>
      <p:sp>
        <p:nvSpPr>
          <p:cNvPr id="11" name="Rectangle 10">
            <a:extLst>
              <a:ext uri="{FF2B5EF4-FFF2-40B4-BE49-F238E27FC236}">
                <a16:creationId xmlns:a16="http://schemas.microsoft.com/office/drawing/2014/main" id="{13DCA6F1-65DD-46AF-8E16-4161E78390E7}"/>
              </a:ext>
            </a:extLst>
          </p:cNvPr>
          <p:cNvSpPr>
            <a:spLocks noGrp="1"/>
          </p:cNvSpPr>
          <p:nvPr/>
        </p:nvSpPr>
        <p:spPr>
          <a:xfrm>
            <a:off x="8553450" y="1638300"/>
            <a:ext cx="2286000" cy="247650"/>
          </a:xfrm>
          <a:prstGeom prst="rect">
            <a:avLst/>
          </a:prstGeom>
          <a:noFill/>
          <a:ln w="0">
            <a:noFill/>
            <a:prstDash val="solid"/>
          </a:ln>
        </p:spPr>
        <p:txBody>
          <a:bodyPr anchor="t"/>
          <a:lstStyle/>
          <a:p>
            <a:pPr algn="ctr">
              <a:defRPr sz="1125" b="1" i="0">
                <a:solidFill>
                  <a:srgbClr val="147D70"/>
                </a:solidFill>
              </a:defRPr>
            </a:pPr>
            <a:r>
              <a:rPr sz="1125" b="1" i="0">
                <a:solidFill>
                  <a:srgbClr val="147D70"/>
                </a:solidFill>
              </a:rPr>
              <a:t>EXPLORE THE LIVE MAP</a:t>
            </a:r>
          </a:p>
        </p:txBody>
      </p:sp>
      <p:pic>
        <p:nvPicPr>
          <p:cNvPr id="27" name="Picture 26"/>
          <p:cNvPicPr>
            <a:picLocks noChangeAspect="1"/>
          </p:cNvPicPr>
          <p:nvPr/>
        </p:nvPicPr>
        <p:blipFill>
          <a:blip r:embed="rId4"/>
          <a:stretch/>
        </p:blipFill>
        <p:spPr>
          <a:xfrm>
            <a:off x="8686800" y="2076450"/>
            <a:ext cx="2019300" cy="2019300"/>
          </a:xfrm>
          <a:prstGeom prst="rect">
            <a:avLst/>
          </a:prstGeom>
        </p:spPr>
      </p:pic>
      <p:sp>
        <p:nvSpPr>
          <p:cNvPr id="13" name="Rectangle 12">
            <a:extLst>
              <a:ext uri="{FF2B5EF4-FFF2-40B4-BE49-F238E27FC236}">
                <a16:creationId xmlns:a16="http://schemas.microsoft.com/office/drawing/2014/main" id="{0EDB61BA-D21F-42AA-8AD7-DCFCCC063DFE}"/>
              </a:ext>
            </a:extLst>
          </p:cNvPr>
          <p:cNvSpPr>
            <a:spLocks noGrp="1"/>
          </p:cNvSpPr>
          <p:nvPr/>
        </p:nvSpPr>
        <p:spPr>
          <a:xfrm>
            <a:off x="8572500" y="4343400"/>
            <a:ext cx="2247900" cy="266700"/>
          </a:xfrm>
          <a:prstGeom prst="rect">
            <a:avLst/>
          </a:prstGeom>
          <a:noFill/>
          <a:ln w="0">
            <a:noFill/>
            <a:prstDash val="solid"/>
          </a:ln>
        </p:spPr>
        <p:txBody>
          <a:bodyPr anchor="t"/>
          <a:lstStyle/>
          <a:p>
            <a:pPr algn="ctr">
              <a:defRPr sz="1275" b="1" i="0">
                <a:solidFill>
                  <a:srgbClr val="08065C"/>
                </a:solidFill>
              </a:defRPr>
            </a:pPr>
            <a:r>
              <a:rPr sz="1275" b="1" i="0">
                <a:solidFill>
                  <a:srgbClr val="08065C"/>
                </a:solidFill>
              </a:rPr>
              <a:t>Scan to open AusHabitat</a:t>
            </a:r>
          </a:p>
        </p:txBody>
      </p:sp>
      <p:sp>
        <p:nvSpPr>
          <p:cNvPr id="14" name="Rectangle 13">
            <a:extLst>
              <a:ext uri="{FF2B5EF4-FFF2-40B4-BE49-F238E27FC236}">
                <a16:creationId xmlns:a16="http://schemas.microsoft.com/office/drawing/2014/main" id="{DDA60518-94CD-4E27-AEB0-D8156DCAE20A}"/>
              </a:ext>
            </a:extLst>
          </p:cNvPr>
          <p:cNvSpPr>
            <a:spLocks noGrp="1"/>
          </p:cNvSpPr>
          <p:nvPr/>
        </p:nvSpPr>
        <p:spPr>
          <a:xfrm>
            <a:off x="8477250" y="4667250"/>
            <a:ext cx="2438400" cy="438150"/>
          </a:xfrm>
          <a:prstGeom prst="rect">
            <a:avLst/>
          </a:prstGeom>
          <a:noFill/>
          <a:ln w="0">
            <a:noFill/>
            <a:prstDash val="solid"/>
          </a:ln>
        </p:spPr>
        <p:txBody>
          <a:bodyPr anchor="t"/>
          <a:lstStyle/>
          <a:p>
            <a:pPr algn="ctr">
              <a:defRPr sz="825" b="0" i="0">
                <a:solidFill>
                  <a:srgbClr val="234E8A"/>
                </a:solidFill>
              </a:defRPr>
            </a:pPr>
            <a:r>
              <a:rPr sz="825" b="0" i="0">
                <a:solidFill>
                  <a:srgbClr val="234E8A"/>
                </a:solidFill>
              </a:rPr>
              <a:t>thieulong.github.io/</a:t>
            </a:r>
          </a:p>
          <a:p>
            <a:pPr algn="ctr">
              <a:defRPr sz="825" b="0" i="0">
                <a:solidFill>
                  <a:srgbClr val="234E8A"/>
                </a:solidFill>
              </a:defRPr>
            </a:pPr>
            <a:r>
              <a:rPr sz="825" b="0" i="0">
                <a:solidFill>
                  <a:srgbClr val="234E8A"/>
                </a:solidFill>
              </a:rPr>
              <a:t>SatelliteEmbeddingV1-SpatialAnalysis/</a:t>
            </a:r>
          </a:p>
        </p:txBody>
      </p:sp>
      <p:sp>
        <p:nvSpPr>
          <p:cNvPr id="15" name="Rectangle 14">
            <a:extLst>
              <a:ext uri="{FF2B5EF4-FFF2-40B4-BE49-F238E27FC236}">
                <a16:creationId xmlns:a16="http://schemas.microsoft.com/office/drawing/2014/main" id="{EC84C484-5484-4944-AA86-DD9381916118}"/>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DDEFEA"/>
                </a:solidFill>
              </a:defRPr>
            </a:pPr>
            <a:r>
              <a:rPr sz="900" b="1" i="0">
                <a:solidFill>
                  <a:srgbClr val="DDEFEA"/>
                </a:solidFill>
              </a:rPr>
              <a:t>29</a:t>
            </a:r>
          </a:p>
        </p:txBody>
      </p:sp>
    </p:spTree>
    <p:extLst>
      <p:ext uri="{BB962C8B-B14F-4D97-AF65-F5344CB8AC3E}">
        <p14:creationId xmlns:p14="http://schemas.microsoft.com/office/powerpoint/2010/main" val="661920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498D265-72FB-453B-AD67-98C359DCE4A1}"/>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REFERENCE</a:t>
            </a:r>
          </a:p>
        </p:txBody>
      </p:sp>
      <p:sp>
        <p:nvSpPr>
          <p:cNvPr id="2" name="slide-30-title">
            <a:extLst>
              <a:ext uri="{FF2B5EF4-FFF2-40B4-BE49-F238E27FC236}">
                <a16:creationId xmlns:a16="http://schemas.microsoft.com/office/drawing/2014/main" id="{708B7A8B-BFF6-48E8-95DB-BF15C976552C}"/>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Appendix: metric glossary</a:t>
            </a:r>
          </a:p>
        </p:txBody>
      </p:sp>
      <p:sp>
        <p:nvSpPr>
          <p:cNvPr id="3" name="Straight Connector 2">
            <a:extLst>
              <a:ext uri="{FF2B5EF4-FFF2-40B4-BE49-F238E27FC236}">
                <a16:creationId xmlns:a16="http://schemas.microsoft.com/office/drawing/2014/main" id="{F874C929-5601-487B-99BE-ECFC72CF4929}"/>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FCA7C8C5-0CEF-4D14-A07A-5A2136A69436}"/>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30</a:t>
            </a:r>
          </a:p>
        </p:txBody>
      </p:sp>
      <p:sp>
        <p:nvSpPr>
          <p:cNvPr id="5" name="Rectangle 4">
            <a:extLst>
              <a:ext uri="{FF2B5EF4-FFF2-40B4-BE49-F238E27FC236}">
                <a16:creationId xmlns:a16="http://schemas.microsoft.com/office/drawing/2014/main" id="{683A1765-0EB2-46EE-82A4-CEB0C01ECBFA}"/>
              </a:ext>
            </a:extLst>
          </p:cNvPr>
          <p:cNvSpPr>
            <a:spLocks noGrp="1"/>
          </p:cNvSpPr>
          <p:nvPr/>
        </p:nvSpPr>
        <p:spPr>
          <a:xfrm>
            <a:off x="666750" y="1504950"/>
            <a:ext cx="2095500" cy="323850"/>
          </a:xfrm>
          <a:prstGeom prst="rect">
            <a:avLst/>
          </a:prstGeom>
          <a:noFill/>
          <a:ln w="0">
            <a:noFill/>
            <a:prstDash val="solid"/>
          </a:ln>
        </p:spPr>
        <p:txBody>
          <a:bodyPr anchor="t"/>
          <a:lstStyle/>
          <a:p>
            <a:pPr algn="l">
              <a:defRPr sz="1500" b="1" i="0">
                <a:solidFill>
                  <a:srgbClr val="D48728"/>
                </a:solidFill>
              </a:defRPr>
            </a:pPr>
            <a:r>
              <a:rPr sz="1500" b="1" i="0">
                <a:solidFill>
                  <a:srgbClr val="D48728"/>
                </a:solidFill>
              </a:rPr>
              <a:t>Endpoint change</a:t>
            </a:r>
          </a:p>
        </p:txBody>
      </p:sp>
      <p:sp>
        <p:nvSpPr>
          <p:cNvPr id="6" name="Rectangle 5">
            <a:extLst>
              <a:ext uri="{FF2B5EF4-FFF2-40B4-BE49-F238E27FC236}">
                <a16:creationId xmlns:a16="http://schemas.microsoft.com/office/drawing/2014/main" id="{63EB98B9-A171-4455-9455-DC345150833A}"/>
              </a:ext>
            </a:extLst>
          </p:cNvPr>
          <p:cNvSpPr>
            <a:spLocks noGrp="1"/>
          </p:cNvSpPr>
          <p:nvPr/>
        </p:nvSpPr>
        <p:spPr>
          <a:xfrm>
            <a:off x="2857500" y="1504950"/>
            <a:ext cx="2952750" cy="59055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Direct embedding distance between the first and last year.</a:t>
            </a:r>
          </a:p>
        </p:txBody>
      </p:sp>
      <p:sp>
        <p:nvSpPr>
          <p:cNvPr id="7" name="Straight Connector 6">
            <a:extLst>
              <a:ext uri="{FF2B5EF4-FFF2-40B4-BE49-F238E27FC236}">
                <a16:creationId xmlns:a16="http://schemas.microsoft.com/office/drawing/2014/main" id="{69653C24-B0A6-4072-A80C-CE637299C72F}"/>
              </a:ext>
            </a:extLst>
          </p:cNvPr>
          <p:cNvSpPr>
            <a:spLocks noGrp="1"/>
          </p:cNvSpPr>
          <p:nvPr/>
        </p:nvSpPr>
        <p:spPr>
          <a:xfrm>
            <a:off x="666750" y="2247900"/>
            <a:ext cx="5143500" cy="0"/>
          </a:xfrm>
          <a:prstGeom prst="line">
            <a:avLst/>
          </a:prstGeom>
          <a:noFill/>
          <a:ln w="9525">
            <a:solidFill>
              <a:srgbClr val="D4DDE2"/>
            </a:solidFill>
            <a:prstDash val="solid"/>
          </a:ln>
        </p:spPr>
        <p:txBody>
          <a:bodyPr/>
          <a:lstStyle/>
          <a:p>
            <a:endParaRPr lang="en-US"/>
          </a:p>
        </p:txBody>
      </p:sp>
      <p:sp>
        <p:nvSpPr>
          <p:cNvPr id="8" name="Rectangle 7">
            <a:extLst>
              <a:ext uri="{FF2B5EF4-FFF2-40B4-BE49-F238E27FC236}">
                <a16:creationId xmlns:a16="http://schemas.microsoft.com/office/drawing/2014/main" id="{061CD0A8-178A-449C-84C8-47F2058FC0B1}"/>
              </a:ext>
            </a:extLst>
          </p:cNvPr>
          <p:cNvSpPr>
            <a:spLocks noGrp="1"/>
          </p:cNvSpPr>
          <p:nvPr/>
        </p:nvSpPr>
        <p:spPr>
          <a:xfrm>
            <a:off x="666750" y="2628900"/>
            <a:ext cx="2095500" cy="323850"/>
          </a:xfrm>
          <a:prstGeom prst="rect">
            <a:avLst/>
          </a:prstGeom>
          <a:noFill/>
          <a:ln w="0">
            <a:noFill/>
            <a:prstDash val="solid"/>
          </a:ln>
        </p:spPr>
        <p:txBody>
          <a:bodyPr anchor="t"/>
          <a:lstStyle/>
          <a:p>
            <a:pPr algn="l">
              <a:defRPr sz="1500" b="1" i="0">
                <a:solidFill>
                  <a:srgbClr val="D48728"/>
                </a:solidFill>
              </a:defRPr>
            </a:pPr>
            <a:r>
              <a:rPr sz="1500" b="1" i="0">
                <a:solidFill>
                  <a:srgbClr val="D48728"/>
                </a:solidFill>
              </a:rPr>
              <a:t>Annual change</a:t>
            </a:r>
          </a:p>
        </p:txBody>
      </p:sp>
      <p:sp>
        <p:nvSpPr>
          <p:cNvPr id="9" name="Rectangle 8">
            <a:extLst>
              <a:ext uri="{FF2B5EF4-FFF2-40B4-BE49-F238E27FC236}">
                <a16:creationId xmlns:a16="http://schemas.microsoft.com/office/drawing/2014/main" id="{775A3AF4-E496-40D0-B6EC-B4CA2AC8559D}"/>
              </a:ext>
            </a:extLst>
          </p:cNvPr>
          <p:cNvSpPr>
            <a:spLocks noGrp="1"/>
          </p:cNvSpPr>
          <p:nvPr/>
        </p:nvSpPr>
        <p:spPr>
          <a:xfrm>
            <a:off x="2857500" y="2628900"/>
            <a:ext cx="2952750" cy="59055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Embedding distance between consecutive years.</a:t>
            </a:r>
          </a:p>
        </p:txBody>
      </p:sp>
      <p:sp>
        <p:nvSpPr>
          <p:cNvPr id="10" name="Straight Connector 9">
            <a:extLst>
              <a:ext uri="{FF2B5EF4-FFF2-40B4-BE49-F238E27FC236}">
                <a16:creationId xmlns:a16="http://schemas.microsoft.com/office/drawing/2014/main" id="{0AF76CF1-4AFA-4646-9097-4C4CF3C60E6A}"/>
              </a:ext>
            </a:extLst>
          </p:cNvPr>
          <p:cNvSpPr>
            <a:spLocks noGrp="1"/>
          </p:cNvSpPr>
          <p:nvPr/>
        </p:nvSpPr>
        <p:spPr>
          <a:xfrm>
            <a:off x="666750" y="3371850"/>
            <a:ext cx="5143500" cy="0"/>
          </a:xfrm>
          <a:prstGeom prst="line">
            <a:avLst/>
          </a:prstGeom>
          <a:noFill/>
          <a:ln w="9525">
            <a:solidFill>
              <a:srgbClr val="D4DDE2"/>
            </a:solidFill>
            <a:prstDash val="solid"/>
          </a:ln>
        </p:spPr>
        <p:txBody>
          <a:bodyPr/>
          <a:lstStyle/>
          <a:p>
            <a:endParaRPr lang="en-US"/>
          </a:p>
        </p:txBody>
      </p:sp>
      <p:sp>
        <p:nvSpPr>
          <p:cNvPr id="11" name="Rectangle 10">
            <a:extLst>
              <a:ext uri="{FF2B5EF4-FFF2-40B4-BE49-F238E27FC236}">
                <a16:creationId xmlns:a16="http://schemas.microsoft.com/office/drawing/2014/main" id="{DC0E61F5-579C-4CF5-A4BC-BE90A9CE8D8F}"/>
              </a:ext>
            </a:extLst>
          </p:cNvPr>
          <p:cNvSpPr>
            <a:spLocks noGrp="1"/>
          </p:cNvSpPr>
          <p:nvPr/>
        </p:nvSpPr>
        <p:spPr>
          <a:xfrm>
            <a:off x="666750" y="3752850"/>
            <a:ext cx="2095500" cy="323850"/>
          </a:xfrm>
          <a:prstGeom prst="rect">
            <a:avLst/>
          </a:prstGeom>
          <a:noFill/>
          <a:ln w="0">
            <a:noFill/>
            <a:prstDash val="solid"/>
          </a:ln>
        </p:spPr>
        <p:txBody>
          <a:bodyPr anchor="t"/>
          <a:lstStyle/>
          <a:p>
            <a:pPr algn="l">
              <a:defRPr sz="1500" b="1" i="0">
                <a:solidFill>
                  <a:srgbClr val="D48728"/>
                </a:solidFill>
              </a:defRPr>
            </a:pPr>
            <a:r>
              <a:rPr sz="1500" b="1" i="0">
                <a:solidFill>
                  <a:srgbClr val="D48728"/>
                </a:solidFill>
              </a:rPr>
              <a:t>Cumulative change</a:t>
            </a:r>
          </a:p>
        </p:txBody>
      </p:sp>
      <p:sp>
        <p:nvSpPr>
          <p:cNvPr id="12" name="Rectangle 11">
            <a:extLst>
              <a:ext uri="{FF2B5EF4-FFF2-40B4-BE49-F238E27FC236}">
                <a16:creationId xmlns:a16="http://schemas.microsoft.com/office/drawing/2014/main" id="{9D3AD0F4-5C4B-43F4-88F9-37F6A9F68CE0}"/>
              </a:ext>
            </a:extLst>
          </p:cNvPr>
          <p:cNvSpPr>
            <a:spLocks noGrp="1"/>
          </p:cNvSpPr>
          <p:nvPr/>
        </p:nvSpPr>
        <p:spPr>
          <a:xfrm>
            <a:off x="2857500" y="3752850"/>
            <a:ext cx="2952750" cy="59055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Sum of all seven annual distances.</a:t>
            </a:r>
          </a:p>
        </p:txBody>
      </p:sp>
      <p:sp>
        <p:nvSpPr>
          <p:cNvPr id="13" name="Straight Connector 12">
            <a:extLst>
              <a:ext uri="{FF2B5EF4-FFF2-40B4-BE49-F238E27FC236}">
                <a16:creationId xmlns:a16="http://schemas.microsoft.com/office/drawing/2014/main" id="{8CDE726E-1716-464A-8687-DC4F4FA3A99D}"/>
              </a:ext>
            </a:extLst>
          </p:cNvPr>
          <p:cNvSpPr>
            <a:spLocks noGrp="1"/>
          </p:cNvSpPr>
          <p:nvPr/>
        </p:nvSpPr>
        <p:spPr>
          <a:xfrm>
            <a:off x="666750" y="4495800"/>
            <a:ext cx="5143500" cy="0"/>
          </a:xfrm>
          <a:prstGeom prst="line">
            <a:avLst/>
          </a:prstGeom>
          <a:noFill/>
          <a:ln w="9525">
            <a:solidFill>
              <a:srgbClr val="D4DDE2"/>
            </a:solidFill>
            <a:prstDash val="solid"/>
          </a:ln>
        </p:spPr>
        <p:txBody>
          <a:bodyPr/>
          <a:lstStyle/>
          <a:p>
            <a:endParaRPr lang="en-US"/>
          </a:p>
        </p:txBody>
      </p:sp>
      <p:sp>
        <p:nvSpPr>
          <p:cNvPr id="14" name="Rectangle 13">
            <a:extLst>
              <a:ext uri="{FF2B5EF4-FFF2-40B4-BE49-F238E27FC236}">
                <a16:creationId xmlns:a16="http://schemas.microsoft.com/office/drawing/2014/main" id="{07D99394-4862-4616-9576-F51047486B6B}"/>
              </a:ext>
            </a:extLst>
          </p:cNvPr>
          <p:cNvSpPr>
            <a:spLocks noGrp="1"/>
          </p:cNvSpPr>
          <p:nvPr/>
        </p:nvSpPr>
        <p:spPr>
          <a:xfrm>
            <a:off x="666750" y="4876800"/>
            <a:ext cx="2095500" cy="323850"/>
          </a:xfrm>
          <a:prstGeom prst="rect">
            <a:avLst/>
          </a:prstGeom>
          <a:noFill/>
          <a:ln w="0">
            <a:noFill/>
            <a:prstDash val="solid"/>
          </a:ln>
        </p:spPr>
        <p:txBody>
          <a:bodyPr anchor="t"/>
          <a:lstStyle/>
          <a:p>
            <a:pPr algn="l">
              <a:defRPr sz="1500" b="1" i="0">
                <a:solidFill>
                  <a:srgbClr val="D48728"/>
                </a:solidFill>
              </a:defRPr>
            </a:pPr>
            <a:r>
              <a:rPr sz="1500" b="1" i="0">
                <a:solidFill>
                  <a:srgbClr val="D48728"/>
                </a:solidFill>
              </a:rPr>
              <a:t>Persistence</a:t>
            </a:r>
          </a:p>
        </p:txBody>
      </p:sp>
      <p:sp>
        <p:nvSpPr>
          <p:cNvPr id="15" name="Rectangle 14">
            <a:extLst>
              <a:ext uri="{FF2B5EF4-FFF2-40B4-BE49-F238E27FC236}">
                <a16:creationId xmlns:a16="http://schemas.microsoft.com/office/drawing/2014/main" id="{9647EC8C-50A0-4B64-8520-D17EEE75D39F}"/>
              </a:ext>
            </a:extLst>
          </p:cNvPr>
          <p:cNvSpPr>
            <a:spLocks noGrp="1"/>
          </p:cNvSpPr>
          <p:nvPr/>
        </p:nvSpPr>
        <p:spPr>
          <a:xfrm>
            <a:off x="2857500" y="4876800"/>
            <a:ext cx="2952750" cy="59055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Number of annual intervals above the strong-change threshold.</a:t>
            </a:r>
          </a:p>
        </p:txBody>
      </p:sp>
      <p:sp>
        <p:nvSpPr>
          <p:cNvPr id="16" name="Straight Connector 15">
            <a:extLst>
              <a:ext uri="{FF2B5EF4-FFF2-40B4-BE49-F238E27FC236}">
                <a16:creationId xmlns:a16="http://schemas.microsoft.com/office/drawing/2014/main" id="{69336C3A-5391-4DBC-B888-85FCD771BA13}"/>
              </a:ext>
            </a:extLst>
          </p:cNvPr>
          <p:cNvSpPr>
            <a:spLocks noGrp="1"/>
          </p:cNvSpPr>
          <p:nvPr/>
        </p:nvSpPr>
        <p:spPr>
          <a:xfrm>
            <a:off x="666750" y="5619750"/>
            <a:ext cx="5143500" cy="0"/>
          </a:xfrm>
          <a:prstGeom prst="line">
            <a:avLst/>
          </a:prstGeom>
          <a:noFill/>
          <a:ln w="9525">
            <a:solidFill>
              <a:srgbClr val="D4DDE2"/>
            </a:solidFill>
            <a:prstDash val="solid"/>
          </a:ln>
        </p:spPr>
        <p:txBody>
          <a:bodyPr/>
          <a:lstStyle/>
          <a:p>
            <a:endParaRPr lang="en-US"/>
          </a:p>
        </p:txBody>
      </p:sp>
      <p:sp>
        <p:nvSpPr>
          <p:cNvPr id="17" name="Rectangle 16">
            <a:extLst>
              <a:ext uri="{FF2B5EF4-FFF2-40B4-BE49-F238E27FC236}">
                <a16:creationId xmlns:a16="http://schemas.microsoft.com/office/drawing/2014/main" id="{13C2053D-F9F5-484E-ADE8-03A1CD887E8D}"/>
              </a:ext>
            </a:extLst>
          </p:cNvPr>
          <p:cNvSpPr>
            <a:spLocks noGrp="1"/>
          </p:cNvSpPr>
          <p:nvPr/>
        </p:nvSpPr>
        <p:spPr>
          <a:xfrm>
            <a:off x="6286500" y="1504950"/>
            <a:ext cx="2095500" cy="323850"/>
          </a:xfrm>
          <a:prstGeom prst="rect">
            <a:avLst/>
          </a:prstGeom>
          <a:noFill/>
          <a:ln w="0">
            <a:noFill/>
            <a:prstDash val="solid"/>
          </a:ln>
        </p:spPr>
        <p:txBody>
          <a:bodyPr anchor="t"/>
          <a:lstStyle/>
          <a:p>
            <a:pPr algn="l">
              <a:defRPr sz="1500" b="1" i="0">
                <a:solidFill>
                  <a:srgbClr val="147D70"/>
                </a:solidFill>
              </a:defRPr>
            </a:pPr>
            <a:r>
              <a:rPr sz="1500" b="1" i="0">
                <a:solidFill>
                  <a:srgbClr val="147D70"/>
                </a:solidFill>
              </a:rPr>
              <a:t>Variance</a:t>
            </a:r>
          </a:p>
        </p:txBody>
      </p:sp>
      <p:sp>
        <p:nvSpPr>
          <p:cNvPr id="18" name="Rectangle 17">
            <a:extLst>
              <a:ext uri="{FF2B5EF4-FFF2-40B4-BE49-F238E27FC236}">
                <a16:creationId xmlns:a16="http://schemas.microsoft.com/office/drawing/2014/main" id="{6FF2ED40-C9E0-446D-9DC5-51290E6E12CC}"/>
              </a:ext>
            </a:extLst>
          </p:cNvPr>
          <p:cNvSpPr>
            <a:spLocks noGrp="1"/>
          </p:cNvSpPr>
          <p:nvPr/>
        </p:nvSpPr>
        <p:spPr>
          <a:xfrm>
            <a:off x="8477250" y="1504950"/>
            <a:ext cx="2952750" cy="59055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How uneven the seven annual change values are.</a:t>
            </a:r>
          </a:p>
        </p:txBody>
      </p:sp>
      <p:sp>
        <p:nvSpPr>
          <p:cNvPr id="19" name="Straight Connector 18">
            <a:extLst>
              <a:ext uri="{FF2B5EF4-FFF2-40B4-BE49-F238E27FC236}">
                <a16:creationId xmlns:a16="http://schemas.microsoft.com/office/drawing/2014/main" id="{5FA82846-F552-4DBC-B59E-BF602EA4D449}"/>
              </a:ext>
            </a:extLst>
          </p:cNvPr>
          <p:cNvSpPr>
            <a:spLocks noGrp="1"/>
          </p:cNvSpPr>
          <p:nvPr/>
        </p:nvSpPr>
        <p:spPr>
          <a:xfrm>
            <a:off x="6286500" y="2247900"/>
            <a:ext cx="5143500" cy="0"/>
          </a:xfrm>
          <a:prstGeom prst="line">
            <a:avLst/>
          </a:prstGeom>
          <a:noFill/>
          <a:ln w="9525">
            <a:solidFill>
              <a:srgbClr val="D4DDE2"/>
            </a:solidFill>
            <a:prstDash val="solid"/>
          </a:ln>
        </p:spPr>
        <p:txBody>
          <a:bodyPr/>
          <a:lstStyle/>
          <a:p>
            <a:endParaRPr lang="en-US"/>
          </a:p>
        </p:txBody>
      </p:sp>
      <p:sp>
        <p:nvSpPr>
          <p:cNvPr id="20" name="Rectangle 19">
            <a:extLst>
              <a:ext uri="{FF2B5EF4-FFF2-40B4-BE49-F238E27FC236}">
                <a16:creationId xmlns:a16="http://schemas.microsoft.com/office/drawing/2014/main" id="{45F88958-83CD-4858-9A5F-01B9B1623A92}"/>
              </a:ext>
            </a:extLst>
          </p:cNvPr>
          <p:cNvSpPr>
            <a:spLocks noGrp="1"/>
          </p:cNvSpPr>
          <p:nvPr/>
        </p:nvSpPr>
        <p:spPr>
          <a:xfrm>
            <a:off x="6286500" y="2628900"/>
            <a:ext cx="2095500" cy="323850"/>
          </a:xfrm>
          <a:prstGeom prst="rect">
            <a:avLst/>
          </a:prstGeom>
          <a:noFill/>
          <a:ln w="0">
            <a:noFill/>
            <a:prstDash val="solid"/>
          </a:ln>
        </p:spPr>
        <p:txBody>
          <a:bodyPr anchor="t"/>
          <a:lstStyle/>
          <a:p>
            <a:pPr algn="l">
              <a:defRPr sz="1500" b="1" i="0">
                <a:solidFill>
                  <a:srgbClr val="147D70"/>
                </a:solidFill>
              </a:defRPr>
            </a:pPr>
            <a:r>
              <a:rPr sz="1500" b="1" i="0">
                <a:solidFill>
                  <a:srgbClr val="147D70"/>
                </a:solidFill>
              </a:rPr>
              <a:t>Slope</a:t>
            </a:r>
          </a:p>
        </p:txBody>
      </p:sp>
      <p:sp>
        <p:nvSpPr>
          <p:cNvPr id="21" name="Rectangle 20">
            <a:extLst>
              <a:ext uri="{FF2B5EF4-FFF2-40B4-BE49-F238E27FC236}">
                <a16:creationId xmlns:a16="http://schemas.microsoft.com/office/drawing/2014/main" id="{77527FE9-FE23-4C52-AF1C-D6C23309AEC4}"/>
              </a:ext>
            </a:extLst>
          </p:cNvPr>
          <p:cNvSpPr>
            <a:spLocks noGrp="1"/>
          </p:cNvSpPr>
          <p:nvPr/>
        </p:nvSpPr>
        <p:spPr>
          <a:xfrm>
            <a:off x="8477250" y="2628900"/>
            <a:ext cx="2952750" cy="59055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Linear trend in annual change magnitude through time.</a:t>
            </a:r>
          </a:p>
        </p:txBody>
      </p:sp>
      <p:sp>
        <p:nvSpPr>
          <p:cNvPr id="22" name="Straight Connector 21">
            <a:extLst>
              <a:ext uri="{FF2B5EF4-FFF2-40B4-BE49-F238E27FC236}">
                <a16:creationId xmlns:a16="http://schemas.microsoft.com/office/drawing/2014/main" id="{90C6C2ED-CBD5-4BD4-A078-2433C5507D47}"/>
              </a:ext>
            </a:extLst>
          </p:cNvPr>
          <p:cNvSpPr>
            <a:spLocks noGrp="1"/>
          </p:cNvSpPr>
          <p:nvPr/>
        </p:nvSpPr>
        <p:spPr>
          <a:xfrm>
            <a:off x="6286500" y="3371850"/>
            <a:ext cx="5143500" cy="0"/>
          </a:xfrm>
          <a:prstGeom prst="line">
            <a:avLst/>
          </a:prstGeom>
          <a:noFill/>
          <a:ln w="9525">
            <a:solidFill>
              <a:srgbClr val="D4DDE2"/>
            </a:solidFill>
            <a:prstDash val="solid"/>
          </a:ln>
        </p:spPr>
        <p:txBody>
          <a:bodyPr/>
          <a:lstStyle/>
          <a:p>
            <a:endParaRPr lang="en-US"/>
          </a:p>
        </p:txBody>
      </p:sp>
      <p:sp>
        <p:nvSpPr>
          <p:cNvPr id="23" name="Rectangle 22">
            <a:extLst>
              <a:ext uri="{FF2B5EF4-FFF2-40B4-BE49-F238E27FC236}">
                <a16:creationId xmlns:a16="http://schemas.microsoft.com/office/drawing/2014/main" id="{3B37A541-F9EB-43B2-808B-AC8743E8C9A1}"/>
              </a:ext>
            </a:extLst>
          </p:cNvPr>
          <p:cNvSpPr>
            <a:spLocks noGrp="1"/>
          </p:cNvSpPr>
          <p:nvPr/>
        </p:nvSpPr>
        <p:spPr>
          <a:xfrm>
            <a:off x="6286500" y="3752850"/>
            <a:ext cx="2095500" cy="323850"/>
          </a:xfrm>
          <a:prstGeom prst="rect">
            <a:avLst/>
          </a:prstGeom>
          <a:noFill/>
          <a:ln w="0">
            <a:noFill/>
            <a:prstDash val="solid"/>
          </a:ln>
        </p:spPr>
        <p:txBody>
          <a:bodyPr anchor="t"/>
          <a:lstStyle/>
          <a:p>
            <a:pPr algn="l">
              <a:defRPr sz="1500" b="1" i="0">
                <a:solidFill>
                  <a:srgbClr val="147D70"/>
                </a:solidFill>
              </a:defRPr>
            </a:pPr>
            <a:r>
              <a:rPr sz="1500" b="1" i="0">
                <a:solidFill>
                  <a:srgbClr val="147D70"/>
                </a:solidFill>
              </a:rPr>
              <a:t>First hotspot year</a:t>
            </a:r>
          </a:p>
        </p:txBody>
      </p:sp>
      <p:sp>
        <p:nvSpPr>
          <p:cNvPr id="24" name="Rectangle 23">
            <a:extLst>
              <a:ext uri="{FF2B5EF4-FFF2-40B4-BE49-F238E27FC236}">
                <a16:creationId xmlns:a16="http://schemas.microsoft.com/office/drawing/2014/main" id="{02B0FE25-3D1E-4870-A550-3EEC50E04251}"/>
              </a:ext>
            </a:extLst>
          </p:cNvPr>
          <p:cNvSpPr>
            <a:spLocks noGrp="1"/>
          </p:cNvSpPr>
          <p:nvPr/>
        </p:nvSpPr>
        <p:spPr>
          <a:xfrm>
            <a:off x="8477250" y="3752850"/>
            <a:ext cx="2952750" cy="59055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First interval ending above the annual threshold.</a:t>
            </a:r>
          </a:p>
        </p:txBody>
      </p:sp>
      <p:sp>
        <p:nvSpPr>
          <p:cNvPr id="25" name="Straight Connector 24">
            <a:extLst>
              <a:ext uri="{FF2B5EF4-FFF2-40B4-BE49-F238E27FC236}">
                <a16:creationId xmlns:a16="http://schemas.microsoft.com/office/drawing/2014/main" id="{781D79C0-3A6C-4770-932F-161E267553EB}"/>
              </a:ext>
            </a:extLst>
          </p:cNvPr>
          <p:cNvSpPr>
            <a:spLocks noGrp="1"/>
          </p:cNvSpPr>
          <p:nvPr/>
        </p:nvSpPr>
        <p:spPr>
          <a:xfrm>
            <a:off x="6286500" y="4495800"/>
            <a:ext cx="5143500" cy="0"/>
          </a:xfrm>
          <a:prstGeom prst="line">
            <a:avLst/>
          </a:prstGeom>
          <a:noFill/>
          <a:ln w="9525">
            <a:solidFill>
              <a:srgbClr val="D4DDE2"/>
            </a:solidFill>
            <a:prstDash val="solid"/>
          </a:ln>
        </p:spPr>
        <p:txBody>
          <a:bodyPr/>
          <a:lstStyle/>
          <a:p>
            <a:endParaRPr lang="en-US"/>
          </a:p>
        </p:txBody>
      </p:sp>
      <p:sp>
        <p:nvSpPr>
          <p:cNvPr id="26" name="Rectangle 25">
            <a:extLst>
              <a:ext uri="{FF2B5EF4-FFF2-40B4-BE49-F238E27FC236}">
                <a16:creationId xmlns:a16="http://schemas.microsoft.com/office/drawing/2014/main" id="{033F7781-BFC2-40D1-939B-F027DE87E133}"/>
              </a:ext>
            </a:extLst>
          </p:cNvPr>
          <p:cNvSpPr>
            <a:spLocks noGrp="1"/>
          </p:cNvSpPr>
          <p:nvPr/>
        </p:nvSpPr>
        <p:spPr>
          <a:xfrm>
            <a:off x="6286500" y="4876800"/>
            <a:ext cx="2095500" cy="323850"/>
          </a:xfrm>
          <a:prstGeom prst="rect">
            <a:avLst/>
          </a:prstGeom>
          <a:noFill/>
          <a:ln w="0">
            <a:noFill/>
            <a:prstDash val="solid"/>
          </a:ln>
        </p:spPr>
        <p:txBody>
          <a:bodyPr anchor="t"/>
          <a:lstStyle/>
          <a:p>
            <a:pPr algn="l">
              <a:defRPr sz="1500" b="1" i="0">
                <a:solidFill>
                  <a:srgbClr val="147D70"/>
                </a:solidFill>
              </a:defRPr>
            </a:pPr>
            <a:r>
              <a:rPr sz="1500" b="1" i="0">
                <a:solidFill>
                  <a:srgbClr val="147D70"/>
                </a:solidFill>
              </a:rPr>
              <a:t>Maximum change year</a:t>
            </a:r>
          </a:p>
        </p:txBody>
      </p:sp>
      <p:sp>
        <p:nvSpPr>
          <p:cNvPr id="27" name="Rectangle 26">
            <a:extLst>
              <a:ext uri="{FF2B5EF4-FFF2-40B4-BE49-F238E27FC236}">
                <a16:creationId xmlns:a16="http://schemas.microsoft.com/office/drawing/2014/main" id="{23845BBF-B9C2-4710-BACB-6D5701705762}"/>
              </a:ext>
            </a:extLst>
          </p:cNvPr>
          <p:cNvSpPr>
            <a:spLocks noGrp="1"/>
          </p:cNvSpPr>
          <p:nvPr/>
        </p:nvSpPr>
        <p:spPr>
          <a:xfrm>
            <a:off x="8477250" y="4876800"/>
            <a:ext cx="2952750" cy="59055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End year of the strongest annual interval.</a:t>
            </a:r>
          </a:p>
        </p:txBody>
      </p:sp>
      <p:sp>
        <p:nvSpPr>
          <p:cNvPr id="28" name="Straight Connector 27">
            <a:extLst>
              <a:ext uri="{FF2B5EF4-FFF2-40B4-BE49-F238E27FC236}">
                <a16:creationId xmlns:a16="http://schemas.microsoft.com/office/drawing/2014/main" id="{3C9E8EE4-D271-4722-8A7F-3E5A7A72053B}"/>
              </a:ext>
            </a:extLst>
          </p:cNvPr>
          <p:cNvSpPr>
            <a:spLocks noGrp="1"/>
          </p:cNvSpPr>
          <p:nvPr/>
        </p:nvSpPr>
        <p:spPr>
          <a:xfrm>
            <a:off x="6286500" y="5619750"/>
            <a:ext cx="5143500" cy="0"/>
          </a:xfrm>
          <a:prstGeom prst="line">
            <a:avLst/>
          </a:prstGeom>
          <a:noFill/>
          <a:ln w="9525">
            <a:solidFill>
              <a:srgbClr val="D4DDE2"/>
            </a:solidFill>
            <a:prstDash val="solid"/>
          </a:ln>
        </p:spPr>
        <p:txBody>
          <a:bodyPr/>
          <a:lstStyle/>
          <a:p>
            <a:endParaRPr lang="en-US"/>
          </a:p>
        </p:txBody>
      </p:sp>
    </p:spTree>
    <p:extLst>
      <p:ext uri="{BB962C8B-B14F-4D97-AF65-F5344CB8AC3E}">
        <p14:creationId xmlns:p14="http://schemas.microsoft.com/office/powerpoint/2010/main" val="1730896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7F992F4-862C-465D-B1DA-596E731CA023}"/>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REFERENCE</a:t>
            </a:r>
          </a:p>
        </p:txBody>
      </p:sp>
      <p:sp>
        <p:nvSpPr>
          <p:cNvPr id="2" name="slide-31-title">
            <a:extLst>
              <a:ext uri="{FF2B5EF4-FFF2-40B4-BE49-F238E27FC236}">
                <a16:creationId xmlns:a16="http://schemas.microsoft.com/office/drawing/2014/main" id="{B34E564E-DF6A-4722-86EC-4F4BD52EFACC}"/>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Appendix: evidence thresholds</a:t>
            </a:r>
          </a:p>
        </p:txBody>
      </p:sp>
      <p:sp>
        <p:nvSpPr>
          <p:cNvPr id="3" name="Straight Connector 2">
            <a:extLst>
              <a:ext uri="{FF2B5EF4-FFF2-40B4-BE49-F238E27FC236}">
                <a16:creationId xmlns:a16="http://schemas.microsoft.com/office/drawing/2014/main" id="{16912751-8CAF-44F4-B645-C7375B2C63EC}"/>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4B887204-0129-4624-A5D7-2F40C576ACA9}"/>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31</a:t>
            </a:r>
          </a:p>
        </p:txBody>
      </p:sp>
      <p:sp>
        <p:nvSpPr>
          <p:cNvPr id="5" name="Rectangle 4">
            <a:extLst>
              <a:ext uri="{FF2B5EF4-FFF2-40B4-BE49-F238E27FC236}">
                <a16:creationId xmlns:a16="http://schemas.microsoft.com/office/drawing/2014/main" id="{D2620883-F8C6-4F4C-9862-F8E182C9D1D8}"/>
              </a:ext>
            </a:extLst>
          </p:cNvPr>
          <p:cNvSpPr>
            <a:spLocks noGrp="1"/>
          </p:cNvSpPr>
          <p:nvPr/>
        </p:nvSpPr>
        <p:spPr>
          <a:xfrm>
            <a:off x="704850" y="1504950"/>
            <a:ext cx="2476500" cy="266700"/>
          </a:xfrm>
          <a:prstGeom prst="rect">
            <a:avLst/>
          </a:prstGeom>
          <a:noFill/>
          <a:ln w="0">
            <a:noFill/>
            <a:prstDash val="solid"/>
          </a:ln>
        </p:spPr>
        <p:txBody>
          <a:bodyPr anchor="t"/>
          <a:lstStyle/>
          <a:p>
            <a:pPr algn="l">
              <a:defRPr sz="1200" b="1" i="0">
                <a:solidFill>
                  <a:srgbClr val="5E6B75"/>
                </a:solidFill>
              </a:defRPr>
            </a:pPr>
            <a:r>
              <a:rPr sz="1200" b="1" i="0">
                <a:solidFill>
                  <a:srgbClr val="5E6B75"/>
                </a:solidFill>
              </a:rPr>
              <a:t>Rule</a:t>
            </a:r>
          </a:p>
        </p:txBody>
      </p:sp>
      <p:sp>
        <p:nvSpPr>
          <p:cNvPr id="6" name="Rectangle 5">
            <a:extLst>
              <a:ext uri="{FF2B5EF4-FFF2-40B4-BE49-F238E27FC236}">
                <a16:creationId xmlns:a16="http://schemas.microsoft.com/office/drawing/2014/main" id="{E61F7F4F-C679-4CAA-A1E8-8470374599B1}"/>
              </a:ext>
            </a:extLst>
          </p:cNvPr>
          <p:cNvSpPr>
            <a:spLocks noGrp="1"/>
          </p:cNvSpPr>
          <p:nvPr/>
        </p:nvSpPr>
        <p:spPr>
          <a:xfrm>
            <a:off x="3276600" y="1504950"/>
            <a:ext cx="2952750" cy="266700"/>
          </a:xfrm>
          <a:prstGeom prst="rect">
            <a:avLst/>
          </a:prstGeom>
          <a:noFill/>
          <a:ln w="0">
            <a:noFill/>
            <a:prstDash val="solid"/>
          </a:ln>
        </p:spPr>
        <p:txBody>
          <a:bodyPr anchor="t"/>
          <a:lstStyle/>
          <a:p>
            <a:pPr algn="l">
              <a:defRPr sz="1200" b="1" i="0">
                <a:solidFill>
                  <a:srgbClr val="5E6B75"/>
                </a:solidFill>
              </a:defRPr>
            </a:pPr>
            <a:r>
              <a:rPr sz="1200" b="1" i="0">
                <a:solidFill>
                  <a:srgbClr val="5E6B75"/>
                </a:solidFill>
              </a:rPr>
              <a:t>Threshold</a:t>
            </a:r>
          </a:p>
        </p:txBody>
      </p:sp>
      <p:sp>
        <p:nvSpPr>
          <p:cNvPr id="7" name="Rectangle 6">
            <a:extLst>
              <a:ext uri="{FF2B5EF4-FFF2-40B4-BE49-F238E27FC236}">
                <a16:creationId xmlns:a16="http://schemas.microsoft.com/office/drawing/2014/main" id="{A1B5171E-0185-4FE2-9C19-3FBAB8DBF3D3}"/>
              </a:ext>
            </a:extLst>
          </p:cNvPr>
          <p:cNvSpPr>
            <a:spLocks noGrp="1"/>
          </p:cNvSpPr>
          <p:nvPr/>
        </p:nvSpPr>
        <p:spPr>
          <a:xfrm>
            <a:off x="6477000" y="1504950"/>
            <a:ext cx="4762500" cy="266700"/>
          </a:xfrm>
          <a:prstGeom prst="rect">
            <a:avLst/>
          </a:prstGeom>
          <a:noFill/>
          <a:ln w="0">
            <a:noFill/>
            <a:prstDash val="solid"/>
          </a:ln>
        </p:spPr>
        <p:txBody>
          <a:bodyPr anchor="t"/>
          <a:lstStyle/>
          <a:p>
            <a:pPr algn="l">
              <a:defRPr sz="1200" b="1" i="0">
                <a:solidFill>
                  <a:srgbClr val="5E6B75"/>
                </a:solidFill>
              </a:defRPr>
            </a:pPr>
            <a:r>
              <a:rPr sz="1200" b="1" i="0">
                <a:solidFill>
                  <a:srgbClr val="5E6B75"/>
                </a:solidFill>
              </a:rPr>
              <a:t>Interpretation</a:t>
            </a:r>
          </a:p>
        </p:txBody>
      </p:sp>
      <p:sp>
        <p:nvSpPr>
          <p:cNvPr id="8" name="Straight Connector 7">
            <a:extLst>
              <a:ext uri="{FF2B5EF4-FFF2-40B4-BE49-F238E27FC236}">
                <a16:creationId xmlns:a16="http://schemas.microsoft.com/office/drawing/2014/main" id="{FC0ACE16-D0EA-441D-A982-2BE1AFCE7EFD}"/>
              </a:ext>
            </a:extLst>
          </p:cNvPr>
          <p:cNvSpPr>
            <a:spLocks noGrp="1"/>
          </p:cNvSpPr>
          <p:nvPr/>
        </p:nvSpPr>
        <p:spPr>
          <a:xfrm>
            <a:off x="666750" y="1847850"/>
            <a:ext cx="10668000" cy="0"/>
          </a:xfrm>
          <a:prstGeom prst="line">
            <a:avLst/>
          </a:prstGeom>
          <a:noFill/>
          <a:ln w="19050">
            <a:solidFill>
              <a:srgbClr val="08065C"/>
            </a:solidFill>
            <a:prstDash val="solid"/>
          </a:ln>
        </p:spPr>
        <p:txBody>
          <a:bodyPr/>
          <a:lstStyle/>
          <a:p>
            <a:endParaRPr lang="en-US"/>
          </a:p>
        </p:txBody>
      </p:sp>
      <p:sp>
        <p:nvSpPr>
          <p:cNvPr id="9" name="Rectangle 8">
            <a:extLst>
              <a:ext uri="{FF2B5EF4-FFF2-40B4-BE49-F238E27FC236}">
                <a16:creationId xmlns:a16="http://schemas.microsoft.com/office/drawing/2014/main" id="{B03037DB-B5F6-4A9A-B638-21E5C43BBE4A}"/>
              </a:ext>
            </a:extLst>
          </p:cNvPr>
          <p:cNvSpPr>
            <a:spLocks noGrp="1"/>
          </p:cNvSpPr>
          <p:nvPr/>
        </p:nvSpPr>
        <p:spPr>
          <a:xfrm>
            <a:off x="704850" y="2038350"/>
            <a:ext cx="2381250" cy="457200"/>
          </a:xfrm>
          <a:prstGeom prst="rect">
            <a:avLst/>
          </a:prstGeom>
          <a:noFill/>
          <a:ln w="0">
            <a:noFill/>
            <a:prstDash val="solid"/>
          </a:ln>
        </p:spPr>
        <p:txBody>
          <a:bodyPr anchor="t"/>
          <a:lstStyle/>
          <a:p>
            <a:pPr algn="l">
              <a:defRPr sz="1275" b="1" i="0">
                <a:solidFill>
                  <a:srgbClr val="D48728"/>
                </a:solidFill>
              </a:defRPr>
            </a:pPr>
            <a:r>
              <a:rPr sz="1275" b="1" i="0">
                <a:solidFill>
                  <a:srgbClr val="D48728"/>
                </a:solidFill>
              </a:rPr>
              <a:t>Annual embedding hotspot</a:t>
            </a:r>
          </a:p>
        </p:txBody>
      </p:sp>
      <p:sp>
        <p:nvSpPr>
          <p:cNvPr id="10" name="Rectangle 9">
            <a:extLst>
              <a:ext uri="{FF2B5EF4-FFF2-40B4-BE49-F238E27FC236}">
                <a16:creationId xmlns:a16="http://schemas.microsoft.com/office/drawing/2014/main" id="{AF369C2F-A93D-44BE-83F9-C1807EF4BC5C}"/>
              </a:ext>
            </a:extLst>
          </p:cNvPr>
          <p:cNvSpPr>
            <a:spLocks noGrp="1"/>
          </p:cNvSpPr>
          <p:nvPr/>
        </p:nvSpPr>
        <p:spPr>
          <a:xfrm>
            <a:off x="3276600" y="2038350"/>
            <a:ext cx="2952750" cy="457200"/>
          </a:xfrm>
          <a:prstGeom prst="rect">
            <a:avLst/>
          </a:prstGeom>
          <a:noFill/>
          <a:ln w="0">
            <a:noFill/>
            <a:prstDash val="solid"/>
          </a:ln>
        </p:spPr>
        <p:txBody>
          <a:bodyPr anchor="t"/>
          <a:lstStyle/>
          <a:p>
            <a:pPr algn="l">
              <a:defRPr sz="1275" b="1" i="0">
                <a:solidFill>
                  <a:srgbClr val="08065C"/>
                </a:solidFill>
              </a:defRPr>
            </a:pPr>
            <a:r>
              <a:rPr sz="1275" b="1" i="0">
                <a:solidFill>
                  <a:srgbClr val="08065C"/>
                </a:solidFill>
              </a:rPr>
              <a:t>distance &gt; 0.45</a:t>
            </a:r>
          </a:p>
        </p:txBody>
      </p:sp>
      <p:sp>
        <p:nvSpPr>
          <p:cNvPr id="11" name="Rectangle 10">
            <a:extLst>
              <a:ext uri="{FF2B5EF4-FFF2-40B4-BE49-F238E27FC236}">
                <a16:creationId xmlns:a16="http://schemas.microsoft.com/office/drawing/2014/main" id="{C7844855-CA38-4080-9EAB-8B480C31F98A}"/>
              </a:ext>
            </a:extLst>
          </p:cNvPr>
          <p:cNvSpPr>
            <a:spLocks noGrp="1"/>
          </p:cNvSpPr>
          <p:nvPr/>
        </p:nvSpPr>
        <p:spPr>
          <a:xfrm>
            <a:off x="6477000" y="2038350"/>
            <a:ext cx="4762500" cy="45720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Fixed strong-change threshold used for persistence.</a:t>
            </a:r>
          </a:p>
        </p:txBody>
      </p:sp>
      <p:sp>
        <p:nvSpPr>
          <p:cNvPr id="12" name="Straight Connector 11">
            <a:extLst>
              <a:ext uri="{FF2B5EF4-FFF2-40B4-BE49-F238E27FC236}">
                <a16:creationId xmlns:a16="http://schemas.microsoft.com/office/drawing/2014/main" id="{DE36BB93-8D55-4C73-BE79-255F877BE968}"/>
              </a:ext>
            </a:extLst>
          </p:cNvPr>
          <p:cNvSpPr>
            <a:spLocks noGrp="1"/>
          </p:cNvSpPr>
          <p:nvPr/>
        </p:nvSpPr>
        <p:spPr>
          <a:xfrm>
            <a:off x="666750" y="2571750"/>
            <a:ext cx="10668000" cy="0"/>
          </a:xfrm>
          <a:prstGeom prst="line">
            <a:avLst/>
          </a:prstGeom>
          <a:noFill/>
          <a:ln w="9525">
            <a:solidFill>
              <a:srgbClr val="D4DDE2"/>
            </a:solidFill>
            <a:prstDash val="solid"/>
          </a:ln>
        </p:spPr>
        <p:txBody>
          <a:bodyPr/>
          <a:lstStyle/>
          <a:p>
            <a:endParaRPr lang="en-US"/>
          </a:p>
        </p:txBody>
      </p:sp>
      <p:sp>
        <p:nvSpPr>
          <p:cNvPr id="13" name="Rectangle 12">
            <a:extLst>
              <a:ext uri="{FF2B5EF4-FFF2-40B4-BE49-F238E27FC236}">
                <a16:creationId xmlns:a16="http://schemas.microsoft.com/office/drawing/2014/main" id="{B741B06C-8890-4F5F-BDAD-905FEA6CA04B}"/>
              </a:ext>
            </a:extLst>
          </p:cNvPr>
          <p:cNvSpPr>
            <a:spLocks noGrp="1"/>
          </p:cNvSpPr>
          <p:nvPr/>
        </p:nvSpPr>
        <p:spPr>
          <a:xfrm>
            <a:off x="704850" y="2686050"/>
            <a:ext cx="2381250" cy="457200"/>
          </a:xfrm>
          <a:prstGeom prst="rect">
            <a:avLst/>
          </a:prstGeom>
          <a:noFill/>
          <a:ln w="0">
            <a:noFill/>
            <a:prstDash val="solid"/>
          </a:ln>
        </p:spPr>
        <p:txBody>
          <a:bodyPr anchor="t"/>
          <a:lstStyle/>
          <a:p>
            <a:pPr algn="l">
              <a:defRPr sz="1275" b="1" i="0">
                <a:solidFill>
                  <a:srgbClr val="D48728"/>
                </a:solidFill>
              </a:defRPr>
            </a:pPr>
            <a:r>
              <a:rPr sz="1275" b="1" i="0">
                <a:solidFill>
                  <a:srgbClr val="D48728"/>
                </a:solidFill>
              </a:rPr>
              <a:t>Endpoint hotspot</a:t>
            </a:r>
          </a:p>
        </p:txBody>
      </p:sp>
      <p:sp>
        <p:nvSpPr>
          <p:cNvPr id="14" name="Rectangle 13">
            <a:extLst>
              <a:ext uri="{FF2B5EF4-FFF2-40B4-BE49-F238E27FC236}">
                <a16:creationId xmlns:a16="http://schemas.microsoft.com/office/drawing/2014/main" id="{0036DCEF-9044-45E7-A16E-0B04287BE4F8}"/>
              </a:ext>
            </a:extLst>
          </p:cNvPr>
          <p:cNvSpPr>
            <a:spLocks noGrp="1"/>
          </p:cNvSpPr>
          <p:nvPr/>
        </p:nvSpPr>
        <p:spPr>
          <a:xfrm>
            <a:off x="3276600" y="2686050"/>
            <a:ext cx="2952750" cy="457200"/>
          </a:xfrm>
          <a:prstGeom prst="rect">
            <a:avLst/>
          </a:prstGeom>
          <a:noFill/>
          <a:ln w="0">
            <a:noFill/>
            <a:prstDash val="solid"/>
          </a:ln>
        </p:spPr>
        <p:txBody>
          <a:bodyPr anchor="t"/>
          <a:lstStyle/>
          <a:p>
            <a:pPr algn="l">
              <a:defRPr sz="1275" b="1" i="0">
                <a:solidFill>
                  <a:srgbClr val="08065C"/>
                </a:solidFill>
              </a:defRPr>
            </a:pPr>
            <a:r>
              <a:rPr sz="1275" b="1" i="0">
                <a:solidFill>
                  <a:srgbClr val="08065C"/>
                </a:solidFill>
              </a:rPr>
              <a:t>endpoint distance ≥ p95 (~0.445)</a:t>
            </a:r>
          </a:p>
        </p:txBody>
      </p:sp>
      <p:sp>
        <p:nvSpPr>
          <p:cNvPr id="15" name="Rectangle 14">
            <a:extLst>
              <a:ext uri="{FF2B5EF4-FFF2-40B4-BE49-F238E27FC236}">
                <a16:creationId xmlns:a16="http://schemas.microsoft.com/office/drawing/2014/main" id="{FB9BF5C5-8BC4-4948-A95B-27F428056004}"/>
              </a:ext>
            </a:extLst>
          </p:cNvPr>
          <p:cNvSpPr>
            <a:spLocks noGrp="1"/>
          </p:cNvSpPr>
          <p:nvPr/>
        </p:nvSpPr>
        <p:spPr>
          <a:xfrm>
            <a:off x="6477000" y="2686050"/>
            <a:ext cx="4762500" cy="45720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Top 5% of start-to-end change values.</a:t>
            </a:r>
          </a:p>
        </p:txBody>
      </p:sp>
      <p:sp>
        <p:nvSpPr>
          <p:cNvPr id="16" name="Straight Connector 15">
            <a:extLst>
              <a:ext uri="{FF2B5EF4-FFF2-40B4-BE49-F238E27FC236}">
                <a16:creationId xmlns:a16="http://schemas.microsoft.com/office/drawing/2014/main" id="{8DA77219-B2EE-4BF6-A3EF-5F2246B2F227}"/>
              </a:ext>
            </a:extLst>
          </p:cNvPr>
          <p:cNvSpPr>
            <a:spLocks noGrp="1"/>
          </p:cNvSpPr>
          <p:nvPr/>
        </p:nvSpPr>
        <p:spPr>
          <a:xfrm>
            <a:off x="666750" y="3219450"/>
            <a:ext cx="10668000" cy="0"/>
          </a:xfrm>
          <a:prstGeom prst="line">
            <a:avLst/>
          </a:prstGeom>
          <a:noFill/>
          <a:ln w="9525">
            <a:solidFill>
              <a:srgbClr val="D4DDE2"/>
            </a:solidFill>
            <a:prstDash val="solid"/>
          </a:ln>
        </p:spPr>
        <p:txBody>
          <a:bodyPr/>
          <a:lstStyle/>
          <a:p>
            <a:endParaRPr lang="en-US"/>
          </a:p>
        </p:txBody>
      </p:sp>
      <p:sp>
        <p:nvSpPr>
          <p:cNvPr id="17" name="Rectangle 16">
            <a:extLst>
              <a:ext uri="{FF2B5EF4-FFF2-40B4-BE49-F238E27FC236}">
                <a16:creationId xmlns:a16="http://schemas.microsoft.com/office/drawing/2014/main" id="{0075B203-2F5E-4133-A432-85DF7E23B326}"/>
              </a:ext>
            </a:extLst>
          </p:cNvPr>
          <p:cNvSpPr>
            <a:spLocks noGrp="1"/>
          </p:cNvSpPr>
          <p:nvPr/>
        </p:nvSpPr>
        <p:spPr>
          <a:xfrm>
            <a:off x="704850" y="3333750"/>
            <a:ext cx="2381250" cy="457200"/>
          </a:xfrm>
          <a:prstGeom prst="rect">
            <a:avLst/>
          </a:prstGeom>
          <a:noFill/>
          <a:ln w="0">
            <a:noFill/>
            <a:prstDash val="solid"/>
          </a:ln>
        </p:spPr>
        <p:txBody>
          <a:bodyPr anchor="t"/>
          <a:lstStyle/>
          <a:p>
            <a:pPr algn="l">
              <a:defRPr sz="1275" b="1" i="0">
                <a:solidFill>
                  <a:srgbClr val="D48728"/>
                </a:solidFill>
              </a:defRPr>
            </a:pPr>
            <a:r>
              <a:rPr sz="1275" b="1" i="0">
                <a:solidFill>
                  <a:srgbClr val="D48728"/>
                </a:solidFill>
              </a:rPr>
              <a:t>High variance</a:t>
            </a:r>
          </a:p>
        </p:txBody>
      </p:sp>
      <p:sp>
        <p:nvSpPr>
          <p:cNvPr id="18" name="Rectangle 17">
            <a:extLst>
              <a:ext uri="{FF2B5EF4-FFF2-40B4-BE49-F238E27FC236}">
                <a16:creationId xmlns:a16="http://schemas.microsoft.com/office/drawing/2014/main" id="{25B7E77A-2E6A-4D92-B378-07530B20ABAB}"/>
              </a:ext>
            </a:extLst>
          </p:cNvPr>
          <p:cNvSpPr>
            <a:spLocks noGrp="1"/>
          </p:cNvSpPr>
          <p:nvPr/>
        </p:nvSpPr>
        <p:spPr>
          <a:xfrm>
            <a:off x="3276600" y="3333750"/>
            <a:ext cx="2952750" cy="457200"/>
          </a:xfrm>
          <a:prstGeom prst="rect">
            <a:avLst/>
          </a:prstGeom>
          <a:noFill/>
          <a:ln w="0">
            <a:noFill/>
            <a:prstDash val="solid"/>
          </a:ln>
        </p:spPr>
        <p:txBody>
          <a:bodyPr anchor="t"/>
          <a:lstStyle/>
          <a:p>
            <a:pPr algn="l">
              <a:defRPr sz="1275" b="1" i="0">
                <a:solidFill>
                  <a:srgbClr val="08065C"/>
                </a:solidFill>
              </a:defRPr>
            </a:pPr>
            <a:r>
              <a:rPr sz="1275" b="1" i="0">
                <a:solidFill>
                  <a:srgbClr val="08065C"/>
                </a:solidFill>
              </a:rPr>
              <a:t>variance ≥ p95 (~0.00843)</a:t>
            </a:r>
          </a:p>
        </p:txBody>
      </p:sp>
      <p:sp>
        <p:nvSpPr>
          <p:cNvPr id="19" name="Rectangle 18">
            <a:extLst>
              <a:ext uri="{FF2B5EF4-FFF2-40B4-BE49-F238E27FC236}">
                <a16:creationId xmlns:a16="http://schemas.microsoft.com/office/drawing/2014/main" id="{0C8F67A5-879A-42A0-90D3-A2C8786A9E8C}"/>
              </a:ext>
            </a:extLst>
          </p:cNvPr>
          <p:cNvSpPr>
            <a:spLocks noGrp="1"/>
          </p:cNvSpPr>
          <p:nvPr/>
        </p:nvSpPr>
        <p:spPr>
          <a:xfrm>
            <a:off x="6477000" y="3333750"/>
            <a:ext cx="4762500" cy="45720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Most uneven annual trajectories.</a:t>
            </a:r>
          </a:p>
        </p:txBody>
      </p:sp>
      <p:sp>
        <p:nvSpPr>
          <p:cNvPr id="20" name="Straight Connector 19">
            <a:extLst>
              <a:ext uri="{FF2B5EF4-FFF2-40B4-BE49-F238E27FC236}">
                <a16:creationId xmlns:a16="http://schemas.microsoft.com/office/drawing/2014/main" id="{39661432-5C58-4C43-990B-EB1FC50A933C}"/>
              </a:ext>
            </a:extLst>
          </p:cNvPr>
          <p:cNvSpPr>
            <a:spLocks noGrp="1"/>
          </p:cNvSpPr>
          <p:nvPr/>
        </p:nvSpPr>
        <p:spPr>
          <a:xfrm>
            <a:off x="666750" y="3867150"/>
            <a:ext cx="10668000" cy="0"/>
          </a:xfrm>
          <a:prstGeom prst="line">
            <a:avLst/>
          </a:prstGeom>
          <a:noFill/>
          <a:ln w="9525">
            <a:solidFill>
              <a:srgbClr val="D4DDE2"/>
            </a:solidFill>
            <a:prstDash val="solid"/>
          </a:ln>
        </p:spPr>
        <p:txBody>
          <a:bodyPr/>
          <a:lstStyle/>
          <a:p>
            <a:endParaRPr lang="en-US"/>
          </a:p>
        </p:txBody>
      </p:sp>
      <p:sp>
        <p:nvSpPr>
          <p:cNvPr id="21" name="Rectangle 20">
            <a:extLst>
              <a:ext uri="{FF2B5EF4-FFF2-40B4-BE49-F238E27FC236}">
                <a16:creationId xmlns:a16="http://schemas.microsoft.com/office/drawing/2014/main" id="{258798E9-3B9C-448E-8581-A3732DCE35CE}"/>
              </a:ext>
            </a:extLst>
          </p:cNvPr>
          <p:cNvSpPr>
            <a:spLocks noGrp="1"/>
          </p:cNvSpPr>
          <p:nvPr/>
        </p:nvSpPr>
        <p:spPr>
          <a:xfrm>
            <a:off x="704850" y="3981450"/>
            <a:ext cx="2381250" cy="457200"/>
          </a:xfrm>
          <a:prstGeom prst="rect">
            <a:avLst/>
          </a:prstGeom>
          <a:noFill/>
          <a:ln w="0">
            <a:noFill/>
            <a:prstDash val="solid"/>
          </a:ln>
        </p:spPr>
        <p:txBody>
          <a:bodyPr anchor="t"/>
          <a:lstStyle/>
          <a:p>
            <a:pPr algn="l">
              <a:defRPr sz="1275" b="1" i="0">
                <a:solidFill>
                  <a:srgbClr val="D48728"/>
                </a:solidFill>
              </a:defRPr>
            </a:pPr>
            <a:r>
              <a:rPr sz="1275" b="1" i="0">
                <a:solidFill>
                  <a:srgbClr val="D48728"/>
                </a:solidFill>
              </a:rPr>
              <a:t>Positive / negative slope</a:t>
            </a:r>
          </a:p>
        </p:txBody>
      </p:sp>
      <p:sp>
        <p:nvSpPr>
          <p:cNvPr id="22" name="Rectangle 21">
            <a:extLst>
              <a:ext uri="{FF2B5EF4-FFF2-40B4-BE49-F238E27FC236}">
                <a16:creationId xmlns:a16="http://schemas.microsoft.com/office/drawing/2014/main" id="{2FA5F67E-44A7-4E97-BA0C-7E1EC485C07F}"/>
              </a:ext>
            </a:extLst>
          </p:cNvPr>
          <p:cNvSpPr>
            <a:spLocks noGrp="1"/>
          </p:cNvSpPr>
          <p:nvPr/>
        </p:nvSpPr>
        <p:spPr>
          <a:xfrm>
            <a:off x="3276600" y="3981450"/>
            <a:ext cx="2952750" cy="457200"/>
          </a:xfrm>
          <a:prstGeom prst="rect">
            <a:avLst/>
          </a:prstGeom>
          <a:noFill/>
          <a:ln w="0">
            <a:noFill/>
            <a:prstDash val="solid"/>
          </a:ln>
        </p:spPr>
        <p:txBody>
          <a:bodyPr anchor="t"/>
          <a:lstStyle/>
          <a:p>
            <a:pPr algn="l">
              <a:defRPr sz="1275" b="1" i="0">
                <a:solidFill>
                  <a:srgbClr val="08065C"/>
                </a:solidFill>
              </a:defRPr>
            </a:pPr>
            <a:r>
              <a:rPr sz="1275" b="1" i="0">
                <a:solidFill>
                  <a:srgbClr val="08065C"/>
                </a:solidFill>
              </a:rPr>
              <a:t>top or bottom 5%</a:t>
            </a:r>
          </a:p>
        </p:txBody>
      </p:sp>
      <p:sp>
        <p:nvSpPr>
          <p:cNvPr id="23" name="Rectangle 22">
            <a:extLst>
              <a:ext uri="{FF2B5EF4-FFF2-40B4-BE49-F238E27FC236}">
                <a16:creationId xmlns:a16="http://schemas.microsoft.com/office/drawing/2014/main" id="{29D58D2B-ED69-4F3A-91BC-E121C977072E}"/>
              </a:ext>
            </a:extLst>
          </p:cNvPr>
          <p:cNvSpPr>
            <a:spLocks noGrp="1"/>
          </p:cNvSpPr>
          <p:nvPr/>
        </p:nvSpPr>
        <p:spPr>
          <a:xfrm>
            <a:off x="6477000" y="3981450"/>
            <a:ext cx="4762500" cy="45720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Strongest upward or downward change-magnitude trends.</a:t>
            </a:r>
          </a:p>
        </p:txBody>
      </p:sp>
      <p:sp>
        <p:nvSpPr>
          <p:cNvPr id="24" name="Straight Connector 23">
            <a:extLst>
              <a:ext uri="{FF2B5EF4-FFF2-40B4-BE49-F238E27FC236}">
                <a16:creationId xmlns:a16="http://schemas.microsoft.com/office/drawing/2014/main" id="{E9EA9D5E-1482-452F-89F5-67AEEFADAE4A}"/>
              </a:ext>
            </a:extLst>
          </p:cNvPr>
          <p:cNvSpPr>
            <a:spLocks noGrp="1"/>
          </p:cNvSpPr>
          <p:nvPr/>
        </p:nvSpPr>
        <p:spPr>
          <a:xfrm>
            <a:off x="666750" y="4514850"/>
            <a:ext cx="10668000" cy="0"/>
          </a:xfrm>
          <a:prstGeom prst="line">
            <a:avLst/>
          </a:prstGeom>
          <a:noFill/>
          <a:ln w="9525">
            <a:solidFill>
              <a:srgbClr val="D4DDE2"/>
            </a:solidFill>
            <a:prstDash val="solid"/>
          </a:ln>
        </p:spPr>
        <p:txBody>
          <a:bodyPr/>
          <a:lstStyle/>
          <a:p>
            <a:endParaRPr lang="en-US"/>
          </a:p>
        </p:txBody>
      </p:sp>
      <p:sp>
        <p:nvSpPr>
          <p:cNvPr id="25" name="Rectangle 24">
            <a:extLst>
              <a:ext uri="{FF2B5EF4-FFF2-40B4-BE49-F238E27FC236}">
                <a16:creationId xmlns:a16="http://schemas.microsoft.com/office/drawing/2014/main" id="{48BFAE91-3E94-43D6-97A4-701CD60B951E}"/>
              </a:ext>
            </a:extLst>
          </p:cNvPr>
          <p:cNvSpPr>
            <a:spLocks noGrp="1"/>
          </p:cNvSpPr>
          <p:nvPr/>
        </p:nvSpPr>
        <p:spPr>
          <a:xfrm>
            <a:off x="704850" y="4629150"/>
            <a:ext cx="2381250" cy="457200"/>
          </a:xfrm>
          <a:prstGeom prst="rect">
            <a:avLst/>
          </a:prstGeom>
          <a:noFill/>
          <a:ln w="0">
            <a:noFill/>
            <a:prstDash val="solid"/>
          </a:ln>
        </p:spPr>
        <p:txBody>
          <a:bodyPr anchor="t"/>
          <a:lstStyle/>
          <a:p>
            <a:pPr algn="l">
              <a:defRPr sz="1275" b="1" i="0">
                <a:solidFill>
                  <a:srgbClr val="147D70"/>
                </a:solidFill>
              </a:defRPr>
            </a:pPr>
            <a:r>
              <a:rPr sz="1275" b="1" i="0">
                <a:solidFill>
                  <a:srgbClr val="147D70"/>
                </a:solidFill>
              </a:rPr>
              <a:t>NDVI pilot event</a:t>
            </a:r>
          </a:p>
        </p:txBody>
      </p:sp>
      <p:sp>
        <p:nvSpPr>
          <p:cNvPr id="26" name="Rectangle 25">
            <a:extLst>
              <a:ext uri="{FF2B5EF4-FFF2-40B4-BE49-F238E27FC236}">
                <a16:creationId xmlns:a16="http://schemas.microsoft.com/office/drawing/2014/main" id="{A5F20715-F0DC-4849-AB6B-D06BDB81AF06}"/>
              </a:ext>
            </a:extLst>
          </p:cNvPr>
          <p:cNvSpPr>
            <a:spLocks noGrp="1"/>
          </p:cNvSpPr>
          <p:nvPr/>
        </p:nvSpPr>
        <p:spPr>
          <a:xfrm>
            <a:off x="3276600" y="4629150"/>
            <a:ext cx="2952750" cy="457200"/>
          </a:xfrm>
          <a:prstGeom prst="rect">
            <a:avLst/>
          </a:prstGeom>
          <a:noFill/>
          <a:ln w="0">
            <a:noFill/>
            <a:prstDash val="solid"/>
          </a:ln>
        </p:spPr>
        <p:txBody>
          <a:bodyPr anchor="t"/>
          <a:lstStyle/>
          <a:p>
            <a:pPr algn="l">
              <a:defRPr sz="1275" b="1" i="0">
                <a:solidFill>
                  <a:srgbClr val="08065C"/>
                </a:solidFill>
              </a:defRPr>
            </a:pPr>
            <a:r>
              <a:rPr sz="1275" b="1" i="0">
                <a:solidFill>
                  <a:srgbClr val="08065C"/>
                </a:solidFill>
              </a:rPr>
              <a:t>|annual ΔNDVI| ≥ 0.0758</a:t>
            </a:r>
          </a:p>
        </p:txBody>
      </p:sp>
      <p:sp>
        <p:nvSpPr>
          <p:cNvPr id="27" name="Rectangle 26">
            <a:extLst>
              <a:ext uri="{FF2B5EF4-FFF2-40B4-BE49-F238E27FC236}">
                <a16:creationId xmlns:a16="http://schemas.microsoft.com/office/drawing/2014/main" id="{F410EA52-3E4E-4E19-AEE5-3F8FE6F32FB6}"/>
              </a:ext>
            </a:extLst>
          </p:cNvPr>
          <p:cNvSpPr>
            <a:spLocks noGrp="1"/>
          </p:cNvSpPr>
          <p:nvPr/>
        </p:nvSpPr>
        <p:spPr>
          <a:xfrm>
            <a:off x="6477000" y="4629150"/>
            <a:ext cx="4762500" cy="45720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p95 among sampled stable-control intervals.</a:t>
            </a:r>
          </a:p>
        </p:txBody>
      </p:sp>
      <p:sp>
        <p:nvSpPr>
          <p:cNvPr id="28" name="Straight Connector 27">
            <a:extLst>
              <a:ext uri="{FF2B5EF4-FFF2-40B4-BE49-F238E27FC236}">
                <a16:creationId xmlns:a16="http://schemas.microsoft.com/office/drawing/2014/main" id="{5CF45807-3664-4BB9-BB5D-1A3D2806DBCB}"/>
              </a:ext>
            </a:extLst>
          </p:cNvPr>
          <p:cNvSpPr>
            <a:spLocks noGrp="1"/>
          </p:cNvSpPr>
          <p:nvPr/>
        </p:nvSpPr>
        <p:spPr>
          <a:xfrm>
            <a:off x="666750" y="5162550"/>
            <a:ext cx="10668000" cy="0"/>
          </a:xfrm>
          <a:prstGeom prst="line">
            <a:avLst/>
          </a:prstGeom>
          <a:noFill/>
          <a:ln w="9525">
            <a:solidFill>
              <a:srgbClr val="D4DDE2"/>
            </a:solidFill>
            <a:prstDash val="solid"/>
          </a:ln>
        </p:spPr>
        <p:txBody>
          <a:bodyPr/>
          <a:lstStyle/>
          <a:p>
            <a:endParaRPr lang="en-US"/>
          </a:p>
        </p:txBody>
      </p:sp>
      <p:sp>
        <p:nvSpPr>
          <p:cNvPr id="29" name="Rectangle 28">
            <a:extLst>
              <a:ext uri="{FF2B5EF4-FFF2-40B4-BE49-F238E27FC236}">
                <a16:creationId xmlns:a16="http://schemas.microsoft.com/office/drawing/2014/main" id="{B6C2D98E-5A55-4315-993C-CB6345F2D13D}"/>
              </a:ext>
            </a:extLst>
          </p:cNvPr>
          <p:cNvSpPr>
            <a:spLocks noGrp="1"/>
          </p:cNvSpPr>
          <p:nvPr/>
        </p:nvSpPr>
        <p:spPr>
          <a:xfrm>
            <a:off x="704850" y="5276850"/>
            <a:ext cx="2381250" cy="457200"/>
          </a:xfrm>
          <a:prstGeom prst="rect">
            <a:avLst/>
          </a:prstGeom>
          <a:noFill/>
          <a:ln w="0">
            <a:noFill/>
            <a:prstDash val="solid"/>
          </a:ln>
        </p:spPr>
        <p:txBody>
          <a:bodyPr anchor="t"/>
          <a:lstStyle/>
          <a:p>
            <a:pPr algn="l">
              <a:defRPr sz="1275" b="1" i="0">
                <a:solidFill>
                  <a:srgbClr val="147D70"/>
                </a:solidFill>
              </a:defRPr>
            </a:pPr>
            <a:r>
              <a:rPr sz="1275" b="1" i="0">
                <a:solidFill>
                  <a:srgbClr val="147D70"/>
                </a:solidFill>
              </a:rPr>
              <a:t>Application NDVI evidence</a:t>
            </a:r>
          </a:p>
        </p:txBody>
      </p:sp>
      <p:sp>
        <p:nvSpPr>
          <p:cNvPr id="30" name="Rectangle 29">
            <a:extLst>
              <a:ext uri="{FF2B5EF4-FFF2-40B4-BE49-F238E27FC236}">
                <a16:creationId xmlns:a16="http://schemas.microsoft.com/office/drawing/2014/main" id="{C508542B-5881-495C-A3BA-23CC2265FFB7}"/>
              </a:ext>
            </a:extLst>
          </p:cNvPr>
          <p:cNvSpPr>
            <a:spLocks noGrp="1"/>
          </p:cNvSpPr>
          <p:nvPr/>
        </p:nvSpPr>
        <p:spPr>
          <a:xfrm>
            <a:off x="3276600" y="5276850"/>
            <a:ext cx="2952750" cy="457200"/>
          </a:xfrm>
          <a:prstGeom prst="rect">
            <a:avLst/>
          </a:prstGeom>
          <a:noFill/>
          <a:ln w="0">
            <a:noFill/>
            <a:prstDash val="solid"/>
          </a:ln>
        </p:spPr>
        <p:txBody>
          <a:bodyPr anchor="t"/>
          <a:lstStyle/>
          <a:p>
            <a:pPr algn="l">
              <a:defRPr sz="1275" b="1" i="0">
                <a:solidFill>
                  <a:srgbClr val="08065C"/>
                </a:solidFill>
              </a:defRPr>
            </a:pPr>
            <a:r>
              <a:rPr sz="1275" b="1" i="0">
                <a:solidFill>
                  <a:srgbClr val="08065C"/>
                </a:solidFill>
              </a:rPr>
              <a:t>|annual ΔNDVI| ≥ 0.0527</a:t>
            </a:r>
          </a:p>
        </p:txBody>
      </p:sp>
      <p:sp>
        <p:nvSpPr>
          <p:cNvPr id="31" name="Rectangle 30">
            <a:extLst>
              <a:ext uri="{FF2B5EF4-FFF2-40B4-BE49-F238E27FC236}">
                <a16:creationId xmlns:a16="http://schemas.microsoft.com/office/drawing/2014/main" id="{3E773E3A-4857-4ED5-A4C6-EB533C741DBB}"/>
              </a:ext>
            </a:extLst>
          </p:cNvPr>
          <p:cNvSpPr>
            <a:spLocks noGrp="1"/>
          </p:cNvSpPr>
          <p:nvPr/>
        </p:nvSpPr>
        <p:spPr>
          <a:xfrm>
            <a:off x="6477000" y="5276850"/>
            <a:ext cx="4762500" cy="457200"/>
          </a:xfrm>
          <a:prstGeom prst="rect">
            <a:avLst/>
          </a:prstGeom>
          <a:noFill/>
          <a:ln w="0">
            <a:noFill/>
            <a:prstDash val="solid"/>
          </a:ln>
        </p:spPr>
        <p:txBody>
          <a:bodyPr anchor="t"/>
          <a:lstStyle/>
          <a:p>
            <a:pPr algn="l">
              <a:defRPr sz="1275" b="0" i="0">
                <a:solidFill>
                  <a:srgbClr val="18232B"/>
                </a:solidFill>
              </a:defRPr>
            </a:pPr>
            <a:r>
              <a:rPr sz="1275" b="0" i="0">
                <a:solidFill>
                  <a:srgbClr val="18232B"/>
                </a:solidFill>
              </a:rPr>
              <a:t>p95 among all 307 low-change reference regions.</a:t>
            </a:r>
          </a:p>
        </p:txBody>
      </p:sp>
      <p:sp>
        <p:nvSpPr>
          <p:cNvPr id="32" name="Straight Connector 31">
            <a:extLst>
              <a:ext uri="{FF2B5EF4-FFF2-40B4-BE49-F238E27FC236}">
                <a16:creationId xmlns:a16="http://schemas.microsoft.com/office/drawing/2014/main" id="{2437F91B-13AB-4122-8609-F3085D808AC9}"/>
              </a:ext>
            </a:extLst>
          </p:cNvPr>
          <p:cNvSpPr>
            <a:spLocks noGrp="1"/>
          </p:cNvSpPr>
          <p:nvPr/>
        </p:nvSpPr>
        <p:spPr>
          <a:xfrm>
            <a:off x="666750" y="5810250"/>
            <a:ext cx="10668000" cy="0"/>
          </a:xfrm>
          <a:prstGeom prst="line">
            <a:avLst/>
          </a:prstGeom>
          <a:noFill/>
          <a:ln w="9525">
            <a:solidFill>
              <a:srgbClr val="D4DDE2"/>
            </a:solidFill>
            <a:prstDash val="solid"/>
          </a:ln>
        </p:spPr>
        <p:txBody>
          <a:bodyPr/>
          <a:lstStyle/>
          <a:p>
            <a:endParaRPr lang="en-US"/>
          </a:p>
        </p:txBody>
      </p:sp>
      <p:sp>
        <p:nvSpPr>
          <p:cNvPr id="33" name="Rectangle 32">
            <a:extLst>
              <a:ext uri="{FF2B5EF4-FFF2-40B4-BE49-F238E27FC236}">
                <a16:creationId xmlns:a16="http://schemas.microsoft.com/office/drawing/2014/main" id="{AF8BDD7B-3CFD-429E-B1EC-178DEA7411EB}"/>
              </a:ext>
            </a:extLst>
          </p:cNvPr>
          <p:cNvSpPr>
            <a:spLocks noGrp="1"/>
          </p:cNvSpPr>
          <p:nvPr/>
        </p:nvSpPr>
        <p:spPr>
          <a:xfrm>
            <a:off x="1809750" y="6019800"/>
            <a:ext cx="8572500" cy="285750"/>
          </a:xfrm>
          <a:prstGeom prst="rect">
            <a:avLst/>
          </a:prstGeom>
          <a:noFill/>
          <a:ln w="0">
            <a:noFill/>
            <a:prstDash val="solid"/>
          </a:ln>
        </p:spPr>
        <p:txBody>
          <a:bodyPr anchor="t"/>
          <a:lstStyle/>
          <a:p>
            <a:pPr algn="ctr">
              <a:defRPr sz="1350" b="1" i="0">
                <a:solidFill>
                  <a:srgbClr val="08065C"/>
                </a:solidFill>
              </a:defRPr>
            </a:pPr>
            <a:r>
              <a:rPr sz="1350" b="1" i="0">
                <a:solidFill>
                  <a:srgbClr val="08065C"/>
                </a:solidFill>
              </a:rPr>
              <a:t>Pilot and application NDVI thresholds differ because their reference populations differ.</a:t>
            </a:r>
          </a:p>
        </p:txBody>
      </p:sp>
    </p:spTree>
    <p:extLst>
      <p:ext uri="{BB962C8B-B14F-4D97-AF65-F5344CB8AC3E}">
        <p14:creationId xmlns:p14="http://schemas.microsoft.com/office/powerpoint/2010/main" val="9786250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6768373-0C70-4CF4-A6B0-83C45C7DF665}"/>
              </a:ext>
            </a:extLst>
          </p:cNvPr>
          <p:cNvSpPr>
            <a:spLocks noGrp="1"/>
          </p:cNvSpPr>
          <p:nvPr/>
        </p:nvSpPr>
        <p:spPr>
          <a:xfrm>
            <a:off x="609600" y="323850"/>
            <a:ext cx="2667000" cy="228600"/>
          </a:xfrm>
          <a:prstGeom prst="rect">
            <a:avLst/>
          </a:prstGeom>
          <a:noFill/>
          <a:ln w="0">
            <a:noFill/>
            <a:prstDash val="solid"/>
          </a:ln>
        </p:spPr>
        <p:txBody>
          <a:bodyPr anchor="t"/>
          <a:lstStyle/>
          <a:p>
            <a:pPr algn="l">
              <a:defRPr sz="975" b="1" i="0">
                <a:solidFill>
                  <a:srgbClr val="147D70"/>
                </a:solidFill>
              </a:defRPr>
            </a:pPr>
            <a:r>
              <a:rPr sz="975" b="1" i="0">
                <a:solidFill>
                  <a:srgbClr val="147D70"/>
                </a:solidFill>
              </a:rPr>
              <a:t>REFERENCE</a:t>
            </a:r>
          </a:p>
        </p:txBody>
      </p:sp>
      <p:sp>
        <p:nvSpPr>
          <p:cNvPr id="2" name="slide-32-title">
            <a:extLst>
              <a:ext uri="{FF2B5EF4-FFF2-40B4-BE49-F238E27FC236}">
                <a16:creationId xmlns:a16="http://schemas.microsoft.com/office/drawing/2014/main" id="{E10DF54F-BD22-4E05-A787-64C736930F0F}"/>
              </a:ext>
            </a:extLst>
          </p:cNvPr>
          <p:cNvSpPr>
            <a:spLocks noGrp="1"/>
          </p:cNvSpPr>
          <p:nvPr/>
        </p:nvSpPr>
        <p:spPr>
          <a:xfrm>
            <a:off x="609600" y="609600"/>
            <a:ext cx="10972800" cy="552450"/>
          </a:xfrm>
          <a:prstGeom prst="rect">
            <a:avLst/>
          </a:prstGeom>
          <a:noFill/>
          <a:ln w="0">
            <a:noFill/>
            <a:prstDash val="solid"/>
          </a:ln>
        </p:spPr>
        <p:txBody>
          <a:bodyPr anchor="t"/>
          <a:lstStyle/>
          <a:p>
            <a:pPr algn="l">
              <a:defRPr sz="2925" b="1" i="0">
                <a:solidFill>
                  <a:srgbClr val="08065C"/>
                </a:solidFill>
              </a:defRPr>
            </a:pPr>
            <a:r>
              <a:rPr sz="2925" b="1" i="0">
                <a:solidFill>
                  <a:srgbClr val="08065C"/>
                </a:solidFill>
              </a:rPr>
              <a:t>Interpretation boundaries</a:t>
            </a:r>
          </a:p>
        </p:txBody>
      </p:sp>
      <p:sp>
        <p:nvSpPr>
          <p:cNvPr id="3" name="Straight Connector 2">
            <a:extLst>
              <a:ext uri="{FF2B5EF4-FFF2-40B4-BE49-F238E27FC236}">
                <a16:creationId xmlns:a16="http://schemas.microsoft.com/office/drawing/2014/main" id="{61E66B1D-EC1B-4D7E-BBDB-CCC26D6DDA8D}"/>
              </a:ext>
            </a:extLst>
          </p:cNvPr>
          <p:cNvSpPr>
            <a:spLocks noGrp="1"/>
          </p:cNvSpPr>
          <p:nvPr/>
        </p:nvSpPr>
        <p:spPr>
          <a:xfrm>
            <a:off x="609600" y="1219200"/>
            <a:ext cx="10972800" cy="0"/>
          </a:xfrm>
          <a:prstGeom prst="line">
            <a:avLst/>
          </a:prstGeom>
          <a:noFill/>
          <a:ln w="9525">
            <a:solidFill>
              <a:srgbClr val="D4DDE2"/>
            </a:solidFill>
            <a:prstDash val="solid"/>
          </a:ln>
        </p:spPr>
        <p:txBody>
          <a:bodyPr/>
          <a:lstStyle/>
          <a:p>
            <a:endParaRPr lang="en-US"/>
          </a:p>
        </p:txBody>
      </p:sp>
      <p:sp>
        <p:nvSpPr>
          <p:cNvPr id="4" name="Rectangle 3">
            <a:extLst>
              <a:ext uri="{FF2B5EF4-FFF2-40B4-BE49-F238E27FC236}">
                <a16:creationId xmlns:a16="http://schemas.microsoft.com/office/drawing/2014/main" id="{15CB3EDD-06EF-4ED1-9AD2-52520FE1B518}"/>
              </a:ext>
            </a:extLst>
          </p:cNvPr>
          <p:cNvSpPr>
            <a:spLocks noGrp="1"/>
          </p:cNvSpPr>
          <p:nvPr/>
        </p:nvSpPr>
        <p:spPr>
          <a:xfrm>
            <a:off x="11239500" y="6419850"/>
            <a:ext cx="342900" cy="190500"/>
          </a:xfrm>
          <a:prstGeom prst="rect">
            <a:avLst/>
          </a:prstGeom>
          <a:noFill/>
          <a:ln w="0">
            <a:noFill/>
            <a:prstDash val="solid"/>
          </a:ln>
        </p:spPr>
        <p:txBody>
          <a:bodyPr anchor="t"/>
          <a:lstStyle/>
          <a:p>
            <a:pPr algn="r">
              <a:defRPr sz="900" b="1" i="0">
                <a:solidFill>
                  <a:srgbClr val="5E6B75"/>
                </a:solidFill>
              </a:defRPr>
            </a:pPr>
            <a:r>
              <a:rPr sz="900" b="1" i="0">
                <a:solidFill>
                  <a:srgbClr val="5E6B75"/>
                </a:solidFill>
              </a:rPr>
              <a:t>32</a:t>
            </a:r>
          </a:p>
        </p:txBody>
      </p:sp>
      <p:sp>
        <p:nvSpPr>
          <p:cNvPr id="5" name="Rectangle 4">
            <a:extLst>
              <a:ext uri="{FF2B5EF4-FFF2-40B4-BE49-F238E27FC236}">
                <a16:creationId xmlns:a16="http://schemas.microsoft.com/office/drawing/2014/main" id="{E38156EE-DEC5-405B-9DBA-2C886084E17A}"/>
              </a:ext>
            </a:extLst>
          </p:cNvPr>
          <p:cNvSpPr>
            <a:spLocks noGrp="1"/>
          </p:cNvSpPr>
          <p:nvPr/>
        </p:nvSpPr>
        <p:spPr>
          <a:xfrm>
            <a:off x="4095750" y="1504950"/>
            <a:ext cx="3143250" cy="285750"/>
          </a:xfrm>
          <a:prstGeom prst="rect">
            <a:avLst/>
          </a:prstGeom>
          <a:noFill/>
          <a:ln w="0">
            <a:noFill/>
            <a:prstDash val="solid"/>
          </a:ln>
        </p:spPr>
        <p:txBody>
          <a:bodyPr anchor="t"/>
          <a:lstStyle/>
          <a:p>
            <a:pPr algn="ctr">
              <a:defRPr sz="1350" b="1" i="0">
                <a:solidFill>
                  <a:srgbClr val="147D70"/>
                </a:solidFill>
              </a:defRPr>
            </a:pPr>
            <a:r>
              <a:rPr sz="1350" b="1" i="0">
                <a:solidFill>
                  <a:srgbClr val="147D70"/>
                </a:solidFill>
              </a:rPr>
              <a:t>What it supports</a:t>
            </a:r>
          </a:p>
        </p:txBody>
      </p:sp>
      <p:sp>
        <p:nvSpPr>
          <p:cNvPr id="6" name="Rectangle 5">
            <a:extLst>
              <a:ext uri="{FF2B5EF4-FFF2-40B4-BE49-F238E27FC236}">
                <a16:creationId xmlns:a16="http://schemas.microsoft.com/office/drawing/2014/main" id="{AF993470-6D4C-4412-8AB4-13D37E3E3219}"/>
              </a:ext>
            </a:extLst>
          </p:cNvPr>
          <p:cNvSpPr>
            <a:spLocks noGrp="1"/>
          </p:cNvSpPr>
          <p:nvPr/>
        </p:nvSpPr>
        <p:spPr>
          <a:xfrm>
            <a:off x="7886700" y="1504950"/>
            <a:ext cx="3238500" cy="285750"/>
          </a:xfrm>
          <a:prstGeom prst="rect">
            <a:avLst/>
          </a:prstGeom>
          <a:noFill/>
          <a:ln w="0">
            <a:noFill/>
            <a:prstDash val="solid"/>
          </a:ln>
        </p:spPr>
        <p:txBody>
          <a:bodyPr anchor="t"/>
          <a:lstStyle/>
          <a:p>
            <a:pPr algn="ctr">
              <a:defRPr sz="1350" b="1" i="0">
                <a:solidFill>
                  <a:srgbClr val="AD354A"/>
                </a:solidFill>
              </a:defRPr>
            </a:pPr>
            <a:r>
              <a:rPr sz="1350" b="1" i="0">
                <a:solidFill>
                  <a:srgbClr val="AD354A"/>
                </a:solidFill>
              </a:rPr>
              <a:t>What it does not prove</a:t>
            </a:r>
          </a:p>
        </p:txBody>
      </p:sp>
      <p:sp>
        <p:nvSpPr>
          <p:cNvPr id="7" name="Rectangle 6">
            <a:extLst>
              <a:ext uri="{FF2B5EF4-FFF2-40B4-BE49-F238E27FC236}">
                <a16:creationId xmlns:a16="http://schemas.microsoft.com/office/drawing/2014/main" id="{F669CADB-E262-46EA-B724-C95337D7D9CB}"/>
              </a:ext>
            </a:extLst>
          </p:cNvPr>
          <p:cNvSpPr>
            <a:spLocks noGrp="1"/>
          </p:cNvSpPr>
          <p:nvPr/>
        </p:nvSpPr>
        <p:spPr>
          <a:xfrm>
            <a:off x="666750" y="2038350"/>
            <a:ext cx="2857500" cy="400050"/>
          </a:xfrm>
          <a:prstGeom prst="rect">
            <a:avLst/>
          </a:prstGeom>
          <a:noFill/>
          <a:ln w="0">
            <a:noFill/>
            <a:prstDash val="solid"/>
          </a:ln>
        </p:spPr>
        <p:txBody>
          <a:bodyPr anchor="t"/>
          <a:lstStyle/>
          <a:p>
            <a:pPr algn="l">
              <a:defRPr sz="1500" b="1" i="0">
                <a:solidFill>
                  <a:srgbClr val="08065C"/>
                </a:solidFill>
              </a:defRPr>
            </a:pPr>
            <a:r>
              <a:rPr sz="1500" b="1" i="0">
                <a:solidFill>
                  <a:srgbClr val="08065C"/>
                </a:solidFill>
              </a:rPr>
              <a:t>Embedding distance</a:t>
            </a:r>
          </a:p>
        </p:txBody>
      </p:sp>
      <p:sp>
        <p:nvSpPr>
          <p:cNvPr id="8" name="Rectangle 7">
            <a:extLst>
              <a:ext uri="{FF2B5EF4-FFF2-40B4-BE49-F238E27FC236}">
                <a16:creationId xmlns:a16="http://schemas.microsoft.com/office/drawing/2014/main" id="{6558FAE1-3FF6-459E-B23C-FC568074312C}"/>
              </a:ext>
            </a:extLst>
          </p:cNvPr>
          <p:cNvSpPr>
            <a:spLocks noGrp="1"/>
          </p:cNvSpPr>
          <p:nvPr/>
        </p:nvSpPr>
        <p:spPr>
          <a:xfrm>
            <a:off x="3905250" y="2038350"/>
            <a:ext cx="342900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Magnitude of encoded change</a:t>
            </a:r>
          </a:p>
        </p:txBody>
      </p:sp>
      <p:sp>
        <p:nvSpPr>
          <p:cNvPr id="9" name="Rectangle 8">
            <a:extLst>
              <a:ext uri="{FF2B5EF4-FFF2-40B4-BE49-F238E27FC236}">
                <a16:creationId xmlns:a16="http://schemas.microsoft.com/office/drawing/2014/main" id="{97BE4576-E45A-4F0B-ABFE-FA9CB21ABC77}"/>
              </a:ext>
            </a:extLst>
          </p:cNvPr>
          <p:cNvSpPr>
            <a:spLocks noGrp="1"/>
          </p:cNvSpPr>
          <p:nvPr/>
        </p:nvSpPr>
        <p:spPr>
          <a:xfrm>
            <a:off x="7791450" y="2038350"/>
            <a:ext cx="352425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Ecological improvement, decline or cause</a:t>
            </a:r>
          </a:p>
        </p:txBody>
      </p:sp>
      <p:sp>
        <p:nvSpPr>
          <p:cNvPr id="10" name="Straight Connector 9">
            <a:extLst>
              <a:ext uri="{FF2B5EF4-FFF2-40B4-BE49-F238E27FC236}">
                <a16:creationId xmlns:a16="http://schemas.microsoft.com/office/drawing/2014/main" id="{2FA4FF1B-33E8-467B-B556-1447ACBD0131}"/>
              </a:ext>
            </a:extLst>
          </p:cNvPr>
          <p:cNvSpPr>
            <a:spLocks noGrp="1"/>
          </p:cNvSpPr>
          <p:nvPr/>
        </p:nvSpPr>
        <p:spPr>
          <a:xfrm>
            <a:off x="666750" y="2609850"/>
            <a:ext cx="10668000" cy="0"/>
          </a:xfrm>
          <a:prstGeom prst="line">
            <a:avLst/>
          </a:prstGeom>
          <a:noFill/>
          <a:ln w="9525">
            <a:solidFill>
              <a:srgbClr val="D4DDE2"/>
            </a:solidFill>
            <a:prstDash val="solid"/>
          </a:ln>
        </p:spPr>
        <p:txBody>
          <a:bodyPr/>
          <a:lstStyle/>
          <a:p>
            <a:endParaRPr lang="en-US"/>
          </a:p>
        </p:txBody>
      </p:sp>
      <p:sp>
        <p:nvSpPr>
          <p:cNvPr id="11" name="Rectangle 10">
            <a:extLst>
              <a:ext uri="{FF2B5EF4-FFF2-40B4-BE49-F238E27FC236}">
                <a16:creationId xmlns:a16="http://schemas.microsoft.com/office/drawing/2014/main" id="{75B760FF-8DAF-47FD-A99F-AD94158EED96}"/>
              </a:ext>
            </a:extLst>
          </p:cNvPr>
          <p:cNvSpPr>
            <a:spLocks noGrp="1"/>
          </p:cNvSpPr>
          <p:nvPr/>
        </p:nvSpPr>
        <p:spPr>
          <a:xfrm>
            <a:off x="666750" y="2819400"/>
            <a:ext cx="2857500" cy="400050"/>
          </a:xfrm>
          <a:prstGeom prst="rect">
            <a:avLst/>
          </a:prstGeom>
          <a:noFill/>
          <a:ln w="0">
            <a:noFill/>
            <a:prstDash val="solid"/>
          </a:ln>
        </p:spPr>
        <p:txBody>
          <a:bodyPr anchor="t"/>
          <a:lstStyle/>
          <a:p>
            <a:pPr algn="l">
              <a:defRPr sz="1500" b="1" i="0">
                <a:solidFill>
                  <a:srgbClr val="08065C"/>
                </a:solidFill>
              </a:defRPr>
            </a:pPr>
            <a:r>
              <a:rPr sz="1500" b="1" i="0">
                <a:solidFill>
                  <a:srgbClr val="08065C"/>
                </a:solidFill>
              </a:rPr>
              <a:t>DEA changed share</a:t>
            </a:r>
          </a:p>
        </p:txBody>
      </p:sp>
      <p:sp>
        <p:nvSpPr>
          <p:cNvPr id="12" name="Rectangle 11">
            <a:extLst>
              <a:ext uri="{FF2B5EF4-FFF2-40B4-BE49-F238E27FC236}">
                <a16:creationId xmlns:a16="http://schemas.microsoft.com/office/drawing/2014/main" id="{69875C97-C28B-43DE-BEF1-F6B0A948F582}"/>
              </a:ext>
            </a:extLst>
          </p:cNvPr>
          <p:cNvSpPr>
            <a:spLocks noGrp="1"/>
          </p:cNvSpPr>
          <p:nvPr/>
        </p:nvSpPr>
        <p:spPr>
          <a:xfrm>
            <a:off x="3905250" y="2819400"/>
            <a:ext cx="342900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Independent land-cover agreement / enrichment</a:t>
            </a:r>
          </a:p>
        </p:txBody>
      </p:sp>
      <p:sp>
        <p:nvSpPr>
          <p:cNvPr id="13" name="Rectangle 12">
            <a:extLst>
              <a:ext uri="{FF2B5EF4-FFF2-40B4-BE49-F238E27FC236}">
                <a16:creationId xmlns:a16="http://schemas.microsoft.com/office/drawing/2014/main" id="{DAFB5B33-7E5E-4029-BE38-6302754D4AB8}"/>
              </a:ext>
            </a:extLst>
          </p:cNvPr>
          <p:cNvSpPr>
            <a:spLocks noGrp="1"/>
          </p:cNvSpPr>
          <p:nvPr/>
        </p:nvSpPr>
        <p:spPr>
          <a:xfrm>
            <a:off x="7791450" y="2819400"/>
            <a:ext cx="352425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Embedding accuracy</a:t>
            </a:r>
          </a:p>
        </p:txBody>
      </p:sp>
      <p:sp>
        <p:nvSpPr>
          <p:cNvPr id="14" name="Straight Connector 13">
            <a:extLst>
              <a:ext uri="{FF2B5EF4-FFF2-40B4-BE49-F238E27FC236}">
                <a16:creationId xmlns:a16="http://schemas.microsoft.com/office/drawing/2014/main" id="{8EDCBBAD-684D-452F-8E10-1FCB608D4054}"/>
              </a:ext>
            </a:extLst>
          </p:cNvPr>
          <p:cNvSpPr>
            <a:spLocks noGrp="1"/>
          </p:cNvSpPr>
          <p:nvPr/>
        </p:nvSpPr>
        <p:spPr>
          <a:xfrm>
            <a:off x="666750" y="3390900"/>
            <a:ext cx="10668000" cy="0"/>
          </a:xfrm>
          <a:prstGeom prst="line">
            <a:avLst/>
          </a:prstGeom>
          <a:noFill/>
          <a:ln w="9525">
            <a:solidFill>
              <a:srgbClr val="D4DDE2"/>
            </a:solidFill>
            <a:prstDash val="solid"/>
          </a:ln>
        </p:spPr>
        <p:txBody>
          <a:bodyPr/>
          <a:lstStyle/>
          <a:p>
            <a:endParaRPr lang="en-US"/>
          </a:p>
        </p:txBody>
      </p:sp>
      <p:sp>
        <p:nvSpPr>
          <p:cNvPr id="15" name="Rectangle 14">
            <a:extLst>
              <a:ext uri="{FF2B5EF4-FFF2-40B4-BE49-F238E27FC236}">
                <a16:creationId xmlns:a16="http://schemas.microsoft.com/office/drawing/2014/main" id="{4C5E2EAF-776D-4166-AC5A-253C7545A5AC}"/>
              </a:ext>
            </a:extLst>
          </p:cNvPr>
          <p:cNvSpPr>
            <a:spLocks noGrp="1"/>
          </p:cNvSpPr>
          <p:nvPr/>
        </p:nvSpPr>
        <p:spPr>
          <a:xfrm>
            <a:off x="666750" y="3600450"/>
            <a:ext cx="2857500" cy="400050"/>
          </a:xfrm>
          <a:prstGeom prst="rect">
            <a:avLst/>
          </a:prstGeom>
          <a:noFill/>
          <a:ln w="0">
            <a:noFill/>
            <a:prstDash val="solid"/>
          </a:ln>
        </p:spPr>
        <p:txBody>
          <a:bodyPr anchor="t"/>
          <a:lstStyle/>
          <a:p>
            <a:pPr algn="l">
              <a:defRPr sz="1500" b="1" i="0">
                <a:solidFill>
                  <a:srgbClr val="08065C"/>
                </a:solidFill>
              </a:defRPr>
            </a:pPr>
            <a:r>
              <a:rPr sz="1500" b="1" i="0">
                <a:solidFill>
                  <a:srgbClr val="08065C"/>
                </a:solidFill>
              </a:rPr>
              <a:t>NDVI</a:t>
            </a:r>
          </a:p>
        </p:txBody>
      </p:sp>
      <p:sp>
        <p:nvSpPr>
          <p:cNvPr id="16" name="Rectangle 15">
            <a:extLst>
              <a:ext uri="{FF2B5EF4-FFF2-40B4-BE49-F238E27FC236}">
                <a16:creationId xmlns:a16="http://schemas.microsoft.com/office/drawing/2014/main" id="{5C987506-69B2-41FD-9776-BE5CDDA11D32}"/>
              </a:ext>
            </a:extLst>
          </p:cNvPr>
          <p:cNvSpPr>
            <a:spLocks noGrp="1"/>
          </p:cNvSpPr>
          <p:nvPr/>
        </p:nvSpPr>
        <p:spPr>
          <a:xfrm>
            <a:off x="3905250" y="3600450"/>
            <a:ext cx="342900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Vegetation greenness direction</a:t>
            </a:r>
          </a:p>
        </p:txBody>
      </p:sp>
      <p:sp>
        <p:nvSpPr>
          <p:cNvPr id="17" name="Rectangle 16">
            <a:extLst>
              <a:ext uri="{FF2B5EF4-FFF2-40B4-BE49-F238E27FC236}">
                <a16:creationId xmlns:a16="http://schemas.microsoft.com/office/drawing/2014/main" id="{09383650-8AFE-415D-ADF9-6ADEFB005780}"/>
              </a:ext>
            </a:extLst>
          </p:cNvPr>
          <p:cNvSpPr>
            <a:spLocks noGrp="1"/>
          </p:cNvSpPr>
          <p:nvPr/>
        </p:nvSpPr>
        <p:spPr>
          <a:xfrm>
            <a:off x="7791450" y="3600450"/>
            <a:ext cx="352425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Complete land-cover classification</a:t>
            </a:r>
          </a:p>
        </p:txBody>
      </p:sp>
      <p:sp>
        <p:nvSpPr>
          <p:cNvPr id="18" name="Straight Connector 17">
            <a:extLst>
              <a:ext uri="{FF2B5EF4-FFF2-40B4-BE49-F238E27FC236}">
                <a16:creationId xmlns:a16="http://schemas.microsoft.com/office/drawing/2014/main" id="{E96FC3FA-1F85-4072-B8C8-E56626628D80}"/>
              </a:ext>
            </a:extLst>
          </p:cNvPr>
          <p:cNvSpPr>
            <a:spLocks noGrp="1"/>
          </p:cNvSpPr>
          <p:nvPr/>
        </p:nvSpPr>
        <p:spPr>
          <a:xfrm>
            <a:off x="666750" y="4171950"/>
            <a:ext cx="10668000" cy="0"/>
          </a:xfrm>
          <a:prstGeom prst="line">
            <a:avLst/>
          </a:prstGeom>
          <a:noFill/>
          <a:ln w="9525">
            <a:solidFill>
              <a:srgbClr val="D4DDE2"/>
            </a:solidFill>
            <a:prstDash val="solid"/>
          </a:ln>
        </p:spPr>
        <p:txBody>
          <a:bodyPr/>
          <a:lstStyle/>
          <a:p>
            <a:endParaRPr lang="en-US"/>
          </a:p>
        </p:txBody>
      </p:sp>
      <p:sp>
        <p:nvSpPr>
          <p:cNvPr id="19" name="Rectangle 18">
            <a:extLst>
              <a:ext uri="{FF2B5EF4-FFF2-40B4-BE49-F238E27FC236}">
                <a16:creationId xmlns:a16="http://schemas.microsoft.com/office/drawing/2014/main" id="{0BABA8B4-AB1D-4A8F-AA5B-80DB0F32DCE7}"/>
              </a:ext>
            </a:extLst>
          </p:cNvPr>
          <p:cNvSpPr>
            <a:spLocks noGrp="1"/>
          </p:cNvSpPr>
          <p:nvPr/>
        </p:nvSpPr>
        <p:spPr>
          <a:xfrm>
            <a:off x="666750" y="4381500"/>
            <a:ext cx="2857500" cy="400050"/>
          </a:xfrm>
          <a:prstGeom prst="rect">
            <a:avLst/>
          </a:prstGeom>
          <a:noFill/>
          <a:ln w="0">
            <a:noFill/>
            <a:prstDash val="solid"/>
          </a:ln>
        </p:spPr>
        <p:txBody>
          <a:bodyPr anchor="t"/>
          <a:lstStyle/>
          <a:p>
            <a:pPr algn="l">
              <a:defRPr sz="1500" b="1" i="0">
                <a:solidFill>
                  <a:srgbClr val="08065C"/>
                </a:solidFill>
              </a:defRPr>
            </a:pPr>
            <a:r>
              <a:rPr sz="1500" b="1" i="0">
                <a:solidFill>
                  <a:srgbClr val="08065C"/>
                </a:solidFill>
              </a:rPr>
              <a:t>30 m common grid</a:t>
            </a:r>
          </a:p>
        </p:txBody>
      </p:sp>
      <p:sp>
        <p:nvSpPr>
          <p:cNvPr id="20" name="Rectangle 19">
            <a:extLst>
              <a:ext uri="{FF2B5EF4-FFF2-40B4-BE49-F238E27FC236}">
                <a16:creationId xmlns:a16="http://schemas.microsoft.com/office/drawing/2014/main" id="{15766BF7-C3EC-4E07-A693-3F527FD9E156}"/>
              </a:ext>
            </a:extLst>
          </p:cNvPr>
          <p:cNvSpPr>
            <a:spLocks noGrp="1"/>
          </p:cNvSpPr>
          <p:nvPr/>
        </p:nvSpPr>
        <p:spPr>
          <a:xfrm>
            <a:off x="3905250" y="4381500"/>
            <a:ext cx="342900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Comparable integration and delivery layer</a:t>
            </a:r>
          </a:p>
        </p:txBody>
      </p:sp>
      <p:sp>
        <p:nvSpPr>
          <p:cNvPr id="21" name="Rectangle 20">
            <a:extLst>
              <a:ext uri="{FF2B5EF4-FFF2-40B4-BE49-F238E27FC236}">
                <a16:creationId xmlns:a16="http://schemas.microsoft.com/office/drawing/2014/main" id="{0C40DC4E-6ED6-4272-8F85-6E09860CBD0E}"/>
              </a:ext>
            </a:extLst>
          </p:cNvPr>
          <p:cNvSpPr>
            <a:spLocks noGrp="1"/>
          </p:cNvSpPr>
          <p:nvPr/>
        </p:nvSpPr>
        <p:spPr>
          <a:xfrm>
            <a:off x="7791450" y="4381500"/>
            <a:ext cx="352425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Replacement of the original 10 m rasters</a:t>
            </a:r>
          </a:p>
        </p:txBody>
      </p:sp>
      <p:sp>
        <p:nvSpPr>
          <p:cNvPr id="22" name="Straight Connector 21">
            <a:extLst>
              <a:ext uri="{FF2B5EF4-FFF2-40B4-BE49-F238E27FC236}">
                <a16:creationId xmlns:a16="http://schemas.microsoft.com/office/drawing/2014/main" id="{06B23776-9B75-434B-9EDE-8B91A8242019}"/>
              </a:ext>
            </a:extLst>
          </p:cNvPr>
          <p:cNvSpPr>
            <a:spLocks noGrp="1"/>
          </p:cNvSpPr>
          <p:nvPr/>
        </p:nvSpPr>
        <p:spPr>
          <a:xfrm>
            <a:off x="666750" y="4953000"/>
            <a:ext cx="10668000" cy="0"/>
          </a:xfrm>
          <a:prstGeom prst="line">
            <a:avLst/>
          </a:prstGeom>
          <a:noFill/>
          <a:ln w="9525">
            <a:solidFill>
              <a:srgbClr val="D4DDE2"/>
            </a:solidFill>
            <a:prstDash val="solid"/>
          </a:ln>
        </p:spPr>
        <p:txBody>
          <a:bodyPr/>
          <a:lstStyle/>
          <a:p>
            <a:endParaRPr lang="en-US"/>
          </a:p>
        </p:txBody>
      </p:sp>
      <p:sp>
        <p:nvSpPr>
          <p:cNvPr id="23" name="Rectangle 22">
            <a:extLst>
              <a:ext uri="{FF2B5EF4-FFF2-40B4-BE49-F238E27FC236}">
                <a16:creationId xmlns:a16="http://schemas.microsoft.com/office/drawing/2014/main" id="{13747EC5-354E-4254-8D86-37F8F5CC5106}"/>
              </a:ext>
            </a:extLst>
          </p:cNvPr>
          <p:cNvSpPr>
            <a:spLocks noGrp="1"/>
          </p:cNvSpPr>
          <p:nvPr/>
        </p:nvSpPr>
        <p:spPr>
          <a:xfrm>
            <a:off x="666750" y="5162550"/>
            <a:ext cx="2857500" cy="400050"/>
          </a:xfrm>
          <a:prstGeom prst="rect">
            <a:avLst/>
          </a:prstGeom>
          <a:noFill/>
          <a:ln w="0">
            <a:noFill/>
            <a:prstDash val="solid"/>
          </a:ln>
        </p:spPr>
        <p:txBody>
          <a:bodyPr anchor="t"/>
          <a:lstStyle/>
          <a:p>
            <a:pPr algn="l">
              <a:defRPr sz="1500" b="1" i="0">
                <a:solidFill>
                  <a:srgbClr val="08065C"/>
                </a:solidFill>
              </a:defRPr>
            </a:pPr>
            <a:r>
              <a:rPr sz="1500" b="1" i="0">
                <a:solidFill>
                  <a:srgbClr val="08065C"/>
                </a:solidFill>
              </a:rPr>
              <a:t>Behavioural category</a:t>
            </a:r>
          </a:p>
        </p:txBody>
      </p:sp>
      <p:sp>
        <p:nvSpPr>
          <p:cNvPr id="24" name="Rectangle 23">
            <a:extLst>
              <a:ext uri="{FF2B5EF4-FFF2-40B4-BE49-F238E27FC236}">
                <a16:creationId xmlns:a16="http://schemas.microsoft.com/office/drawing/2014/main" id="{668D3A28-AE37-4710-9F0B-E1095571CECE}"/>
              </a:ext>
            </a:extLst>
          </p:cNvPr>
          <p:cNvSpPr>
            <a:spLocks noGrp="1"/>
          </p:cNvSpPr>
          <p:nvPr/>
        </p:nvSpPr>
        <p:spPr>
          <a:xfrm>
            <a:off x="3905250" y="5162550"/>
            <a:ext cx="342900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Rule-based temporal archetype</a:t>
            </a:r>
          </a:p>
        </p:txBody>
      </p:sp>
      <p:sp>
        <p:nvSpPr>
          <p:cNvPr id="25" name="Rectangle 24">
            <a:extLst>
              <a:ext uri="{FF2B5EF4-FFF2-40B4-BE49-F238E27FC236}">
                <a16:creationId xmlns:a16="http://schemas.microsoft.com/office/drawing/2014/main" id="{0DC9EF13-5321-4B46-90DD-4E5D8170CA13}"/>
              </a:ext>
            </a:extLst>
          </p:cNvPr>
          <p:cNvSpPr>
            <a:spLocks noGrp="1"/>
          </p:cNvSpPr>
          <p:nvPr/>
        </p:nvSpPr>
        <p:spPr>
          <a:xfrm>
            <a:off x="7791450" y="5162550"/>
            <a:ext cx="3524250" cy="476250"/>
          </a:xfrm>
          <a:prstGeom prst="rect">
            <a:avLst/>
          </a:prstGeom>
          <a:noFill/>
          <a:ln w="0">
            <a:noFill/>
            <a:prstDash val="solid"/>
          </a:ln>
        </p:spPr>
        <p:txBody>
          <a:bodyPr anchor="t"/>
          <a:lstStyle/>
          <a:p>
            <a:pPr algn="ctr">
              <a:defRPr sz="1350" b="0" i="0">
                <a:solidFill>
                  <a:srgbClr val="18232B"/>
                </a:solidFill>
              </a:defRPr>
            </a:pPr>
            <a:r>
              <a:rPr sz="1350" b="0" i="0">
                <a:solidFill>
                  <a:srgbClr val="18232B"/>
                </a:solidFill>
              </a:rPr>
              <a:t>Definitive ecological process</a:t>
            </a:r>
          </a:p>
        </p:txBody>
      </p:sp>
      <p:sp>
        <p:nvSpPr>
          <p:cNvPr id="26" name="Straight Connector 25">
            <a:extLst>
              <a:ext uri="{FF2B5EF4-FFF2-40B4-BE49-F238E27FC236}">
                <a16:creationId xmlns:a16="http://schemas.microsoft.com/office/drawing/2014/main" id="{B4652C38-8AFF-43C7-82CC-807EA0A8EF8B}"/>
              </a:ext>
            </a:extLst>
          </p:cNvPr>
          <p:cNvSpPr>
            <a:spLocks noGrp="1"/>
          </p:cNvSpPr>
          <p:nvPr/>
        </p:nvSpPr>
        <p:spPr>
          <a:xfrm>
            <a:off x="666750" y="5734050"/>
            <a:ext cx="10668000" cy="0"/>
          </a:xfrm>
          <a:prstGeom prst="line">
            <a:avLst/>
          </a:prstGeom>
          <a:noFill/>
          <a:ln w="9525">
            <a:solidFill>
              <a:srgbClr val="D4DDE2"/>
            </a:solidFill>
            <a:prstDash val="solid"/>
          </a:ln>
        </p:spPr>
        <p:txBody>
          <a:bodyPr/>
          <a:lstStyle/>
          <a:p>
            <a:endParaRPr lang="en-US"/>
          </a:p>
        </p:txBody>
      </p:sp>
    </p:spTree>
    <p:extLst>
      <p:ext uri="{BB962C8B-B14F-4D97-AF65-F5344CB8AC3E}">
        <p14:creationId xmlns:p14="http://schemas.microsoft.com/office/powerpoint/2010/main" val="11555113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ddaa77bc-0157-46a4-82a6-8fc765694bc9}" enabled="1" method="Standard" siteId="{d1323671-cdbe-4417-b4d4-bdb24b51316b}" contentBits="0" removed="0"/>
</clbl:labelList>
</file>

<file path=docProps/app.xml><?xml version="1.0" encoding="utf-8"?>
<Properties xmlns="http://schemas.openxmlformats.org/officeDocument/2006/extended-properties" xmlns:vt="http://schemas.openxmlformats.org/officeDocument/2006/docPropsVTypes">
  <TotalTime>1845</TotalTime>
  <Words>7717</Words>
  <Application>Microsoft Macintosh PowerPoint</Application>
  <DocSecurity>0</DocSecurity>
  <PresentationFormat>Widescreen</PresentationFormat>
  <Paragraphs>876</Paragraphs>
  <Slides>32</Slides>
  <Notes>31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32</vt:i4>
      </vt:variant>
    </vt:vector>
  </HeadingPairs>
  <TitlesOfParts>
    <vt:vector size="34"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Paul Phan</cp:lastModifiedBy>
  <cp:revision>2</cp:revision>
  <dcterms:created xsi:type="dcterms:W3CDTF">2026-08-06T12:09:51Z</dcterms:created>
  <dcterms:modified xsi:type="dcterms:W3CDTF">2026-08-08T07:56:33Z</dcterms:modified>
</cp:coreProperties>
</file>