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9"/>
  </p:normalViewPr>
  <p:slideViewPr>
    <p:cSldViewPr snapToGrid="0">
      <p:cViewPr varScale="1">
        <p:scale>
          <a:sx n="103" d="100"/>
          <a:sy n="103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Annual embedding distance</c:v>
          </c:tx>
          <c:spPr>
            <a:ln w="28575">
              <a:solidFill>
                <a:srgbClr val="D48728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D48728"/>
              </a:solidFill>
            </c:spPr>
          </c:marker>
          <c:cat>
            <c:strLit>
              <c:ptCount val="7"/>
              <c:pt idx="0">
                <c:v>17→18</c:v>
              </c:pt>
              <c:pt idx="1">
                <c:v>18→19</c:v>
              </c:pt>
              <c:pt idx="2">
                <c:v>19→20</c:v>
              </c:pt>
              <c:pt idx="3">
                <c:v>20→21</c:v>
              </c:pt>
              <c:pt idx="4">
                <c:v>21→22</c:v>
              </c:pt>
              <c:pt idx="5">
                <c:v>22→23</c:v>
              </c:pt>
              <c:pt idx="6">
                <c:v>23→24</c:v>
              </c:pt>
            </c:strLit>
          </c:cat>
          <c:val>
            <c:numLit>
              <c:formatCode>General</c:formatCode>
              <c:ptCount val="7"/>
              <c:pt idx="0">
                <c:v>0.12</c:v>
              </c:pt>
              <c:pt idx="1">
                <c:v>0.5</c:v>
              </c:pt>
              <c:pt idx="2">
                <c:v>0.3</c:v>
              </c:pt>
              <c:pt idx="3">
                <c:v>0.6</c:v>
              </c:pt>
              <c:pt idx="4">
                <c:v>0.1</c:v>
              </c:pt>
              <c:pt idx="5">
                <c:v>0.55000000000000004</c:v>
              </c:pt>
              <c:pt idx="6">
                <c:v>0.2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E7A5-E544-8577-448B0A7A53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6B7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w="9525">
              <a:solidFill>
                <a:srgbClr val="D4DDE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Embedding distance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6B75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Embedding distance</c:v>
          </c:tx>
          <c:spPr>
            <a:ln w="28575">
              <a:solidFill>
                <a:srgbClr val="D48728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D48728"/>
              </a:solidFill>
            </c:spPr>
          </c:marker>
          <c:cat>
            <c:strLit>
              <c:ptCount val="7"/>
              <c:pt idx="0">
                <c:v>17–18</c:v>
              </c:pt>
              <c:pt idx="1">
                <c:v>18–19</c:v>
              </c:pt>
              <c:pt idx="2">
                <c:v>19–20</c:v>
              </c:pt>
              <c:pt idx="3">
                <c:v>20–21</c:v>
              </c:pt>
              <c:pt idx="4">
                <c:v>21–22</c:v>
              </c:pt>
              <c:pt idx="5">
                <c:v>22–23</c:v>
              </c:pt>
              <c:pt idx="6">
                <c:v>23–24</c:v>
              </c:pt>
            </c:strLit>
          </c:cat>
          <c:val>
            <c:numLit>
              <c:formatCode>General</c:formatCode>
              <c:ptCount val="7"/>
              <c:pt idx="0">
                <c:v>0.54700000000000004</c:v>
              </c:pt>
              <c:pt idx="1">
                <c:v>0.83399999999999996</c:v>
              </c:pt>
              <c:pt idx="2">
                <c:v>0.40799999999999997</c:v>
              </c:pt>
              <c:pt idx="3">
                <c:v>0.122</c:v>
              </c:pt>
              <c:pt idx="4">
                <c:v>0.29199999999999998</c:v>
              </c:pt>
              <c:pt idx="5">
                <c:v>0.11</c:v>
              </c:pt>
              <c:pt idx="6">
                <c:v>0.14099999999999999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0102-CE4C-A52E-21A88E7A7F6B}"/>
            </c:ext>
          </c:extLst>
        </c:ser>
        <c:ser>
          <c:idx val="1"/>
          <c:order val="1"/>
          <c:tx>
            <c:v>Strong-change threshold</c:v>
          </c:tx>
          <c:spPr>
            <a:ln w="19050">
              <a:solidFill>
                <a:srgbClr val="5E6B75"/>
              </a:solidFill>
              <a:prstDash val="dash"/>
            </a:ln>
          </c:spPr>
          <c:marker>
            <c:symbol val="none"/>
          </c:marker>
          <c:cat>
            <c:strLit>
              <c:ptCount val="7"/>
              <c:pt idx="0">
                <c:v>17–18</c:v>
              </c:pt>
              <c:pt idx="1">
                <c:v>18–19</c:v>
              </c:pt>
              <c:pt idx="2">
                <c:v>19–20</c:v>
              </c:pt>
              <c:pt idx="3">
                <c:v>20–21</c:v>
              </c:pt>
              <c:pt idx="4">
                <c:v>21–22</c:v>
              </c:pt>
              <c:pt idx="5">
                <c:v>22–23</c:v>
              </c:pt>
              <c:pt idx="6">
                <c:v>23–24</c:v>
              </c:pt>
            </c:strLit>
          </c:cat>
          <c:val>
            <c:numLit>
              <c:formatCode>General</c:formatCode>
              <c:ptCount val="7"/>
              <c:pt idx="0">
                <c:v>0.45</c:v>
              </c:pt>
              <c:pt idx="1">
                <c:v>0.45</c:v>
              </c:pt>
              <c:pt idx="2">
                <c:v>0.45</c:v>
              </c:pt>
              <c:pt idx="3">
                <c:v>0.45</c:v>
              </c:pt>
              <c:pt idx="4">
                <c:v>0.45</c:v>
              </c:pt>
              <c:pt idx="5">
                <c:v>0.45</c:v>
              </c:pt>
              <c:pt idx="6">
                <c:v>0.45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0102-CE4C-A52E-21A88E7A7F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5E6B7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w="9525">
              <a:solidFill>
                <a:srgbClr val="D4DDE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E6B75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3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>
              <a:solidFill>
                <a:srgbClr val="5E6B7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4DDE2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establish the basic unit of the workflow without beginning with equations.</a:t>
            </a:r>
          </a:p>
          <a:p>
            <a:r>
              <a:t>Start with the image on the left: Google provides an annual Satellite Embedding layer. It divides the landscape into 10 metre cells.</a:t>
            </a:r>
          </a:p>
          <a:p>
            <a:r>
              <a:t>At every cell and year, the model stores 64 numbers. Together, those numbers are a learned fingerprint of the satellite-observed landscape signal.</a:t>
            </a:r>
          </a:p>
          <a:p>
            <a:r>
              <a:t>The individual dimensions are not labels such as forest, road or house. Their value is that the full 64-number fingerprint is comparable across space and time.</a:t>
            </a:r>
          </a:p>
          <a:p>
            <a:r>
              <a:t>Key line to say: every place gets one comparable annual fingerprint, so the same place can be tracked through time.</a:t>
            </a:r>
          </a:p>
          <a:p>
            <a:r>
              <a:t>Transition: the next slide shows how two fingerprints become a change score.</a:t>
            </a:r>
          </a:p>
          <a:p>
            <a:endParaRPr/>
          </a:p>
          <a:p>
            <a:r>
              <a:t>[Sources]</a:t>
            </a:r>
          </a:p>
          <a:p>
            <a:r>
              <a:t>- Google Earth Engine Data Catalog, Satellite Embedding V1 Annual: https://developers.google.com/earth-engine/datasets/catalog/GOOGLE_SATELLITE_EMBEDDING_V1_ANNUAL</a:t>
            </a:r>
          </a:p>
          <a:p>
            <a:r>
              <a:t>- Local asset: .tmp/aushabitat_presentation/assets/google_satellite_embedding_catalog.png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explain Euclidean distance as a visual comparison, not as a mathematical lecture.</a:t>
            </a:r>
          </a:p>
          <a:p>
            <a:r>
              <a:t>Point to the two boxes. They represent the same coordinate in two consecutive years. Each contains a 64-number fingerprint.</a:t>
            </a:r>
          </a:p>
          <a:p>
            <a:r>
              <a:t>We calculate the straight-line distance between those two fingerprints in the 64-dimensional embedding space. This is Euclidean distance.</a:t>
            </a:r>
          </a:p>
          <a:p>
            <a:r>
              <a:t>A small distance means the encoded satellite signal stayed similar. A large distance means it changed more strongly.</a:t>
            </a:r>
          </a:p>
          <a:p>
            <a:r>
              <a:t>We repeat the calculation for 2017 to 2018, 2018 to 2019, and so on through 2023 to 2024. That gives seven annual change values per cell.</a:t>
            </a:r>
          </a:p>
          <a:p>
            <a:r>
              <a:t>Important limitation: distance measures magnitude only. It does not say whether change was good or bad, nor what caused it.</a:t>
            </a:r>
          </a:p>
          <a:p>
            <a:r>
              <a:t>Transition: once we have seven values, the pattern of that sequence becomes informative.</a:t>
            </a:r>
          </a:p>
          <a:p>
            <a:endParaRPr/>
          </a:p>
          <a:p>
            <a:r>
              <a:t>[Sources]</a:t>
            </a:r>
          </a:p>
          <a:p>
            <a:r>
              <a:t>- Google Satellite Embedding documentation and project implementation: https://developers.google.com/earth-engine/datasets/catalog/GOOGLE_SATELLITE_EMBEDDING_V1_ANNUAL</a:t>
            </a:r>
          </a:p>
          <a:p>
            <a:r>
              <a:t>- Local project methodology: AusHabitat_Latex/main.tex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turn the seven-number history into four questions a client can understand.</a:t>
            </a:r>
          </a:p>
          <a:p>
            <a:r>
              <a:t>Repeated strong change is the persistence count: how many of the seven annual distances crossed the fixed strong-change threshold of 0.45.</a:t>
            </a:r>
          </a:p>
          <a:p>
            <a:r>
              <a:t>Year-to-year variation is variance. Low variance means the annual scores are relatively similar; high variance means some years stand out strongly from the others.</a:t>
            </a:r>
          </a:p>
          <a:p>
            <a:r>
              <a:t>Change trend is the slope of a straight line fitted through the seven annual scores. A positive slope means change intensity generally increased; a negative slope means it generally declined.</a:t>
            </a:r>
          </a:p>
          <a:p>
            <a:r>
              <a:t>Strongest period is simply the interval with the maximum annual change score.</a:t>
            </a:r>
          </a:p>
          <a:p>
            <a:r>
              <a:t>These are behavioural descriptions. They characterise timing and intensity, but they do not identify a real-world cause by themselves.</a:t>
            </a:r>
          </a:p>
          <a:p>
            <a:r>
              <a:t>Transition: the next slide introduces independent land-cover and vegetation evidence to help interpret the signal.</a:t>
            </a:r>
          </a:p>
          <a:p>
            <a:endParaRPr/>
          </a:p>
          <a:p>
            <a:r>
              <a:t>[Sources]</a:t>
            </a:r>
          </a:p>
          <a:p>
            <a:r>
              <a:t>- Local project methodology and thresholds: AusHabitat_Latex/main.tex</a:t>
            </a:r>
          </a:p>
          <a:p>
            <a:r>
              <a:t>- Local raster outputs: GEE_BassCoast_Data/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show that the external datasets complement the AI signal rather than replacing it.</a:t>
            </a:r>
          </a:p>
          <a:p>
            <a:r>
              <a:t>The embedding evidence begins at 10 metre resolution. DEA Land Cover and the annual DEA GeoMAD data used for NDVI are approximately 30 metres.</a:t>
            </a:r>
          </a:p>
          <a:p>
            <a:r>
              <a:t>For comparison, nine 10 metre embedding cells are summarised into the corresponding 30 metre area. We retain useful statistics such as mean change, hot-cell share and repeated-change evidence.</a:t>
            </a:r>
          </a:p>
          <a:p>
            <a:r>
              <a:t>DEA Land Cover supplies broad and detailed annual land-cover classes. NDVI supplies an annual vegetation-greenness value from minus one to one.</a:t>
            </a:r>
          </a:p>
          <a:p>
            <a:r>
              <a:t>The three sources answer different questions: AI indicates where and how strongly the encoded landscape changed; DEA describes broad land-cover context; NDVI indicates vegetation direction.</a:t>
            </a:r>
          </a:p>
          <a:p>
            <a:r>
              <a:t>The 30 metre alignment does not erase the original 10 metre raster. The web layer is an aligned summary designed for comparison and interaction.</a:t>
            </a:r>
          </a:p>
          <a:p>
            <a:endParaRPr/>
          </a:p>
          <a:p>
            <a:r>
              <a:t>[Sources]</a:t>
            </a:r>
          </a:p>
          <a:p>
            <a:r>
              <a:t>- DEA Land Cover: https://knowledge.dea.ga.gov.au/data/product/dea-land-cover-landsat/</a:t>
            </a:r>
          </a:p>
          <a:p>
            <a:r>
              <a:t>- DEA GeoMAD: https://knowledge.dea.ga.gov.au/data/product/dea-geometric-median-and-median-absolute-deviation-landsat/</a:t>
            </a:r>
          </a:p>
          <a:p>
            <a:r>
              <a:t>- Local implementation and outputs: phase3_dea_landcover_pipeline.py and BassCoast_Phase8_NDVI_Pilot_outputs/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explain why the application shows regions instead of millions of small squares.</a:t>
            </a:r>
          </a:p>
          <a:p>
            <a:r>
              <a:t>After alignment to 30 metre cells, neighbouring cells are connected when they touch and have the same map state: change region or low-change reference.</a:t>
            </a:r>
          </a:p>
          <a:p>
            <a:r>
              <a:t>This is a connected-components grouping step. It produces one boundary that corresponds more closely to a practical landscape area than a collection of tiny squares.</a:t>
            </a:r>
          </a:p>
          <a:p>
            <a:r>
              <a:t>Cells inside a region do not need identical annual histories. The region preserves variation using measures such as the share of area showing repeated change or strong endpoint change.</a:t>
            </a:r>
          </a:p>
          <a:p>
            <a:r>
              <a:t>The trade-off is that the region boundary is a communication and interaction layer, not a claim that every square metre inside behaved identically.</a:t>
            </a:r>
          </a:p>
          <a:p>
            <a:r>
              <a:t>Transition: the Wonthaggi case shows how the separate evidence sources read together at one location.</a:t>
            </a:r>
          </a:p>
          <a:p>
            <a:endParaRPr/>
          </a:p>
          <a:p>
            <a:r>
              <a:t>[Sources]</a:t>
            </a:r>
          </a:p>
          <a:p>
            <a:r>
              <a:t>- Local map-preparation implementation and outputs: BassCoast_Phase9_Map_Data_Preparation_outputs/</a:t>
            </a:r>
          </a:p>
          <a:p>
            <a:r>
              <a:t>- Local web application: bass-coast-change-map/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provide a concrete, visually legible example of the complete evidence chain.</a:t>
            </a:r>
          </a:p>
          <a:p>
            <a:r>
              <a:t>The two left images are public, date-specific Sentinel-2 Level-2A true-colour scenes at 10 metre resolution. They show the same 640 metre area and exact crosshair coordinate on 9 March 2017 and 3 October 2024.</a:t>
            </a:r>
          </a:p>
          <a:p>
            <a:r>
              <a:t>The visible surface changes substantially between the dates. The AI endpoint distance at this location is 1.086, and two of the seven annual intervals crossed the strong-change threshold.</a:t>
            </a:r>
          </a:p>
          <a:p>
            <a:r>
              <a:t>DEA Land Cover changed from Natural to Artificial by 2019. Annual NDVI fell from 0.637 in 2017 to 0.184 in 2024, which is consistent with a loss of vegetation greenness.</a:t>
            </a:r>
          </a:p>
          <a:p>
            <a:r>
              <a:t>The sources are independent and are not expected to match perfectly. Here, however, the visible image, embedding signal, land-cover transition and NDVI direction tell a coherent story.</a:t>
            </a:r>
          </a:p>
          <a:p>
            <a:r>
              <a:t>If asked about the broader result: in the sampled comparison, approximately 75 percent of positive-slope pixels showed at least one DEA broad-class change, compared with about 30 percent of stable controls. That is enrichment or agreement evidence, not an accuracy score.</a:t>
            </a:r>
          </a:p>
          <a:p>
            <a:r>
              <a:t>Do not imply that the 2025 Sentinel image was part of the quantitative analysis. The current analytical period ends in 2024.</a:t>
            </a:r>
          </a:p>
          <a:p>
            <a:endParaRPr/>
          </a:p>
          <a:p>
            <a:r>
              <a:t>[Sources]</a:t>
            </a:r>
          </a:p>
          <a:p>
            <a:r>
              <a:t>- Sentinel-2 Cloud-Optimized GeoTIFF open data: https://registry.opendata.aws/sentinel-2-l2a-cogs/</a:t>
            </a:r>
          </a:p>
          <a:p>
            <a:r>
              <a:t>- Element84 Earth Search STAC: https://earth-search.aws.element84.com/v1</a:t>
            </a:r>
          </a:p>
          <a:p>
            <a:r>
              <a:t>- 2017 scene: S2A_55HCT_20170309_0_L2A, captured 2017-03-09</a:t>
            </a:r>
          </a:p>
          <a:p>
            <a:r>
              <a:t>- 2024 scene: S2B_55HCT_20241003_0_L2A, captured 2024-10-03</a:t>
            </a:r>
          </a:p>
          <a:p>
            <a:r>
              <a:t>- Local analysis evidence: .tmp/aushabitat_presentation/assets/hotspot_candidates/candidate_562_endpoint_change.png and merged Phase 3 / Phase 8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finish your segment on the working milestone, not on a future-work promise.</a:t>
            </a:r>
          </a:p>
          <a:p>
            <a:r>
              <a:t>The current Bass Coast prototype converts the analysis into an interactive evidence portal.</a:t>
            </a:r>
          </a:p>
          <a:p>
            <a:r>
              <a:t>A user can search for a place, filter change and low-change regions, select an annual period, and inspect AI change, DEA land-cover history and NDVI together.</a:t>
            </a:r>
          </a:p>
          <a:p>
            <a:r>
              <a:t>The app currently contains 13,784 interactive regions: 13,477 change regions and 307 low-change reference regions. Each region has annual context from 2017 through 2024.</a:t>
            </a:r>
          </a:p>
          <a:p>
            <a:r>
              <a:t>Invite the client to scan the QR code. If the live demonstration is available, open one change region and move between Summary, Timeline and Land context.</a:t>
            </a:r>
          </a:p>
          <a:p>
            <a:r>
              <a:t>Close your section with one sentence: the milestone is an end-to-end Bass Coast system that moves from annual satellite fingerprints to a client-facing map with independent land and vegetation evidence.</a:t>
            </a:r>
          </a:p>
          <a:p>
            <a:endParaRPr/>
          </a:p>
          <a:p>
            <a:r>
              <a:t>[Sources]</a:t>
            </a:r>
          </a:p>
          <a:p>
            <a:r>
              <a:t>- Live prototype: https://thieulong.github.io/SatelliteEmbeddingV1-SpatialAnalysis/</a:t>
            </a:r>
          </a:p>
          <a:p>
            <a:r>
              <a:t>- Local application source and generated data: bass-coast-change-map/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6B03FB-5C99-46B7-8AD2-0922E9EFDEE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147D70"/>
                </a:solidFill>
              </a:defRPr>
            </a:pPr>
            <a:r>
              <a:rPr sz="975" b="1" i="0">
                <a:solidFill>
                  <a:srgbClr val="147D70"/>
                </a:solidFill>
              </a:rPr>
              <a:t>METHOD · OBSERVE</a:t>
            </a:r>
          </a:p>
        </p:txBody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55C7F7D0-D4F9-48F2-AB87-B82D002978A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 i="0">
                <a:solidFill>
                  <a:srgbClr val="08065C"/>
                </a:solidFill>
              </a:defRPr>
            </a:pPr>
            <a:r>
              <a:rPr sz="2925" b="1" i="0">
                <a:solidFill>
                  <a:srgbClr val="08065C"/>
                </a:solidFill>
              </a:rPr>
              <a:t>Every 10 m cell becomes an annual landscape fingerprint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0B3FEAD-AEEC-4635-867D-EFD61C671CF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31C6D-3C78-4717-ABFB-FDA61B9D7DA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1" i="0">
                <a:solidFill>
                  <a:srgbClr val="5E6B75"/>
                </a:solidFill>
              </a:defRPr>
            </a:pPr>
            <a:r>
              <a:rPr sz="900" b="1" i="0">
                <a:solidFill>
                  <a:srgbClr val="5E6B75"/>
                </a:solidFill>
              </a:rPr>
              <a:t>01</a:t>
            </a:r>
          </a:p>
        </p:txBody>
      </p:sp>
      <p:pic>
        <p:nvPicPr>
          <p:cNvPr id="26" name="Picture 23"/>
          <p:cNvPicPr>
            <a:picLocks noChangeAspect="1"/>
          </p:cNvPicPr>
          <p:nvPr/>
        </p:nvPicPr>
        <p:blipFill>
          <a:blip r:embed="rId3"/>
          <a:srcRect l="2344" r="2344"/>
          <a:stretch>
            <a:fillRect/>
          </a:stretch>
        </p:blipFill>
        <p:spPr>
          <a:xfrm>
            <a:off x="609600" y="1504950"/>
            <a:ext cx="5810250" cy="3429000"/>
          </a:xfrm>
          <a:prstGeom prst="round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4CCC5A-B568-4F42-A805-99A85E72A35F}"/>
              </a:ext>
            </a:extLst>
          </p:cNvPr>
          <p:cNvSpPr>
            <a:spLocks noGrp="1"/>
          </p:cNvSpPr>
          <p:nvPr/>
        </p:nvSpPr>
        <p:spPr>
          <a:xfrm>
            <a:off x="6934200" y="15811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D48728"/>
                </a:solidFill>
              </a:defRPr>
            </a:pPr>
            <a:r>
              <a:rPr sz="1350" b="1" i="0">
                <a:solidFill>
                  <a:srgbClr val="D48728"/>
                </a:solidFill>
              </a:rPr>
              <a:t>One location · one year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F351C5-81C9-4F70-92CC-B86A3CE32BF3}"/>
              </a:ext>
            </a:extLst>
          </p:cNvPr>
          <p:cNvSpPr>
            <a:spLocks noGrp="1"/>
          </p:cNvSpPr>
          <p:nvPr/>
        </p:nvSpPr>
        <p:spPr>
          <a:xfrm>
            <a:off x="6934200" y="20764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 i="0">
                <a:solidFill>
                  <a:srgbClr val="08065C"/>
                </a:solidFill>
              </a:defRPr>
            </a:pPr>
            <a:r>
              <a:rPr sz="2100" b="1" i="0">
                <a:solidFill>
                  <a:srgbClr val="08065C"/>
                </a:solidFill>
              </a:rPr>
              <a:t>[ 0.08, −0.12, 0.21, … , 0.04 ]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1FB9C-37A2-4B8D-9911-4E7D8EF63A51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5E6B75"/>
                </a:solidFill>
              </a:defRPr>
            </a:pPr>
            <a:r>
              <a:rPr sz="1425" b="0" i="0">
                <a:solidFill>
                  <a:srgbClr val="5E6B75"/>
                </a:solidFill>
              </a:rPr>
              <a:t>64-number landscape fingerprint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2AF18-483F-49DA-A715-0930594D1A58}"/>
              </a:ext>
            </a:extLst>
          </p:cNvPr>
          <p:cNvSpPr>
            <a:spLocks noGrp="1"/>
          </p:cNvSpPr>
          <p:nvPr/>
        </p:nvSpPr>
        <p:spPr>
          <a:xfrm>
            <a:off x="7143750" y="321945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The model summarises what it sees in each 10 m cell.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F792A-37D7-4DDB-ABB0-143510A6B200}"/>
              </a:ext>
            </a:extLst>
          </p:cNvPr>
          <p:cNvSpPr>
            <a:spLocks noGrp="1"/>
          </p:cNvSpPr>
          <p:nvPr/>
        </p:nvSpPr>
        <p:spPr>
          <a:xfrm>
            <a:off x="7143750" y="377190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The same cell has a comparable fingerprint each year.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57B552-097B-4A2D-9A49-DCB597C245F1}"/>
              </a:ext>
            </a:extLst>
          </p:cNvPr>
          <p:cNvSpPr>
            <a:spLocks noGrp="1"/>
          </p:cNvSpPr>
          <p:nvPr/>
        </p:nvSpPr>
        <p:spPr>
          <a:xfrm>
            <a:off x="7143750" y="432435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All 64 numbers work together to describe the satellite signal.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FAF5BC-1EBA-4360-84A3-4FA9051C1231}"/>
              </a:ext>
            </a:extLst>
          </p:cNvPr>
          <p:cNvSpPr>
            <a:spLocks noGrp="1"/>
          </p:cNvSpPr>
          <p:nvPr/>
        </p:nvSpPr>
        <p:spPr>
          <a:xfrm>
            <a:off x="7143750" y="487680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We compare fingerprints; individual numbers are not land-cover labels.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44504FB-F6EC-412A-A7CD-DFD3469DA59D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273647-248E-4DCD-BEA9-D5F8096EC7F7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08065C"/>
                </a:solidFill>
              </a:defRPr>
            </a:pPr>
            <a:r>
              <a:rPr sz="975" b="1" i="0">
                <a:solidFill>
                  <a:srgbClr val="08065C"/>
                </a:solidFill>
              </a:rPr>
              <a:t>Fingerprint: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C002FB-AFE3-4058-AD94-958C47FEEEED}"/>
              </a:ext>
            </a:extLst>
          </p:cNvPr>
          <p:cNvSpPr>
            <a:spLocks noGrp="1"/>
          </p:cNvSpPr>
          <p:nvPr/>
        </p:nvSpPr>
        <p:spPr>
          <a:xfrm>
            <a:off x="1752600" y="6324600"/>
            <a:ext cx="914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 i="0">
                <a:solidFill>
                  <a:srgbClr val="5E6B75"/>
                </a:solidFill>
              </a:defRPr>
            </a:pPr>
            <a:r>
              <a:rPr sz="975" b="0" i="0">
                <a:solidFill>
                  <a:srgbClr val="5E6B75"/>
                </a:solidFill>
              </a:rPr>
              <a:t>A compact numerical summary of the satellite signal at one mapped location and one year.</a:t>
            </a:r>
          </a:p>
        </p:txBody>
      </p:sp>
    </p:spTree>
    <p:extLst>
      <p:ext uri="{BB962C8B-B14F-4D97-AF65-F5344CB8AC3E}">
        <p14:creationId xmlns:p14="http://schemas.microsoft.com/office/powerpoint/2010/main" val="23386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B20AF1F-FF6D-4E26-BC99-397F6AC20D4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147D70"/>
                </a:solidFill>
              </a:defRPr>
            </a:pPr>
            <a:r>
              <a:rPr sz="975" b="1" i="0">
                <a:solidFill>
                  <a:srgbClr val="147D70"/>
                </a:solidFill>
              </a:rPr>
              <a:t>METHOD · COMPARE</a:t>
            </a:r>
          </a:p>
        </p:txBody>
      </p:sp>
      <p:sp>
        <p:nvSpPr>
          <p:cNvPr id="2" name="slide-11-title">
            <a:extLst>
              <a:ext uri="{FF2B5EF4-FFF2-40B4-BE49-F238E27FC236}">
                <a16:creationId xmlns:a16="http://schemas.microsoft.com/office/drawing/2014/main" id="{99683D04-9B48-4BAA-8AC4-034FC1E8A0C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 i="0">
                <a:solidFill>
                  <a:srgbClr val="08065C"/>
                </a:solidFill>
              </a:defRPr>
            </a:pPr>
            <a:r>
              <a:rPr sz="2925" b="1" i="0">
                <a:solidFill>
                  <a:srgbClr val="08065C"/>
                </a:solidFill>
              </a:rPr>
              <a:t>Comparing the same cell each year creates a change history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AF51287-8FC8-47C5-98F0-9398B1C6191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828354-5E34-4E69-A2F1-F4E1F504154C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1" i="0">
                <a:solidFill>
                  <a:srgbClr val="5E6B75"/>
                </a:solidFill>
              </a:defRPr>
            </a:pPr>
            <a:r>
              <a:rPr sz="900" b="1" i="0">
                <a:solidFill>
                  <a:srgbClr val="5E6B75"/>
                </a:solidFill>
              </a:rPr>
              <a:t>02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635F57-DE8A-4459-94FB-F33A522F35E9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857500" cy="152400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14288">
            <a:solidFill>
              <a:srgbClr val="234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898198-CEDA-47BA-8177-DB4F9B2FE04B}"/>
              </a:ext>
            </a:extLst>
          </p:cNvPr>
          <p:cNvSpPr>
            <a:spLocks noGrp="1"/>
          </p:cNvSpPr>
          <p:nvPr/>
        </p:nvSpPr>
        <p:spPr>
          <a:xfrm>
            <a:off x="8477250" y="2133600"/>
            <a:ext cx="2857500" cy="1524000"/>
          </a:xfrm>
          <a:prstGeom prst="roundRect">
            <a:avLst>
              <a:gd name="adj" fmla="val 5000"/>
            </a:avLst>
          </a:prstGeom>
          <a:solidFill>
            <a:srgbClr val="F7EAD8"/>
          </a:solidFill>
          <a:ln w="14288">
            <a:solidFill>
              <a:srgbClr val="D4872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40" name="Straight Arrow Connector 25"/>
          <p:cNvCxnSpPr>
            <a:stCxn id="5" idx="3"/>
            <a:endCxn id="6" idx="1"/>
          </p:cNvCxnSpPr>
          <p:nvPr/>
        </p:nvCxnSpPr>
        <p:spPr>
          <a:xfrm>
            <a:off x="3714750" y="2895600"/>
            <a:ext cx="4762500" cy="0"/>
          </a:xfrm>
          <a:prstGeom prst="straightConnector1">
            <a:avLst/>
          </a:prstGeom>
          <a:ln w="28575">
            <a:solidFill>
              <a:srgbClr val="147D70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4EF97C5-DDAE-41DA-B18F-43BC719D1604}"/>
              </a:ext>
            </a:extLst>
          </p:cNvPr>
          <p:cNvSpPr>
            <a:spLocks noGrp="1"/>
          </p:cNvSpPr>
          <p:nvPr/>
        </p:nvSpPr>
        <p:spPr>
          <a:xfrm>
            <a:off x="1085850" y="232410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34E8A"/>
                </a:solidFill>
              </a:defRPr>
            </a:pPr>
            <a:r>
              <a:rPr sz="1275" b="1" i="0">
                <a:solidFill>
                  <a:srgbClr val="234E8A"/>
                </a:solidFill>
              </a:rPr>
              <a:t>2017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F0628F-AB84-495F-A6A1-0959B2DC1E48}"/>
              </a:ext>
            </a:extLst>
          </p:cNvPr>
          <p:cNvSpPr>
            <a:spLocks noGrp="1"/>
          </p:cNvSpPr>
          <p:nvPr/>
        </p:nvSpPr>
        <p:spPr>
          <a:xfrm>
            <a:off x="1085850" y="28003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 i="0">
                <a:solidFill>
                  <a:srgbClr val="08065C"/>
                </a:solidFill>
              </a:defRPr>
            </a:pPr>
            <a:r>
              <a:rPr sz="1650" b="1" i="0">
                <a:solidFill>
                  <a:srgbClr val="08065C"/>
                </a:solidFill>
              </a:rPr>
              <a:t>[ 64-number fingerprint 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62E286-7C9C-4732-AB7C-E87F8E796559}"/>
              </a:ext>
            </a:extLst>
          </p:cNvPr>
          <p:cNvSpPr>
            <a:spLocks noGrp="1"/>
          </p:cNvSpPr>
          <p:nvPr/>
        </p:nvSpPr>
        <p:spPr>
          <a:xfrm>
            <a:off x="1085850" y="3276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 i="0">
                <a:solidFill>
                  <a:srgbClr val="5E6B75"/>
                </a:solidFill>
              </a:defRPr>
            </a:pPr>
            <a:r>
              <a:rPr sz="1200" b="0" i="0">
                <a:solidFill>
                  <a:srgbClr val="5E6B75"/>
                </a:solidFill>
              </a:rPr>
              <a:t>Same mapped location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60BF6D-D9B0-48C7-8847-9CB112B8DA2E}"/>
              </a:ext>
            </a:extLst>
          </p:cNvPr>
          <p:cNvSpPr>
            <a:spLocks noGrp="1"/>
          </p:cNvSpPr>
          <p:nvPr/>
        </p:nvSpPr>
        <p:spPr>
          <a:xfrm>
            <a:off x="8705850" y="232410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D48728"/>
                </a:solidFill>
              </a:defRPr>
            </a:pPr>
            <a:r>
              <a:rPr sz="1275" b="1" i="0">
                <a:solidFill>
                  <a:srgbClr val="D48728"/>
                </a:solidFill>
              </a:rPr>
              <a:t>2018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C3DDDA-174E-407B-B0F2-6EBA8FFF3B47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 i="0">
                <a:solidFill>
                  <a:srgbClr val="08065C"/>
                </a:solidFill>
              </a:defRPr>
            </a:pPr>
            <a:r>
              <a:rPr sz="1650" b="1" i="0">
                <a:solidFill>
                  <a:srgbClr val="08065C"/>
                </a:solidFill>
              </a:rPr>
              <a:t>[ 64-number fingerprint 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53A742-BA8F-466C-8D08-D55BFCA13F7F}"/>
              </a:ext>
            </a:extLst>
          </p:cNvPr>
          <p:cNvSpPr>
            <a:spLocks noGrp="1"/>
          </p:cNvSpPr>
          <p:nvPr/>
        </p:nvSpPr>
        <p:spPr>
          <a:xfrm>
            <a:off x="8705850" y="3276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 i="0">
                <a:solidFill>
                  <a:srgbClr val="5E6B75"/>
                </a:solidFill>
              </a:defRPr>
            </a:pPr>
            <a:r>
              <a:rPr sz="1200" b="0" i="0">
                <a:solidFill>
                  <a:srgbClr val="5E6B75"/>
                </a:solidFill>
              </a:rPr>
              <a:t>Same mapped location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FD8A61-AD3A-4324-B7EC-E92F34D30D1C}"/>
              </a:ext>
            </a:extLst>
          </p:cNvPr>
          <p:cNvSpPr>
            <a:spLocks noGrp="1"/>
          </p:cNvSpPr>
          <p:nvPr/>
        </p:nvSpPr>
        <p:spPr>
          <a:xfrm>
            <a:off x="4324350" y="23431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400" b="1" i="0">
                <a:solidFill>
                  <a:srgbClr val="147D70"/>
                </a:solidFill>
              </a:defRPr>
            </a:pPr>
            <a:r>
              <a:rPr sz="2400" b="1" i="0">
                <a:solidFill>
                  <a:srgbClr val="147D70"/>
                </a:solidFill>
              </a:rPr>
              <a:t>CHANGE 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12F09D-7208-473B-9A4D-1AA940C8F920}"/>
              </a:ext>
            </a:extLst>
          </p:cNvPr>
          <p:cNvSpPr>
            <a:spLocks noGrp="1"/>
          </p:cNvSpPr>
          <p:nvPr/>
        </p:nvSpPr>
        <p:spPr>
          <a:xfrm>
            <a:off x="4095750" y="3009900"/>
            <a:ext cx="400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0" i="0">
                <a:solidFill>
                  <a:srgbClr val="18232B"/>
                </a:solidFill>
              </a:defRPr>
            </a:pPr>
            <a:r>
              <a:rPr sz="1500" b="0" i="0">
                <a:solidFill>
                  <a:srgbClr val="18232B"/>
                </a:solidFill>
              </a:rPr>
              <a:t>A larger distance means a stronger change in the encoded landscape signal.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57A58C-40A9-47FE-92C2-DDC7F3A88F0B}"/>
              </a:ext>
            </a:extLst>
          </p:cNvPr>
          <p:cNvSpPr>
            <a:spLocks noGrp="1"/>
          </p:cNvSpPr>
          <p:nvPr/>
        </p:nvSpPr>
        <p:spPr>
          <a:xfrm>
            <a:off x="2000250" y="4533900"/>
            <a:ext cx="8191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 i="0">
                <a:solidFill>
                  <a:srgbClr val="08065C"/>
                </a:solidFill>
              </a:defRPr>
            </a:pPr>
            <a:r>
              <a:rPr sz="1800" b="1" i="0">
                <a:solidFill>
                  <a:srgbClr val="08065C"/>
                </a:solidFill>
              </a:rPr>
              <a:t>Repeat this for seven year-to-year intervals to reveal when change happened — not only how different 2017 and 2024 were.</a:t>
            </a:r>
          </a:p>
        </p:txBody>
      </p:sp>
    </p:spTree>
    <p:extLst>
      <p:ext uri="{BB962C8B-B14F-4D97-AF65-F5344CB8AC3E}">
        <p14:creationId xmlns:p14="http://schemas.microsoft.com/office/powerpoint/2010/main" val="43595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F85EE8D-EFAA-41E1-874C-6FCCE1E5B73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147D70"/>
                </a:solidFill>
              </a:defRPr>
            </a:pPr>
            <a:r>
              <a:rPr sz="975" b="1" i="0">
                <a:solidFill>
                  <a:srgbClr val="147D70"/>
                </a:solidFill>
              </a:rPr>
              <a:t>METHOD · DESCRIBE</a:t>
            </a:r>
          </a:p>
        </p:txBody>
      </p:sp>
      <p:sp>
        <p:nvSpPr>
          <p:cNvPr id="2" name="slide-12-title">
            <a:extLst>
              <a:ext uri="{FF2B5EF4-FFF2-40B4-BE49-F238E27FC236}">
                <a16:creationId xmlns:a16="http://schemas.microsoft.com/office/drawing/2014/main" id="{8F4D3D22-D677-4428-B8C2-25BAD89C1DE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 i="0">
                <a:solidFill>
                  <a:srgbClr val="08065C"/>
                </a:solidFill>
              </a:defRPr>
            </a:pPr>
            <a:r>
              <a:rPr sz="2925" b="1" i="0">
                <a:solidFill>
                  <a:srgbClr val="08065C"/>
                </a:solidFill>
              </a:rPr>
              <a:t>The shape of the annual signal shows how change unfolded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D148402-FC94-4E77-8FE9-70EECEC7758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B3B6C-8932-4518-A78A-097D10EDD80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1" i="0">
                <a:solidFill>
                  <a:srgbClr val="5E6B75"/>
                </a:solidFill>
              </a:defRPr>
            </a:pPr>
            <a:r>
              <a:rPr sz="900" b="1" i="0">
                <a:solidFill>
                  <a:srgbClr val="5E6B75"/>
                </a:solidFill>
              </a:rPr>
              <a:t>03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666750" y="1714500"/>
          <a:ext cx="63817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35D0074-E869-41D5-B970-C08A6974FEC9}"/>
              </a:ext>
            </a:extLst>
          </p:cNvPr>
          <p:cNvSpPr>
            <a:spLocks noGrp="1"/>
          </p:cNvSpPr>
          <p:nvPr/>
        </p:nvSpPr>
        <p:spPr>
          <a:xfrm>
            <a:off x="7524750" y="1524000"/>
            <a:ext cx="3810000" cy="89535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C03F-39AA-49CB-B914-A913235A7ED6}"/>
              </a:ext>
            </a:extLst>
          </p:cNvPr>
          <p:cNvSpPr>
            <a:spLocks noGrp="1"/>
          </p:cNvSpPr>
          <p:nvPr/>
        </p:nvSpPr>
        <p:spPr>
          <a:xfrm>
            <a:off x="7524750" y="1524000"/>
            <a:ext cx="76200" cy="895350"/>
          </a:xfrm>
          <a:prstGeom prst="rect">
            <a:avLst/>
          </a:prstGeom>
          <a:solidFill>
            <a:srgbClr val="AD35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A8A233-4228-41D7-BF75-7B1F82078CE9}"/>
              </a:ext>
            </a:extLst>
          </p:cNvPr>
          <p:cNvSpPr>
            <a:spLocks noGrp="1"/>
          </p:cNvSpPr>
          <p:nvPr/>
        </p:nvSpPr>
        <p:spPr>
          <a:xfrm>
            <a:off x="7753350" y="1628775"/>
            <a:ext cx="3238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AD354A"/>
                </a:solidFill>
              </a:defRPr>
            </a:pPr>
            <a:r>
              <a:rPr sz="1425" b="1" i="0">
                <a:solidFill>
                  <a:srgbClr val="AD354A"/>
                </a:solidFill>
              </a:rPr>
              <a:t>Repeated strong change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515ACC-80F4-468F-B7D5-CBD07D14C7AC}"/>
              </a:ext>
            </a:extLst>
          </p:cNvPr>
          <p:cNvSpPr>
            <a:spLocks noGrp="1"/>
          </p:cNvSpPr>
          <p:nvPr/>
        </p:nvSpPr>
        <p:spPr>
          <a:xfrm>
            <a:off x="7753350" y="1990725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 i="0">
                <a:solidFill>
                  <a:srgbClr val="5E6B75"/>
                </a:solidFill>
              </a:defRPr>
            </a:pPr>
            <a:r>
              <a:rPr sz="1125" b="0" i="0">
                <a:solidFill>
                  <a:srgbClr val="5E6B75"/>
                </a:solidFill>
              </a:rPr>
              <a:t>In how many annual periods was the signal unusually strong?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59EAA4-B651-4F8D-B081-871FBA4B4466}"/>
              </a:ext>
            </a:extLst>
          </p:cNvPr>
          <p:cNvSpPr>
            <a:spLocks noGrp="1"/>
          </p:cNvSpPr>
          <p:nvPr/>
        </p:nvSpPr>
        <p:spPr>
          <a:xfrm>
            <a:off x="7524750" y="2514600"/>
            <a:ext cx="3810000" cy="89535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554318-ADE7-4795-93AF-EBF474EE538F}"/>
              </a:ext>
            </a:extLst>
          </p:cNvPr>
          <p:cNvSpPr>
            <a:spLocks noGrp="1"/>
          </p:cNvSpPr>
          <p:nvPr/>
        </p:nvSpPr>
        <p:spPr>
          <a:xfrm>
            <a:off x="7524750" y="2514600"/>
            <a:ext cx="76200" cy="895350"/>
          </a:xfrm>
          <a:prstGeom prst="rect">
            <a:avLst/>
          </a:prstGeom>
          <a:solidFill>
            <a:srgbClr val="D4872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F4DCB-CAA9-4A29-B7E9-02A40C9FC4AE}"/>
              </a:ext>
            </a:extLst>
          </p:cNvPr>
          <p:cNvSpPr>
            <a:spLocks noGrp="1"/>
          </p:cNvSpPr>
          <p:nvPr/>
        </p:nvSpPr>
        <p:spPr>
          <a:xfrm>
            <a:off x="7753350" y="2619375"/>
            <a:ext cx="3238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D48728"/>
                </a:solidFill>
              </a:defRPr>
            </a:pPr>
            <a:r>
              <a:rPr sz="1425" b="1" i="0">
                <a:solidFill>
                  <a:srgbClr val="D48728"/>
                </a:solidFill>
              </a:rPr>
              <a:t>Year-to-year variation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83D509-15D3-4AE6-9E3A-83C70F137F7B}"/>
              </a:ext>
            </a:extLst>
          </p:cNvPr>
          <p:cNvSpPr>
            <a:spLocks noGrp="1"/>
          </p:cNvSpPr>
          <p:nvPr/>
        </p:nvSpPr>
        <p:spPr>
          <a:xfrm>
            <a:off x="7753350" y="2981325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 i="0">
                <a:solidFill>
                  <a:srgbClr val="5E6B75"/>
                </a:solidFill>
              </a:defRPr>
            </a:pPr>
            <a:r>
              <a:rPr sz="1125" b="0" i="0">
                <a:solidFill>
                  <a:srgbClr val="5E6B75"/>
                </a:solidFill>
              </a:rPr>
              <a:t>Was change steady, or concentrated in only a few years?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96D9583-0692-42D5-8C3A-EF6A23FB44FE}"/>
              </a:ext>
            </a:extLst>
          </p:cNvPr>
          <p:cNvSpPr>
            <a:spLocks noGrp="1"/>
          </p:cNvSpPr>
          <p:nvPr/>
        </p:nvSpPr>
        <p:spPr>
          <a:xfrm>
            <a:off x="7524750" y="3505200"/>
            <a:ext cx="3810000" cy="89535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380860-1AAC-4A22-96AC-1D6F0FEA7149}"/>
              </a:ext>
            </a:extLst>
          </p:cNvPr>
          <p:cNvSpPr>
            <a:spLocks noGrp="1"/>
          </p:cNvSpPr>
          <p:nvPr/>
        </p:nvSpPr>
        <p:spPr>
          <a:xfrm>
            <a:off x="7524750" y="3505200"/>
            <a:ext cx="76200" cy="895350"/>
          </a:xfrm>
          <a:prstGeom prst="rect">
            <a:avLst/>
          </a:prstGeom>
          <a:solidFill>
            <a:srgbClr val="147D7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EF8812-3F73-49F4-A013-673E2E75D3BD}"/>
              </a:ext>
            </a:extLst>
          </p:cNvPr>
          <p:cNvSpPr>
            <a:spLocks noGrp="1"/>
          </p:cNvSpPr>
          <p:nvPr/>
        </p:nvSpPr>
        <p:spPr>
          <a:xfrm>
            <a:off x="7753350" y="3609975"/>
            <a:ext cx="3238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147D70"/>
                </a:solidFill>
              </a:defRPr>
            </a:pPr>
            <a:r>
              <a:rPr sz="1425" b="1" i="0">
                <a:solidFill>
                  <a:srgbClr val="147D70"/>
                </a:solidFill>
              </a:rPr>
              <a:t>Change trend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46CB52-812C-446C-AE59-B4FEFD9DBE57}"/>
              </a:ext>
            </a:extLst>
          </p:cNvPr>
          <p:cNvSpPr>
            <a:spLocks noGrp="1"/>
          </p:cNvSpPr>
          <p:nvPr/>
        </p:nvSpPr>
        <p:spPr>
          <a:xfrm>
            <a:off x="7753350" y="3971925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 i="0">
                <a:solidFill>
                  <a:srgbClr val="5E6B75"/>
                </a:solidFill>
              </a:defRPr>
            </a:pPr>
            <a:r>
              <a:rPr sz="1125" b="0" i="0">
                <a:solidFill>
                  <a:srgbClr val="5E6B75"/>
                </a:solidFill>
              </a:rPr>
              <a:t>Did annual change intensity generally rise or fall over time?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1B615D4-AFAC-469D-AF35-063C1ED8160A}"/>
              </a:ext>
            </a:extLst>
          </p:cNvPr>
          <p:cNvSpPr>
            <a:spLocks noGrp="1"/>
          </p:cNvSpPr>
          <p:nvPr/>
        </p:nvSpPr>
        <p:spPr>
          <a:xfrm>
            <a:off x="7524750" y="4495800"/>
            <a:ext cx="3810000" cy="89535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C5741A-F3C0-4E2D-B7A0-55D05C852E7B}"/>
              </a:ext>
            </a:extLst>
          </p:cNvPr>
          <p:cNvSpPr>
            <a:spLocks noGrp="1"/>
          </p:cNvSpPr>
          <p:nvPr/>
        </p:nvSpPr>
        <p:spPr>
          <a:xfrm>
            <a:off x="7524750" y="4495800"/>
            <a:ext cx="76200" cy="895350"/>
          </a:xfrm>
          <a:prstGeom prst="rect">
            <a:avLst/>
          </a:prstGeom>
          <a:solidFill>
            <a:srgbClr val="234E8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709AF3-9F7F-40F5-98B3-CA8268B839B1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238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234E8A"/>
                </a:solidFill>
              </a:defRPr>
            </a:pPr>
            <a:r>
              <a:rPr sz="1425" b="1" i="0">
                <a:solidFill>
                  <a:srgbClr val="234E8A"/>
                </a:solidFill>
              </a:rPr>
              <a:t>Strongest period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54C184-7358-40DC-A5C6-148C0D61D02D}"/>
              </a:ext>
            </a:extLst>
          </p:cNvPr>
          <p:cNvSpPr>
            <a:spLocks noGrp="1"/>
          </p:cNvSpPr>
          <p:nvPr/>
        </p:nvSpPr>
        <p:spPr>
          <a:xfrm>
            <a:off x="7753350" y="4962525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 i="0">
                <a:solidFill>
                  <a:srgbClr val="5E6B75"/>
                </a:solidFill>
              </a:defRPr>
            </a:pPr>
            <a:r>
              <a:rPr sz="1125" b="0" i="0">
                <a:solidFill>
                  <a:srgbClr val="5E6B75"/>
                </a:solidFill>
              </a:rPr>
              <a:t>Which year-to-year interval contained the largest signal?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5E2C61-B37F-4F13-B7F2-37F717C13C28}"/>
              </a:ext>
            </a:extLst>
          </p:cNvPr>
          <p:cNvSpPr>
            <a:spLocks noGrp="1"/>
          </p:cNvSpPr>
          <p:nvPr/>
        </p:nvSpPr>
        <p:spPr>
          <a:xfrm>
            <a:off x="723900" y="48768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 i="1">
                <a:solidFill>
                  <a:srgbClr val="5E6B75"/>
                </a:solidFill>
              </a:defRPr>
            </a:pPr>
            <a:r>
              <a:rPr sz="975" b="0" i="1">
                <a:solidFill>
                  <a:srgbClr val="5E6B75"/>
                </a:solidFill>
              </a:rPr>
              <a:t>Illustrative annual change history</a:t>
            </a:r>
          </a:p>
        </p:txBody>
      </p:sp>
    </p:spTree>
    <p:extLst>
      <p:ext uri="{BB962C8B-B14F-4D97-AF65-F5344CB8AC3E}">
        <p14:creationId xmlns:p14="http://schemas.microsoft.com/office/powerpoint/2010/main" val="160158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988C1DF-99F1-4F07-BACB-346A8BCB111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147D70"/>
                </a:solidFill>
              </a:defRPr>
            </a:pPr>
            <a:r>
              <a:rPr sz="975" b="1" i="0">
                <a:solidFill>
                  <a:srgbClr val="147D70"/>
                </a:solidFill>
              </a:rPr>
              <a:t>METHOD · ADD CONTEXT</a:t>
            </a:r>
          </a:p>
        </p:txBody>
      </p:sp>
      <p:sp>
        <p:nvSpPr>
          <p:cNvPr id="2" name="slide-16-title">
            <a:extLst>
              <a:ext uri="{FF2B5EF4-FFF2-40B4-BE49-F238E27FC236}">
                <a16:creationId xmlns:a16="http://schemas.microsoft.com/office/drawing/2014/main" id="{E04817B1-DBC8-4EC7-ABED-42C78A84F41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 i="0">
                <a:solidFill>
                  <a:srgbClr val="08065C"/>
                </a:solidFill>
              </a:defRPr>
            </a:pPr>
            <a:r>
              <a:rPr sz="2925" b="1" i="0">
                <a:solidFill>
                  <a:srgbClr val="08065C"/>
                </a:solidFill>
              </a:rPr>
              <a:t>Independent evidence helps explain what the AI signal may represent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9615E7B-4EAD-4FD0-9FE8-372A4201968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CA65C-07B8-442E-A0F4-248F97CA576C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1" i="0">
                <a:solidFill>
                  <a:srgbClr val="5E6B75"/>
                </a:solidFill>
              </a:defRPr>
            </a:pPr>
            <a:r>
              <a:rPr sz="900" b="1" i="0">
                <a:solidFill>
                  <a:srgbClr val="5E6B75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FED16D-D4FB-4514-9E23-541E8008524F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 i="0">
                <a:solidFill>
                  <a:srgbClr val="D48728"/>
                </a:solidFill>
              </a:defRPr>
            </a:pPr>
            <a:r>
              <a:rPr sz="1500" b="1" i="0">
                <a:solidFill>
                  <a:srgbClr val="D48728"/>
                </a:solidFill>
              </a:rPr>
              <a:t>AI change signal at 10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1B202-9920-4492-97F1-FFBE60A3EFD1}"/>
              </a:ext>
            </a:extLst>
          </p:cNvPr>
          <p:cNvSpPr>
            <a:spLocks noGrp="1"/>
          </p:cNvSpPr>
          <p:nvPr/>
        </p:nvSpPr>
        <p:spPr>
          <a:xfrm>
            <a:off x="1066800" y="2190750"/>
            <a:ext cx="628650" cy="628650"/>
          </a:xfrm>
          <a:prstGeom prst="rect">
            <a:avLst/>
          </a:prstGeom>
          <a:solidFill>
            <a:srgbClr val="F7EAD8"/>
          </a:solidFill>
          <a:ln w="9525">
            <a:solidFill>
              <a:srgbClr val="D48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340D7-03B9-4A60-8819-B59B0E364316}"/>
              </a:ext>
            </a:extLst>
          </p:cNvPr>
          <p:cNvSpPr>
            <a:spLocks noGrp="1"/>
          </p:cNvSpPr>
          <p:nvPr/>
        </p:nvSpPr>
        <p:spPr>
          <a:xfrm>
            <a:off x="1066800" y="239077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ED79BE-B232-41AD-B709-3DBA01B0FF66}"/>
              </a:ext>
            </a:extLst>
          </p:cNvPr>
          <p:cNvSpPr>
            <a:spLocks noGrp="1"/>
          </p:cNvSpPr>
          <p:nvPr/>
        </p:nvSpPr>
        <p:spPr>
          <a:xfrm>
            <a:off x="1733550" y="2190750"/>
            <a:ext cx="628650" cy="628650"/>
          </a:xfrm>
          <a:prstGeom prst="rect">
            <a:avLst/>
          </a:prstGeom>
          <a:solidFill>
            <a:srgbClr val="F7EAD8"/>
          </a:solidFill>
          <a:ln w="9525">
            <a:solidFill>
              <a:srgbClr val="D48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3703A8-997D-423A-83EE-5A390217B70E}"/>
              </a:ext>
            </a:extLst>
          </p:cNvPr>
          <p:cNvSpPr>
            <a:spLocks noGrp="1"/>
          </p:cNvSpPr>
          <p:nvPr/>
        </p:nvSpPr>
        <p:spPr>
          <a:xfrm>
            <a:off x="1733550" y="239077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695715-6E45-4EC0-9C2E-FD19A95F9EE3}"/>
              </a:ext>
            </a:extLst>
          </p:cNvPr>
          <p:cNvSpPr>
            <a:spLocks noGrp="1"/>
          </p:cNvSpPr>
          <p:nvPr/>
        </p:nvSpPr>
        <p:spPr>
          <a:xfrm>
            <a:off x="2400300" y="2190750"/>
            <a:ext cx="628650" cy="628650"/>
          </a:xfrm>
          <a:prstGeom prst="rect">
            <a:avLst/>
          </a:prstGeom>
          <a:solidFill>
            <a:srgbClr val="F7EAD8"/>
          </a:solidFill>
          <a:ln w="9525">
            <a:solidFill>
              <a:srgbClr val="D48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16094C-D144-4A07-B6BA-B3B95CA199AD}"/>
              </a:ext>
            </a:extLst>
          </p:cNvPr>
          <p:cNvSpPr>
            <a:spLocks noGrp="1"/>
          </p:cNvSpPr>
          <p:nvPr/>
        </p:nvSpPr>
        <p:spPr>
          <a:xfrm>
            <a:off x="2400300" y="239077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F71EA1-9F14-4E62-AB54-E607DB149CBF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628650" cy="628650"/>
          </a:xfrm>
          <a:prstGeom prst="rect">
            <a:avLst/>
          </a:prstGeom>
          <a:solidFill>
            <a:srgbClr val="F7EAD8"/>
          </a:solidFill>
          <a:ln w="9525">
            <a:solidFill>
              <a:srgbClr val="D48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012754-5922-4FD7-BE08-8BC44FA203A1}"/>
              </a:ext>
            </a:extLst>
          </p:cNvPr>
          <p:cNvSpPr>
            <a:spLocks noGrp="1"/>
          </p:cNvSpPr>
          <p:nvPr/>
        </p:nvSpPr>
        <p:spPr>
          <a:xfrm>
            <a:off x="1066800" y="305752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39523E-9CB8-4CAF-9F12-68BD10705B2D}"/>
              </a:ext>
            </a:extLst>
          </p:cNvPr>
          <p:cNvSpPr>
            <a:spLocks noGrp="1"/>
          </p:cNvSpPr>
          <p:nvPr/>
        </p:nvSpPr>
        <p:spPr>
          <a:xfrm>
            <a:off x="1733550" y="2857500"/>
            <a:ext cx="628650" cy="628650"/>
          </a:xfrm>
          <a:prstGeom prst="rect">
            <a:avLst/>
          </a:prstGeom>
          <a:solidFill>
            <a:srgbClr val="F5E3E7"/>
          </a:solidFill>
          <a:ln w="9525">
            <a:solidFill>
              <a:srgbClr val="AD35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65FAB2-A31E-44DF-B95D-8A8509257633}"/>
              </a:ext>
            </a:extLst>
          </p:cNvPr>
          <p:cNvSpPr>
            <a:spLocks noGrp="1"/>
          </p:cNvSpPr>
          <p:nvPr/>
        </p:nvSpPr>
        <p:spPr>
          <a:xfrm>
            <a:off x="1733550" y="305752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0.48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AD326A-D5C3-470E-815D-60F9DC9811E8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628650" cy="628650"/>
          </a:xfrm>
          <a:prstGeom prst="rect">
            <a:avLst/>
          </a:prstGeom>
          <a:solidFill>
            <a:srgbClr val="F5E3E7"/>
          </a:solidFill>
          <a:ln w="9525">
            <a:solidFill>
              <a:srgbClr val="AD35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7ADFF3-C333-4F45-81C3-CC6272E68DD1}"/>
              </a:ext>
            </a:extLst>
          </p:cNvPr>
          <p:cNvSpPr>
            <a:spLocks noGrp="1"/>
          </p:cNvSpPr>
          <p:nvPr/>
        </p:nvSpPr>
        <p:spPr>
          <a:xfrm>
            <a:off x="2400300" y="305752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0.52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55F3FA-056B-45F0-8C34-501F7FDB6190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628650" cy="628650"/>
          </a:xfrm>
          <a:prstGeom prst="rect">
            <a:avLst/>
          </a:prstGeom>
          <a:solidFill>
            <a:srgbClr val="F7EAD8"/>
          </a:solidFill>
          <a:ln w="9525">
            <a:solidFill>
              <a:srgbClr val="D48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F571A-4AF7-4794-9542-AC3A5C07E9B2}"/>
              </a:ext>
            </a:extLst>
          </p:cNvPr>
          <p:cNvSpPr>
            <a:spLocks noGrp="1"/>
          </p:cNvSpPr>
          <p:nvPr/>
        </p:nvSpPr>
        <p:spPr>
          <a:xfrm>
            <a:off x="1066800" y="372427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0.16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31A-C2F3-4B7B-9255-20D6885FD623}"/>
              </a:ext>
            </a:extLst>
          </p:cNvPr>
          <p:cNvSpPr>
            <a:spLocks noGrp="1"/>
          </p:cNvSpPr>
          <p:nvPr/>
        </p:nvSpPr>
        <p:spPr>
          <a:xfrm>
            <a:off x="1733550" y="3524250"/>
            <a:ext cx="628650" cy="628650"/>
          </a:xfrm>
          <a:prstGeom prst="rect">
            <a:avLst/>
          </a:prstGeom>
          <a:solidFill>
            <a:srgbClr val="F7EAD8"/>
          </a:solidFill>
          <a:ln w="9525">
            <a:solidFill>
              <a:srgbClr val="D48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411558-75F8-47F9-BEDE-F57B67FC2D53}"/>
              </a:ext>
            </a:extLst>
          </p:cNvPr>
          <p:cNvSpPr>
            <a:spLocks noGrp="1"/>
          </p:cNvSpPr>
          <p:nvPr/>
        </p:nvSpPr>
        <p:spPr>
          <a:xfrm>
            <a:off x="1733550" y="372427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0.44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721E76-D799-4168-8D63-C4576DC70E02}"/>
              </a:ext>
            </a:extLst>
          </p:cNvPr>
          <p:cNvSpPr>
            <a:spLocks noGrp="1"/>
          </p:cNvSpPr>
          <p:nvPr/>
        </p:nvSpPr>
        <p:spPr>
          <a:xfrm>
            <a:off x="2400300" y="3524250"/>
            <a:ext cx="628650" cy="628650"/>
          </a:xfrm>
          <a:prstGeom prst="rect">
            <a:avLst/>
          </a:prstGeom>
          <a:solidFill>
            <a:srgbClr val="F5E3E7"/>
          </a:solidFill>
          <a:ln w="9525">
            <a:solidFill>
              <a:srgbClr val="AD35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B70ACC-6FDC-4061-93C4-E44EE9743EB0}"/>
              </a:ext>
            </a:extLst>
          </p:cNvPr>
          <p:cNvSpPr>
            <a:spLocks noGrp="1"/>
          </p:cNvSpPr>
          <p:nvPr/>
        </p:nvSpPr>
        <p:spPr>
          <a:xfrm>
            <a:off x="2400300" y="3724275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8232B"/>
                </a:solidFill>
              </a:defRPr>
            </a:pPr>
            <a:r>
              <a:rPr sz="1050" b="1" i="0">
                <a:solidFill>
                  <a:srgbClr val="18232B"/>
                </a:solidFill>
              </a:rPr>
              <a:t>0.50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1B2FAE-C4A3-4E4D-BA42-27BA237471F6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 i="0">
                <a:solidFill>
                  <a:srgbClr val="5E6B75"/>
                </a:solidFill>
              </a:defRPr>
            </a:pPr>
            <a:r>
              <a:rPr sz="1275" b="0" i="0">
                <a:solidFill>
                  <a:srgbClr val="5E6B75"/>
                </a:solidFill>
              </a:rPr>
              <a:t>3 × 3 original cells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03E8B4-EA3D-43A8-A9D4-9B2B448AE739}"/>
              </a:ext>
            </a:extLst>
          </p:cNvPr>
          <p:cNvSpPr>
            <a:spLocks noGrp="1"/>
          </p:cNvSpPr>
          <p:nvPr/>
        </p:nvSpPr>
        <p:spPr>
          <a:xfrm>
            <a:off x="3905250" y="276225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900" b="1" i="0">
                <a:solidFill>
                  <a:srgbClr val="147D70"/>
                </a:solidFill>
              </a:defRPr>
            </a:pPr>
            <a:r>
              <a:rPr sz="3900" b="1" i="0">
                <a:solidFill>
                  <a:srgbClr val="147D70"/>
                </a:solidFill>
              </a:rPr>
              <a:t>→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DE7787D-5A61-47F4-A4AE-FD22929AFBF9}"/>
              </a:ext>
            </a:extLst>
          </p:cNvPr>
          <p:cNvSpPr>
            <a:spLocks noGrp="1"/>
          </p:cNvSpPr>
          <p:nvPr/>
        </p:nvSpPr>
        <p:spPr>
          <a:xfrm>
            <a:off x="5143500" y="2247900"/>
            <a:ext cx="2000250" cy="2000250"/>
          </a:xfrm>
          <a:prstGeom prst="roundRect">
            <a:avLst>
              <a:gd name="adj" fmla="val 3810"/>
            </a:avLst>
          </a:prstGeom>
          <a:solidFill>
            <a:srgbClr val="DDEFEA"/>
          </a:solidFill>
          <a:ln w="19050">
            <a:solidFill>
              <a:srgbClr val="147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53530C-D581-4F52-A1AF-AF2BA846D556}"/>
              </a:ext>
            </a:extLst>
          </p:cNvPr>
          <p:cNvSpPr>
            <a:spLocks noGrp="1"/>
          </p:cNvSpPr>
          <p:nvPr/>
        </p:nvSpPr>
        <p:spPr>
          <a:xfrm>
            <a:off x="5391150" y="251460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47D70"/>
                </a:solidFill>
              </a:defRPr>
            </a:pPr>
            <a:r>
              <a:rPr sz="1050" b="1" i="0">
                <a:solidFill>
                  <a:srgbClr val="147D70"/>
                </a:solidFill>
              </a:rPr>
              <a:t>COMMON COMPARISON AREA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B44118-846E-4B6E-95D0-51F6EC3EE740}"/>
              </a:ext>
            </a:extLst>
          </p:cNvPr>
          <p:cNvSpPr>
            <a:spLocks noGrp="1"/>
          </p:cNvSpPr>
          <p:nvPr/>
        </p:nvSpPr>
        <p:spPr>
          <a:xfrm>
            <a:off x="5391150" y="30289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 i="0">
                <a:solidFill>
                  <a:srgbClr val="08065C"/>
                </a:solidFill>
              </a:defRPr>
            </a:pPr>
            <a:r>
              <a:rPr sz="2550" b="1" i="0">
                <a:solidFill>
                  <a:srgbClr val="08065C"/>
                </a:solidFill>
              </a:rPr>
              <a:t>≈ 30 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1F1B6B-F7C9-467D-BAA7-6C58914E4D0D}"/>
              </a:ext>
            </a:extLst>
          </p:cNvPr>
          <p:cNvSpPr>
            <a:spLocks noGrp="1"/>
          </p:cNvSpPr>
          <p:nvPr/>
        </p:nvSpPr>
        <p:spPr>
          <a:xfrm>
            <a:off x="5391150" y="3467100"/>
            <a:ext cx="1504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 i="0">
                <a:solidFill>
                  <a:srgbClr val="18232B"/>
                </a:solidFill>
              </a:defRPr>
            </a:pPr>
            <a:r>
              <a:rPr sz="1050" b="0" i="0">
                <a:solidFill>
                  <a:srgbClr val="18232B"/>
                </a:solidFill>
              </a:rPr>
              <a:t>Average AI change</a:t>
            </a:r>
          </a:p>
          <a:p>
            <a:pPr algn="ctr">
              <a:buNone/>
              <a:defRPr sz="1050" b="0" i="0">
                <a:solidFill>
                  <a:srgbClr val="18232B"/>
                </a:solidFill>
              </a:defRPr>
            </a:pPr>
            <a:r>
              <a:rPr sz="1050" b="0" i="0">
                <a:solidFill>
                  <a:srgbClr val="18232B"/>
                </a:solidFill>
              </a:rPr>
              <a:t>Share of hot cells</a:t>
            </a:r>
          </a:p>
          <a:p>
            <a:pPr algn="ctr">
              <a:buNone/>
              <a:defRPr sz="1050" b="0" i="0">
                <a:solidFill>
                  <a:srgbClr val="18232B"/>
                </a:solidFill>
              </a:defRPr>
            </a:pPr>
            <a:r>
              <a:rPr sz="1050" b="0" i="0">
                <a:solidFill>
                  <a:srgbClr val="18232B"/>
                </a:solidFill>
              </a:rPr>
              <a:t>Repeated-change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7510E8-1B81-408F-AB95-5B1167862C49}"/>
              </a:ext>
            </a:extLst>
          </p:cNvPr>
          <p:cNvSpPr>
            <a:spLocks noGrp="1"/>
          </p:cNvSpPr>
          <p:nvPr/>
        </p:nvSpPr>
        <p:spPr>
          <a:xfrm>
            <a:off x="7448550" y="276225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900" b="1" i="0">
                <a:solidFill>
                  <a:srgbClr val="147D70"/>
                </a:solidFill>
              </a:defRPr>
            </a:pPr>
            <a:r>
              <a:rPr sz="3900" b="1" i="0">
                <a:solidFill>
                  <a:srgbClr val="147D70"/>
                </a:solidFill>
              </a:rPr>
              <a:t>→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08BD84B-1A0E-4AD0-97EA-962F4EEFCBDA}"/>
              </a:ext>
            </a:extLst>
          </p:cNvPr>
          <p:cNvSpPr>
            <a:spLocks noGrp="1"/>
          </p:cNvSpPr>
          <p:nvPr/>
        </p:nvSpPr>
        <p:spPr>
          <a:xfrm>
            <a:off x="8667750" y="1885950"/>
            <a:ext cx="276225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4288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E331FB-879C-4FCD-908B-F2DB54615EA8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08065C"/>
                </a:solidFill>
              </a:defRPr>
            </a:pPr>
            <a:r>
              <a:rPr sz="1125" b="1" i="0">
                <a:solidFill>
                  <a:srgbClr val="08065C"/>
                </a:solidFill>
              </a:rPr>
              <a:t>THREE COMPLEMENTARY VIEWS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FF1D5D-71BD-4A24-B8BF-EF31138B389A}"/>
              </a:ext>
            </a:extLst>
          </p:cNvPr>
          <p:cNvSpPr>
            <a:spLocks noGrp="1"/>
          </p:cNvSpPr>
          <p:nvPr/>
        </p:nvSpPr>
        <p:spPr>
          <a:xfrm>
            <a:off x="8915400" y="26860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D48728"/>
                </a:solidFill>
              </a:defRPr>
            </a:pPr>
            <a:r>
              <a:rPr sz="1275" b="1" i="0">
                <a:solidFill>
                  <a:srgbClr val="D48728"/>
                </a:solidFill>
              </a:rPr>
              <a:t>AI embedding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AE881F-9FC9-4C9A-8685-58792FD9C2B6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34E8A"/>
                </a:solidFill>
              </a:defRPr>
            </a:pPr>
            <a:r>
              <a:rPr sz="1275" b="1" i="0">
                <a:solidFill>
                  <a:srgbClr val="234E8A"/>
                </a:solidFill>
              </a:rPr>
              <a:t>DEA Land Cover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67678D-353A-457D-BB79-ECD4AF2F795D}"/>
              </a:ext>
            </a:extLst>
          </p:cNvPr>
          <p:cNvSpPr>
            <a:spLocks noGrp="1"/>
          </p:cNvSpPr>
          <p:nvPr/>
        </p:nvSpPr>
        <p:spPr>
          <a:xfrm>
            <a:off x="8915400" y="36766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147D70"/>
                </a:solidFill>
              </a:defRPr>
            </a:pPr>
            <a:r>
              <a:rPr sz="1275" b="1" i="0">
                <a:solidFill>
                  <a:srgbClr val="147D70"/>
                </a:solidFill>
              </a:rPr>
              <a:t>NDVI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13E38A-7732-42B1-935B-88F662490949}"/>
              </a:ext>
            </a:extLst>
          </p:cNvPr>
          <p:cNvSpPr>
            <a:spLocks noGrp="1"/>
          </p:cNvSpPr>
          <p:nvPr/>
        </p:nvSpPr>
        <p:spPr>
          <a:xfrm>
            <a:off x="10096500" y="26860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200" b="0" i="0">
                <a:solidFill>
                  <a:srgbClr val="5E6B75"/>
                </a:solidFill>
              </a:defRPr>
            </a:pPr>
            <a:r>
              <a:rPr sz="1200" b="0" i="0">
                <a:solidFill>
                  <a:srgbClr val="5E6B75"/>
                </a:solidFill>
              </a:rPr>
              <a:t>where &amp; how strongly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F5FEC0-D2DD-41C9-B8C4-CBE72938128A}"/>
              </a:ext>
            </a:extLst>
          </p:cNvPr>
          <p:cNvSpPr>
            <a:spLocks noGrp="1"/>
          </p:cNvSpPr>
          <p:nvPr/>
        </p:nvSpPr>
        <p:spPr>
          <a:xfrm>
            <a:off x="10096500" y="31813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200" b="0" i="0">
                <a:solidFill>
                  <a:srgbClr val="5E6B75"/>
                </a:solidFill>
              </a:defRPr>
            </a:pPr>
            <a:r>
              <a:rPr sz="1200" b="0" i="0">
                <a:solidFill>
                  <a:srgbClr val="5E6B75"/>
                </a:solidFill>
              </a:rPr>
              <a:t>what broad class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4A98BB-07E1-4C00-810D-E7D13FD7A59B}"/>
              </a:ext>
            </a:extLst>
          </p:cNvPr>
          <p:cNvSpPr>
            <a:spLocks noGrp="1"/>
          </p:cNvSpPr>
          <p:nvPr/>
        </p:nvSpPr>
        <p:spPr>
          <a:xfrm>
            <a:off x="10096500" y="36766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200" b="0" i="0">
                <a:solidFill>
                  <a:srgbClr val="5E6B75"/>
                </a:solidFill>
              </a:defRPr>
            </a:pPr>
            <a:r>
              <a:rPr sz="1200" b="0" i="0">
                <a:solidFill>
                  <a:srgbClr val="5E6B75"/>
                </a:solidFill>
              </a:rPr>
              <a:t>greener or browner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9029AC-DDB6-49FE-8911-ECA804168629}"/>
              </a:ext>
            </a:extLst>
          </p:cNvPr>
          <p:cNvSpPr>
            <a:spLocks noGrp="1"/>
          </p:cNvSpPr>
          <p:nvPr/>
        </p:nvSpPr>
        <p:spPr>
          <a:xfrm>
            <a:off x="1733550" y="5219700"/>
            <a:ext cx="8724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 i="0">
                <a:solidFill>
                  <a:srgbClr val="08065C"/>
                </a:solidFill>
              </a:defRPr>
            </a:pPr>
            <a:r>
              <a:rPr sz="1725" b="1" i="0">
                <a:solidFill>
                  <a:srgbClr val="08065C"/>
                </a:solidFill>
              </a:rPr>
              <a:t>The original 10 m evidence is preserved. The 30 m layer provides a shared area for fair comparison with DEA and NDVI.</a:t>
            </a:r>
          </a:p>
        </p:txBody>
      </p:sp>
    </p:spTree>
    <p:extLst>
      <p:ext uri="{BB962C8B-B14F-4D97-AF65-F5344CB8AC3E}">
        <p14:creationId xmlns:p14="http://schemas.microsoft.com/office/powerpoint/2010/main" val="128229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05956FE-9B0A-487E-9613-9B96245C93F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147D70"/>
                </a:solidFill>
              </a:defRPr>
            </a:pPr>
            <a:r>
              <a:rPr sz="975" b="1" i="0">
                <a:solidFill>
                  <a:srgbClr val="147D70"/>
                </a:solidFill>
              </a:rPr>
              <a:t>METHOD · PREPARE THE MAP</a:t>
            </a:r>
          </a:p>
        </p:txBody>
      </p:sp>
      <p:sp>
        <p:nvSpPr>
          <p:cNvPr id="2" name="slide-17-title">
            <a:extLst>
              <a:ext uri="{FF2B5EF4-FFF2-40B4-BE49-F238E27FC236}">
                <a16:creationId xmlns:a16="http://schemas.microsoft.com/office/drawing/2014/main" id="{FBEF7332-BC20-49E4-8432-0B7451B06FF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 i="0">
                <a:solidFill>
                  <a:srgbClr val="08065C"/>
                </a:solidFill>
              </a:defRPr>
            </a:pPr>
            <a:r>
              <a:rPr sz="2925" b="1" i="0">
                <a:solidFill>
                  <a:srgbClr val="08065C"/>
                </a:solidFill>
              </a:rPr>
              <a:t>Touching changed cells become one practical map region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0022475-F56D-4B02-B03D-2AD7F02A19F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E807C-2F8F-4E4F-9F65-2FF9E3DBC75C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1" i="0">
                <a:solidFill>
                  <a:srgbClr val="5E6B75"/>
                </a:solidFill>
              </a:defRPr>
            </a:pPr>
            <a:r>
              <a:rPr sz="900" b="1" i="0">
                <a:solidFill>
                  <a:srgbClr val="5E6B75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DF2D9-A25C-47A7-9769-E4805C57575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 i="0">
                <a:solidFill>
                  <a:srgbClr val="D48728"/>
                </a:solidFill>
              </a:defRPr>
            </a:pPr>
            <a:r>
              <a:rPr sz="1575" b="1" i="0">
                <a:solidFill>
                  <a:srgbClr val="D48728"/>
                </a:solidFill>
              </a:rPr>
              <a:t>Neighbouring 30 m change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73E614-C16A-489E-8B0A-1C5204DC07B8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B3507-6464-423E-9188-39BDCDB9E5EB}"/>
              </a:ext>
            </a:extLst>
          </p:cNvPr>
          <p:cNvSpPr>
            <a:spLocks noGrp="1"/>
          </p:cNvSpPr>
          <p:nvPr/>
        </p:nvSpPr>
        <p:spPr>
          <a:xfrm>
            <a:off x="1066800" y="19621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753758-4823-45D9-91AD-EE55125F3059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9040AE-8A73-4CE5-A078-25A8D463E672}"/>
              </a:ext>
            </a:extLst>
          </p:cNvPr>
          <p:cNvSpPr>
            <a:spLocks noGrp="1"/>
          </p:cNvSpPr>
          <p:nvPr/>
        </p:nvSpPr>
        <p:spPr>
          <a:xfrm>
            <a:off x="1790700" y="196215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2C8F50-CD3E-4FA6-A7CA-7FB9B92CF261}"/>
              </a:ext>
            </a:extLst>
          </p:cNvPr>
          <p:cNvSpPr>
            <a:spLocks noGrp="1"/>
          </p:cNvSpPr>
          <p:nvPr/>
        </p:nvSpPr>
        <p:spPr>
          <a:xfrm>
            <a:off x="2152650" y="19621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2A425F-1F1E-479E-BAFC-3F1221856114}"/>
              </a:ext>
            </a:extLst>
          </p:cNvPr>
          <p:cNvSpPr>
            <a:spLocks noGrp="1"/>
          </p:cNvSpPr>
          <p:nvPr/>
        </p:nvSpPr>
        <p:spPr>
          <a:xfrm>
            <a:off x="2514600" y="19621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1C3C0B-C789-4283-AFB7-9E1E3825A688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3263DA-CC7F-4616-A657-E5BBEF74D93C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70A454-89BD-4786-9292-280D8E809BCA}"/>
              </a:ext>
            </a:extLst>
          </p:cNvPr>
          <p:cNvSpPr>
            <a:spLocks noGrp="1"/>
          </p:cNvSpPr>
          <p:nvPr/>
        </p:nvSpPr>
        <p:spPr>
          <a:xfrm>
            <a:off x="1428750" y="232410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73E4D4-C15A-4D53-AF46-880B761CBFCC}"/>
              </a:ext>
            </a:extLst>
          </p:cNvPr>
          <p:cNvSpPr>
            <a:spLocks noGrp="1"/>
          </p:cNvSpPr>
          <p:nvPr/>
        </p:nvSpPr>
        <p:spPr>
          <a:xfrm>
            <a:off x="1790700" y="232410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355008-3803-4720-9568-BF937A4569A0}"/>
              </a:ext>
            </a:extLst>
          </p:cNvPr>
          <p:cNvSpPr>
            <a:spLocks noGrp="1"/>
          </p:cNvSpPr>
          <p:nvPr/>
        </p:nvSpPr>
        <p:spPr>
          <a:xfrm>
            <a:off x="2152650" y="232410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7074A6-A5EA-498D-93B2-F81927211670}"/>
              </a:ext>
            </a:extLst>
          </p:cNvPr>
          <p:cNvSpPr>
            <a:spLocks noGrp="1"/>
          </p:cNvSpPr>
          <p:nvPr/>
        </p:nvSpPr>
        <p:spPr>
          <a:xfrm>
            <a:off x="2514600" y="232410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2C1702-A833-4913-B4DF-0970D7DD76B0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67594A-CC9F-408F-A5B4-CB1D45746E02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CB7B85-4AA6-4D6B-B4D6-6180E9D69D90}"/>
              </a:ext>
            </a:extLst>
          </p:cNvPr>
          <p:cNvSpPr>
            <a:spLocks noGrp="1"/>
          </p:cNvSpPr>
          <p:nvPr/>
        </p:nvSpPr>
        <p:spPr>
          <a:xfrm>
            <a:off x="1428750" y="268605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373CAE-DD72-4650-9CAA-65AC4202374D}"/>
              </a:ext>
            </a:extLst>
          </p:cNvPr>
          <p:cNvSpPr>
            <a:spLocks noGrp="1"/>
          </p:cNvSpPr>
          <p:nvPr/>
        </p:nvSpPr>
        <p:spPr>
          <a:xfrm>
            <a:off x="1790700" y="26860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F9602C-4EA0-4430-8D65-1E9E748110A6}"/>
              </a:ext>
            </a:extLst>
          </p:cNvPr>
          <p:cNvSpPr>
            <a:spLocks noGrp="1"/>
          </p:cNvSpPr>
          <p:nvPr/>
        </p:nvSpPr>
        <p:spPr>
          <a:xfrm>
            <a:off x="2152650" y="26860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47FC93-A4CF-4E6A-BBE1-622B572C679D}"/>
              </a:ext>
            </a:extLst>
          </p:cNvPr>
          <p:cNvSpPr>
            <a:spLocks noGrp="1"/>
          </p:cNvSpPr>
          <p:nvPr/>
        </p:nvSpPr>
        <p:spPr>
          <a:xfrm>
            <a:off x="2514600" y="268605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16D64B-8444-4091-A5B5-453687FFA557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2F472E-A153-4FE3-A695-A78497B35C36}"/>
              </a:ext>
            </a:extLst>
          </p:cNvPr>
          <p:cNvSpPr>
            <a:spLocks noGrp="1"/>
          </p:cNvSpPr>
          <p:nvPr/>
        </p:nvSpPr>
        <p:spPr>
          <a:xfrm>
            <a:off x="1066800" y="304800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9CDF62-1E0E-46A3-B2BB-01D1618233C2}"/>
              </a:ext>
            </a:extLst>
          </p:cNvPr>
          <p:cNvSpPr>
            <a:spLocks noGrp="1"/>
          </p:cNvSpPr>
          <p:nvPr/>
        </p:nvSpPr>
        <p:spPr>
          <a:xfrm>
            <a:off x="1428750" y="304800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E88AC0-0DE9-4DCB-8F1D-087BB1AC85B6}"/>
              </a:ext>
            </a:extLst>
          </p:cNvPr>
          <p:cNvSpPr>
            <a:spLocks noGrp="1"/>
          </p:cNvSpPr>
          <p:nvPr/>
        </p:nvSpPr>
        <p:spPr>
          <a:xfrm>
            <a:off x="1790700" y="304800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A0298D-3DAE-4C9D-BE2A-DC4BB633A9A1}"/>
              </a:ext>
            </a:extLst>
          </p:cNvPr>
          <p:cNvSpPr>
            <a:spLocks noGrp="1"/>
          </p:cNvSpPr>
          <p:nvPr/>
        </p:nvSpPr>
        <p:spPr>
          <a:xfrm>
            <a:off x="2152650" y="304800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E7F8A-E385-4EDF-AD62-9C332EBEFDE4}"/>
              </a:ext>
            </a:extLst>
          </p:cNvPr>
          <p:cNvSpPr>
            <a:spLocks noGrp="1"/>
          </p:cNvSpPr>
          <p:nvPr/>
        </p:nvSpPr>
        <p:spPr>
          <a:xfrm>
            <a:off x="2514600" y="304800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E614F2-2F87-4168-B6E2-B4C896164FBD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333375" cy="333375"/>
          </a:xfrm>
          <a:prstGeom prst="rect">
            <a:avLst/>
          </a:prstGeom>
          <a:solidFill>
            <a:srgbClr val="234E8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CD1230-98B2-41F9-88B6-FB521852D546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333375" cy="333375"/>
          </a:xfrm>
          <a:prstGeom prst="rect">
            <a:avLst/>
          </a:prstGeom>
          <a:solidFill>
            <a:srgbClr val="234E8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6002D9-A126-4884-B9ED-18C9E4894296}"/>
              </a:ext>
            </a:extLst>
          </p:cNvPr>
          <p:cNvSpPr>
            <a:spLocks noGrp="1"/>
          </p:cNvSpPr>
          <p:nvPr/>
        </p:nvSpPr>
        <p:spPr>
          <a:xfrm>
            <a:off x="1428750" y="34099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F6D9C7-8B32-437E-B4AA-8BE8878C57CA}"/>
              </a:ext>
            </a:extLst>
          </p:cNvPr>
          <p:cNvSpPr>
            <a:spLocks noGrp="1"/>
          </p:cNvSpPr>
          <p:nvPr/>
        </p:nvSpPr>
        <p:spPr>
          <a:xfrm>
            <a:off x="1790700" y="34099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C24DBE-2035-4E29-827D-F48B9D5CD0E4}"/>
              </a:ext>
            </a:extLst>
          </p:cNvPr>
          <p:cNvSpPr>
            <a:spLocks noGrp="1"/>
          </p:cNvSpPr>
          <p:nvPr/>
        </p:nvSpPr>
        <p:spPr>
          <a:xfrm>
            <a:off x="2152650" y="3409950"/>
            <a:ext cx="333375" cy="333375"/>
          </a:xfrm>
          <a:prstGeom prst="rect">
            <a:avLst/>
          </a:prstGeom>
          <a:solidFill>
            <a:srgbClr val="AD3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9E1961-AC5A-464D-9C54-DFF2FE2B3965}"/>
              </a:ext>
            </a:extLst>
          </p:cNvPr>
          <p:cNvSpPr>
            <a:spLocks noGrp="1"/>
          </p:cNvSpPr>
          <p:nvPr/>
        </p:nvSpPr>
        <p:spPr>
          <a:xfrm>
            <a:off x="2514600" y="3409950"/>
            <a:ext cx="333375" cy="333375"/>
          </a:xfrm>
          <a:prstGeom prst="rect">
            <a:avLst/>
          </a:prstGeom>
          <a:solidFill>
            <a:srgbClr val="EEF2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77FB7D-BA26-4FDF-B102-EC9D3830B469}"/>
              </a:ext>
            </a:extLst>
          </p:cNvPr>
          <p:cNvSpPr>
            <a:spLocks noGrp="1"/>
          </p:cNvSpPr>
          <p:nvPr/>
        </p:nvSpPr>
        <p:spPr>
          <a:xfrm>
            <a:off x="704850" y="4038600"/>
            <a:ext cx="2143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AD354A"/>
                </a:solidFill>
              </a:defRPr>
            </a:pPr>
            <a:r>
              <a:rPr sz="1200" b="0" i="0">
                <a:solidFill>
                  <a:srgbClr val="AD354A"/>
                </a:solidFill>
              </a:rPr>
              <a:t>cells that touch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A1AF89-9605-45CD-961A-4FC8EE148B6B}"/>
              </a:ext>
            </a:extLst>
          </p:cNvPr>
          <p:cNvSpPr>
            <a:spLocks noGrp="1"/>
          </p:cNvSpPr>
          <p:nvPr/>
        </p:nvSpPr>
        <p:spPr>
          <a:xfrm>
            <a:off x="3390900" y="2647950"/>
            <a:ext cx="76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600" b="1" i="0">
                <a:solidFill>
                  <a:srgbClr val="147D70"/>
                </a:solidFill>
              </a:defRPr>
            </a:pPr>
            <a:r>
              <a:rPr sz="3600" b="1" i="0">
                <a:solidFill>
                  <a:srgbClr val="147D70"/>
                </a:solidFill>
              </a:rPr>
              <a:t>→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AE8789D-644D-4BC6-A3D4-8BC69E82C465}"/>
              </a:ext>
            </a:extLst>
          </p:cNvPr>
          <p:cNvSpPr>
            <a:spLocks noGrp="1"/>
          </p:cNvSpPr>
          <p:nvPr/>
        </p:nvSpPr>
        <p:spPr>
          <a:xfrm>
            <a:off x="4476750" y="1866900"/>
            <a:ext cx="2857500" cy="2476500"/>
          </a:xfrm>
          <a:prstGeom prst="roundRect">
            <a:avLst>
              <a:gd name="adj" fmla="val 6154"/>
            </a:avLst>
          </a:prstGeom>
          <a:solidFill>
            <a:srgbClr val="F5E3E7"/>
          </a:solidFill>
          <a:ln w="28575">
            <a:solidFill>
              <a:srgbClr val="AD35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BCCAC2-1502-43ED-915B-8CFEB474CC6D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 i="0">
                <a:solidFill>
                  <a:srgbClr val="AD354A"/>
                </a:solidFill>
              </a:defRPr>
            </a:pPr>
            <a:r>
              <a:rPr sz="1200" b="1" i="0">
                <a:solidFill>
                  <a:srgbClr val="AD354A"/>
                </a:solidFill>
              </a:rPr>
              <a:t>ONE REGION TO INVESTIGATE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90ACD3-28ED-469E-99D1-CF6E432DEA1C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 i="0">
                <a:solidFill>
                  <a:srgbClr val="08065C"/>
                </a:solidFill>
              </a:defRPr>
            </a:pPr>
            <a:r>
              <a:rPr sz="2100" b="1" i="0">
                <a:solidFill>
                  <a:srgbClr val="08065C"/>
                </a:solidFill>
              </a:rPr>
              <a:t>One connected boundary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289598-B5A3-4D7D-9578-4E1EB5055A6C}"/>
              </a:ext>
            </a:extLst>
          </p:cNvPr>
          <p:cNvSpPr>
            <a:spLocks noGrp="1"/>
          </p:cNvSpPr>
          <p:nvPr/>
        </p:nvSpPr>
        <p:spPr>
          <a:xfrm>
            <a:off x="4876800" y="331470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Percentages preserve variation inside the region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FF0327E-5556-439E-87D1-CBCC16890145}"/>
              </a:ext>
            </a:extLst>
          </p:cNvPr>
          <p:cNvSpPr>
            <a:spLocks noGrp="1"/>
          </p:cNvSpPr>
          <p:nvPr/>
        </p:nvSpPr>
        <p:spPr>
          <a:xfrm>
            <a:off x="7677150" y="2647950"/>
            <a:ext cx="76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600" b="1" i="0">
                <a:solidFill>
                  <a:srgbClr val="147D70"/>
                </a:solidFill>
              </a:defRPr>
            </a:pPr>
            <a:r>
              <a:rPr sz="3600" b="1" i="0">
                <a:solidFill>
                  <a:srgbClr val="147D70"/>
                </a:solidFill>
              </a:rPr>
              <a:t>→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D471B34-B230-485F-ADF1-7B1500C60C6E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2724150" cy="28575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4288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F7219A-7D8F-4545-8769-C828BF016153}"/>
              </a:ext>
            </a:extLst>
          </p:cNvPr>
          <p:cNvSpPr>
            <a:spLocks noGrp="1"/>
          </p:cNvSpPr>
          <p:nvPr/>
        </p:nvSpPr>
        <p:spPr>
          <a:xfrm>
            <a:off x="9086850" y="19431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 i="0">
                <a:solidFill>
                  <a:srgbClr val="147D70"/>
                </a:solidFill>
              </a:defRPr>
            </a:pPr>
            <a:r>
              <a:rPr sz="1200" b="1" i="0">
                <a:solidFill>
                  <a:srgbClr val="147D70"/>
                </a:solidFill>
              </a:rPr>
              <a:t>WHAT A USER CAN INSPECT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0FCFFF-CEE1-4F9E-AB53-2D109B230D73}"/>
              </a:ext>
            </a:extLst>
          </p:cNvPr>
          <p:cNvSpPr>
            <a:spLocks noGrp="1"/>
          </p:cNvSpPr>
          <p:nvPr/>
        </p:nvSpPr>
        <p:spPr>
          <a:xfrm>
            <a:off x="9163050" y="2438400"/>
            <a:ext cx="211455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0" i="0">
                <a:solidFill>
                  <a:srgbClr val="18232B"/>
                </a:solidFill>
              </a:defRPr>
            </a:pPr>
            <a:r>
              <a:rPr sz="1425" b="0" i="0">
                <a:solidFill>
                  <a:srgbClr val="18232B"/>
                </a:solidFill>
              </a:rPr>
              <a:t>Location and area</a:t>
            </a:r>
          </a:p>
          <a:p>
            <a:pPr algn="ctr">
              <a:buNone/>
              <a:defRPr sz="1425" b="0" i="0">
                <a:solidFill>
                  <a:srgbClr val="18232B"/>
                </a:solidFill>
              </a:defRPr>
            </a:pPr>
            <a:r>
              <a:rPr sz="1425" b="0" i="0">
                <a:solidFill>
                  <a:srgbClr val="18232B"/>
                </a:solidFill>
              </a:rPr>
              <a:t>Strongest change period</a:t>
            </a:r>
          </a:p>
          <a:p>
            <a:pPr algn="ctr">
              <a:buNone/>
              <a:defRPr sz="1425" b="0" i="0">
                <a:solidFill>
                  <a:srgbClr val="18232B"/>
                </a:solidFill>
              </a:defRPr>
            </a:pPr>
            <a:r>
              <a:rPr sz="1425" b="0" i="0">
                <a:solidFill>
                  <a:srgbClr val="18232B"/>
                </a:solidFill>
              </a:rPr>
              <a:t>Annual AI history</a:t>
            </a:r>
          </a:p>
          <a:p>
            <a:pPr algn="ctr">
              <a:buNone/>
              <a:defRPr sz="1425" b="0" i="0">
                <a:solidFill>
                  <a:srgbClr val="18232B"/>
                </a:solidFill>
              </a:defRPr>
            </a:pPr>
            <a:r>
              <a:rPr sz="1425" b="0" i="0">
                <a:solidFill>
                  <a:srgbClr val="18232B"/>
                </a:solidFill>
              </a:rPr>
              <a:t>Land-cover history</a:t>
            </a:r>
          </a:p>
          <a:p>
            <a:pPr algn="ctr">
              <a:buNone/>
              <a:defRPr sz="1425" b="0" i="0">
                <a:solidFill>
                  <a:srgbClr val="18232B"/>
                </a:solidFill>
              </a:defRPr>
            </a:pPr>
            <a:r>
              <a:rPr sz="1425" b="0" i="0">
                <a:solidFill>
                  <a:srgbClr val="18232B"/>
                </a:solidFill>
              </a:rPr>
              <a:t>Vegetation history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75CB424-CD71-4EE4-9938-66D9DD589F06}"/>
              </a:ext>
            </a:extLst>
          </p:cNvPr>
          <p:cNvSpPr>
            <a:spLocks noGrp="1"/>
          </p:cNvSpPr>
          <p:nvPr/>
        </p:nvSpPr>
        <p:spPr>
          <a:xfrm>
            <a:off x="1714500" y="512445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 i="0">
                <a:solidFill>
                  <a:srgbClr val="08065C"/>
                </a:solidFill>
              </a:defRPr>
            </a:pPr>
            <a:r>
              <a:rPr sz="1650" b="1" i="0">
                <a:solidFill>
                  <a:srgbClr val="08065C"/>
                </a:solidFill>
              </a:rPr>
              <a:t>Grouping reduces map clutter without discarding the cell evidence. Cells are joined when they touch and share the same hot- or low-change state.</a:t>
            </a:r>
          </a:p>
        </p:txBody>
      </p:sp>
    </p:spTree>
    <p:extLst>
      <p:ext uri="{BB962C8B-B14F-4D97-AF65-F5344CB8AC3E}">
        <p14:creationId xmlns:p14="http://schemas.microsoft.com/office/powerpoint/2010/main" val="1407428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1870C17-BC3B-412E-A189-ECF6DF0733C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147D70"/>
                </a:solidFill>
              </a:defRPr>
            </a:pPr>
            <a:r>
              <a:rPr sz="975" b="1" i="0">
                <a:solidFill>
                  <a:srgbClr val="147D70"/>
                </a:solidFill>
              </a:rPr>
              <a:t>RESULT · WONTHAGGI CASE</a:t>
            </a:r>
          </a:p>
        </p:txBody>
      </p:sp>
      <p:sp>
        <p:nvSpPr>
          <p:cNvPr id="2" name="slide-18-title">
            <a:extLst>
              <a:ext uri="{FF2B5EF4-FFF2-40B4-BE49-F238E27FC236}">
                <a16:creationId xmlns:a16="http://schemas.microsoft.com/office/drawing/2014/main" id="{6FF5D00E-17D5-47CB-A49E-BE0C71E1CEE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 i="0">
                <a:solidFill>
                  <a:srgbClr val="08065C"/>
                </a:solidFill>
              </a:defRPr>
            </a:pPr>
            <a:r>
              <a:rPr sz="2925" b="1" i="0">
                <a:solidFill>
                  <a:srgbClr val="08065C"/>
                </a:solidFill>
              </a:rPr>
              <a:t>At Wonthaggi, independent evidence aligns with the AI signal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FA48E74-FF67-4411-919C-741C1E40B51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7085F5-05A1-4F13-9648-289057CA052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1" i="0">
                <a:solidFill>
                  <a:srgbClr val="5E6B75"/>
                </a:solidFill>
              </a:defRPr>
            </a:pPr>
            <a:r>
              <a:rPr sz="900" b="1" i="0">
                <a:solidFill>
                  <a:srgbClr val="5E6B75"/>
                </a:solidFill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BD52F2-ED91-4CA6-9473-6F3BDD7284EE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08065C"/>
                </a:solidFill>
              </a:defRPr>
            </a:pPr>
            <a:r>
              <a:rPr sz="1125" b="1" i="0">
                <a:solidFill>
                  <a:srgbClr val="08065C"/>
                </a:solidFill>
              </a:rPr>
              <a:t>9 Mar 2017 · Sentinel-2 (10 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C6C9C9-DBED-4B42-9A36-DDD0170AE377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286000" cy="2038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Picture 40"/>
          <p:cNvPicPr>
            <a:picLocks noChangeAspect="1"/>
          </p:cNvPicPr>
          <p:nvPr/>
        </p:nvPicPr>
        <p:blipFill>
          <a:blip r:embed="rId3"/>
          <a:srcRect t="5556" b="5556"/>
          <a:stretch>
            <a:fillRect/>
          </a:stretch>
        </p:blipFill>
        <p:spPr>
          <a:xfrm>
            <a:off x="638175" y="1762125"/>
            <a:ext cx="2228850" cy="1981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A3936E-31E9-4D42-AA23-322AEF5DF321}"/>
              </a:ext>
            </a:extLst>
          </p:cNvPr>
          <p:cNvSpPr>
            <a:spLocks noGrp="1"/>
          </p:cNvSpPr>
          <p:nvPr/>
        </p:nvSpPr>
        <p:spPr>
          <a:xfrm>
            <a:off x="3124200" y="14097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08065C"/>
                </a:solidFill>
              </a:defRPr>
            </a:pPr>
            <a:r>
              <a:rPr sz="1125" b="1" i="0">
                <a:solidFill>
                  <a:srgbClr val="08065C"/>
                </a:solidFill>
              </a:rPr>
              <a:t>3 Oct 2024 · Sentinel-2 (10 m)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409CEA-E6F9-44A9-B341-036A0BC98FD2}"/>
              </a:ext>
            </a:extLst>
          </p:cNvPr>
          <p:cNvSpPr>
            <a:spLocks noGrp="1"/>
          </p:cNvSpPr>
          <p:nvPr/>
        </p:nvSpPr>
        <p:spPr>
          <a:xfrm>
            <a:off x="3124200" y="1733550"/>
            <a:ext cx="2286000" cy="2038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Picture 43"/>
          <p:cNvPicPr>
            <a:picLocks noChangeAspect="1"/>
          </p:cNvPicPr>
          <p:nvPr/>
        </p:nvPicPr>
        <p:blipFill>
          <a:blip r:embed="rId4"/>
          <a:srcRect t="5556" b="5556"/>
          <a:stretch>
            <a:fillRect/>
          </a:stretch>
        </p:blipFill>
        <p:spPr>
          <a:xfrm>
            <a:off x="3152775" y="1762125"/>
            <a:ext cx="2228850" cy="1981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E43EE19-601B-4436-A024-E4E9E5BFC62F}"/>
              </a:ext>
            </a:extLst>
          </p:cNvPr>
          <p:cNvSpPr>
            <a:spLocks noGrp="1"/>
          </p:cNvSpPr>
          <p:nvPr/>
        </p:nvSpPr>
        <p:spPr>
          <a:xfrm>
            <a:off x="5638800" y="14097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08065C"/>
                </a:solidFill>
              </a:defRPr>
            </a:pPr>
            <a:r>
              <a:rPr sz="1125" b="1" i="0">
                <a:solidFill>
                  <a:srgbClr val="08065C"/>
                </a:solidFill>
              </a:rPr>
              <a:t>AI start-to-end change 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DB6620-16F9-4438-946E-78C5A419FE3D}"/>
              </a:ext>
            </a:extLst>
          </p:cNvPr>
          <p:cNvSpPr>
            <a:spLocks noGrp="1"/>
          </p:cNvSpPr>
          <p:nvPr/>
        </p:nvSpPr>
        <p:spPr>
          <a:xfrm>
            <a:off x="5638800" y="1733550"/>
            <a:ext cx="2286000" cy="2038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2" name="Picture 46"/>
          <p:cNvPicPr>
            <a:picLocks noChangeAspect="1"/>
          </p:cNvPicPr>
          <p:nvPr/>
        </p:nvPicPr>
        <p:blipFill>
          <a:blip r:embed="rId5"/>
          <a:srcRect t="5556" b="5556"/>
          <a:stretch>
            <a:fillRect/>
          </a:stretch>
        </p:blipFill>
        <p:spPr>
          <a:xfrm>
            <a:off x="5667375" y="1762125"/>
            <a:ext cx="2228850" cy="1981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38699D4-B5AB-43A0-A465-F36F6ED5D738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731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 i="1">
                <a:solidFill>
                  <a:srgbClr val="5E6B75"/>
                </a:solidFill>
              </a:defRPr>
            </a:pPr>
            <a:r>
              <a:rPr sz="825" b="0" i="1">
                <a:solidFill>
                  <a:srgbClr val="5E6B75"/>
                </a:solidFill>
              </a:rPr>
              <a:t>Same 640 m area; the white crosshair marks the same coordinate in both public Sentinel-2 scenes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3B0742-F6B7-4EC9-A0C6-DDEA230A51DC}"/>
              </a:ext>
            </a:extLst>
          </p:cNvPr>
          <p:cNvSpPr>
            <a:spLocks noGrp="1"/>
          </p:cNvSpPr>
          <p:nvPr/>
        </p:nvSpPr>
        <p:spPr>
          <a:xfrm>
            <a:off x="8172450" y="1409700"/>
            <a:ext cx="3371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 i="0">
                <a:solidFill>
                  <a:srgbClr val="08065C"/>
                </a:solidFill>
              </a:defRPr>
            </a:pPr>
            <a:r>
              <a:rPr sz="1200" b="1" i="0">
                <a:solidFill>
                  <a:srgbClr val="08065C"/>
                </a:solidFill>
              </a:rPr>
              <a:t>Annual AI change score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="8096250" y="1695450"/>
          <a:ext cx="34861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5E1E07D-938B-4019-AECD-79AA06F748AF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24765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DD1A61-7911-45C4-B2D2-65898BCEAE1D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66675" cy="1066800"/>
          </a:xfrm>
          <a:prstGeom prst="rect">
            <a:avLst/>
          </a:prstGeom>
          <a:solidFill>
            <a:srgbClr val="D4872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AE43B-F490-4BA7-977B-75C8A07CC395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 i="0">
                <a:solidFill>
                  <a:srgbClr val="D48728"/>
                </a:solidFill>
              </a:defRPr>
            </a:pPr>
            <a:r>
              <a:rPr sz="1875" b="1" i="0">
                <a:solidFill>
                  <a:srgbClr val="D48728"/>
                </a:solidFill>
              </a:rPr>
              <a:t>1.086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41D40C-E712-4C90-A25A-42753119BD08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 i="0">
                <a:solidFill>
                  <a:srgbClr val="5E6B75"/>
                </a:solidFill>
              </a:defRPr>
            </a:pPr>
            <a:r>
              <a:rPr sz="975" b="0" i="0">
                <a:solidFill>
                  <a:srgbClr val="5E6B75"/>
                </a:solidFill>
              </a:rPr>
              <a:t>2017–2024 AI distance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9867C88-BEAC-4CFF-BBF2-47A341E83AD4}"/>
              </a:ext>
            </a:extLst>
          </p:cNvPr>
          <p:cNvSpPr>
            <a:spLocks noGrp="1"/>
          </p:cNvSpPr>
          <p:nvPr/>
        </p:nvSpPr>
        <p:spPr>
          <a:xfrm>
            <a:off x="3352800" y="4343400"/>
            <a:ext cx="24765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14EA6-DF79-4898-8AD7-6EEAC79374EE}"/>
              </a:ext>
            </a:extLst>
          </p:cNvPr>
          <p:cNvSpPr>
            <a:spLocks noGrp="1"/>
          </p:cNvSpPr>
          <p:nvPr/>
        </p:nvSpPr>
        <p:spPr>
          <a:xfrm>
            <a:off x="3352800" y="4343400"/>
            <a:ext cx="66675" cy="1066800"/>
          </a:xfrm>
          <a:prstGeom prst="rect">
            <a:avLst/>
          </a:prstGeom>
          <a:solidFill>
            <a:srgbClr val="AD35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50C892-3F5E-4B6C-BCC2-EA4DCDF898AE}"/>
              </a:ext>
            </a:extLst>
          </p:cNvPr>
          <p:cNvSpPr>
            <a:spLocks noGrp="1"/>
          </p:cNvSpPr>
          <p:nvPr/>
        </p:nvSpPr>
        <p:spPr>
          <a:xfrm>
            <a:off x="3562350" y="45148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 i="0">
                <a:solidFill>
                  <a:srgbClr val="AD354A"/>
                </a:solidFill>
              </a:defRPr>
            </a:pPr>
            <a:r>
              <a:rPr sz="1875" b="1" i="0">
                <a:solidFill>
                  <a:srgbClr val="AD354A"/>
                </a:solidFill>
              </a:rPr>
              <a:t>2 of 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555B7E-CA50-4F49-9EFB-276EEAEA9ED2}"/>
              </a:ext>
            </a:extLst>
          </p:cNvPr>
          <p:cNvSpPr>
            <a:spLocks noGrp="1"/>
          </p:cNvSpPr>
          <p:nvPr/>
        </p:nvSpPr>
        <p:spPr>
          <a:xfrm>
            <a:off x="3562350" y="4933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 i="0">
                <a:solidFill>
                  <a:srgbClr val="5E6B75"/>
                </a:solidFill>
              </a:defRPr>
            </a:pPr>
            <a:r>
              <a:rPr sz="975" b="0" i="0">
                <a:solidFill>
                  <a:srgbClr val="5E6B75"/>
                </a:solidFill>
              </a:rPr>
              <a:t>strong-change periods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3CDD6D-2038-429F-B953-C7944AE8D133}"/>
              </a:ext>
            </a:extLst>
          </p:cNvPr>
          <p:cNvSpPr>
            <a:spLocks noGrp="1"/>
          </p:cNvSpPr>
          <p:nvPr/>
        </p:nvSpPr>
        <p:spPr>
          <a:xfrm>
            <a:off x="6096000" y="4343400"/>
            <a:ext cx="24765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F537C3-EDAD-4B3B-97BE-3A765C75B496}"/>
              </a:ext>
            </a:extLst>
          </p:cNvPr>
          <p:cNvSpPr>
            <a:spLocks noGrp="1"/>
          </p:cNvSpPr>
          <p:nvPr/>
        </p:nvSpPr>
        <p:spPr>
          <a:xfrm>
            <a:off x="6096000" y="4343400"/>
            <a:ext cx="66675" cy="1066800"/>
          </a:xfrm>
          <a:prstGeom prst="rect">
            <a:avLst/>
          </a:prstGeom>
          <a:solidFill>
            <a:srgbClr val="234E8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4D085E-8A32-44DC-83F3-876760B2033A}"/>
              </a:ext>
            </a:extLst>
          </p:cNvPr>
          <p:cNvSpPr>
            <a:spLocks noGrp="1"/>
          </p:cNvSpPr>
          <p:nvPr/>
        </p:nvSpPr>
        <p:spPr>
          <a:xfrm>
            <a:off x="6305550" y="45148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 i="0">
                <a:solidFill>
                  <a:srgbClr val="234E8A"/>
                </a:solidFill>
              </a:defRPr>
            </a:pPr>
            <a:r>
              <a:rPr sz="1500" b="1" i="0">
                <a:solidFill>
                  <a:srgbClr val="234E8A"/>
                </a:solidFill>
              </a:rPr>
              <a:t>Natural → Artificial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3AEFE3-6EE6-445C-BB35-C75172145B3A}"/>
              </a:ext>
            </a:extLst>
          </p:cNvPr>
          <p:cNvSpPr>
            <a:spLocks noGrp="1"/>
          </p:cNvSpPr>
          <p:nvPr/>
        </p:nvSpPr>
        <p:spPr>
          <a:xfrm>
            <a:off x="6305550" y="4933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 i="0">
                <a:solidFill>
                  <a:srgbClr val="5E6B75"/>
                </a:solidFill>
              </a:defRPr>
            </a:pPr>
            <a:r>
              <a:rPr sz="975" b="0" i="0">
                <a:solidFill>
                  <a:srgbClr val="5E6B75"/>
                </a:solidFill>
              </a:rPr>
              <a:t>DEA broad class by 2019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262C8CE-A211-4BC9-998C-131179000640}"/>
              </a:ext>
            </a:extLst>
          </p:cNvPr>
          <p:cNvSpPr>
            <a:spLocks noGrp="1"/>
          </p:cNvSpPr>
          <p:nvPr/>
        </p:nvSpPr>
        <p:spPr>
          <a:xfrm>
            <a:off x="8839200" y="4343400"/>
            <a:ext cx="24765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9E9828-040A-45F6-84F5-3D0C941B8744}"/>
              </a:ext>
            </a:extLst>
          </p:cNvPr>
          <p:cNvSpPr>
            <a:spLocks noGrp="1"/>
          </p:cNvSpPr>
          <p:nvPr/>
        </p:nvSpPr>
        <p:spPr>
          <a:xfrm>
            <a:off x="8839200" y="4343400"/>
            <a:ext cx="66675" cy="1066800"/>
          </a:xfrm>
          <a:prstGeom prst="rect">
            <a:avLst/>
          </a:prstGeom>
          <a:solidFill>
            <a:srgbClr val="147D7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D1920A-CA4F-40D7-9DD9-509811634CB1}"/>
              </a:ext>
            </a:extLst>
          </p:cNvPr>
          <p:cNvSpPr>
            <a:spLocks noGrp="1"/>
          </p:cNvSpPr>
          <p:nvPr/>
        </p:nvSpPr>
        <p:spPr>
          <a:xfrm>
            <a:off x="9048750" y="45148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 i="0">
                <a:solidFill>
                  <a:srgbClr val="147D70"/>
                </a:solidFill>
              </a:defRPr>
            </a:pPr>
            <a:r>
              <a:rPr sz="1875" b="1" i="0">
                <a:solidFill>
                  <a:srgbClr val="147D70"/>
                </a:solidFill>
              </a:rPr>
              <a:t>0.637 → 0.184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40F348-BFDD-4ADA-B387-A260BC229580}"/>
              </a:ext>
            </a:extLst>
          </p:cNvPr>
          <p:cNvSpPr>
            <a:spLocks noGrp="1"/>
          </p:cNvSpPr>
          <p:nvPr/>
        </p:nvSpPr>
        <p:spPr>
          <a:xfrm>
            <a:off x="9048750" y="4933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 i="0">
                <a:solidFill>
                  <a:srgbClr val="5E6B75"/>
                </a:solidFill>
              </a:defRPr>
            </a:pPr>
            <a:r>
              <a:rPr sz="975" b="0" i="0">
                <a:solidFill>
                  <a:srgbClr val="5E6B75"/>
                </a:solidFill>
              </a:rPr>
              <a:t>annual NDVI, 2017 to 2024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715F9C-405A-49F1-A1E7-5F8FDC6C5B61}"/>
              </a:ext>
            </a:extLst>
          </p:cNvPr>
          <p:cNvSpPr>
            <a:spLocks noGrp="1"/>
          </p:cNvSpPr>
          <p:nvPr/>
        </p:nvSpPr>
        <p:spPr>
          <a:xfrm>
            <a:off x="1104900" y="5619750"/>
            <a:ext cx="998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 i="0">
                <a:solidFill>
                  <a:srgbClr val="08065C"/>
                </a:solidFill>
              </a:defRPr>
            </a:pPr>
            <a:r>
              <a:rPr sz="1350" b="1" i="0">
                <a:solidFill>
                  <a:srgbClr val="08065C"/>
                </a:solidFill>
              </a:rPr>
              <a:t>Visible construction, a Natural → Artificial transition and vegetation decline align with the AI hotspot at this location.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E7BE2E-FCF8-4B25-BC39-5571B30019F5}"/>
              </a:ext>
            </a:extLst>
          </p:cNvPr>
          <p:cNvSpPr>
            <a:spLocks noGrp="1"/>
          </p:cNvSpPr>
          <p:nvPr/>
        </p:nvSpPr>
        <p:spPr>
          <a:xfrm>
            <a:off x="1104900" y="6096000"/>
            <a:ext cx="9982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750" b="0" i="1">
                <a:solidFill>
                  <a:srgbClr val="5E6B75"/>
                </a:solidFill>
              </a:defRPr>
            </a:pPr>
            <a:r>
              <a:rPr sz="750" b="0" i="1">
                <a:solidFill>
                  <a:srgbClr val="5E6B75"/>
                </a:solidFill>
              </a:rPr>
              <a:t>Near McKenzie Street, Wonthaggi. One case shows evidence coherence, not system-wide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172149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803CAB-BCFF-4BF4-9130-20D6567434D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 i="0">
                <a:solidFill>
                  <a:srgbClr val="147D70"/>
                </a:solidFill>
              </a:defRPr>
            </a:pPr>
            <a:r>
              <a:rPr sz="975" b="1" i="0">
                <a:solidFill>
                  <a:srgbClr val="147D70"/>
                </a:solidFill>
              </a:rPr>
              <a:t>CURRENT PROGRESS</a:t>
            </a:r>
          </a:p>
        </p:txBody>
      </p:sp>
      <p:sp>
        <p:nvSpPr>
          <p:cNvPr id="2" name="slide-26-title">
            <a:extLst>
              <a:ext uri="{FF2B5EF4-FFF2-40B4-BE49-F238E27FC236}">
                <a16:creationId xmlns:a16="http://schemas.microsoft.com/office/drawing/2014/main" id="{624E15B5-FAC1-4F75-99CF-D1B8C8F785C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 i="0">
                <a:solidFill>
                  <a:srgbClr val="08065C"/>
                </a:solidFill>
              </a:defRPr>
            </a:pPr>
            <a:r>
              <a:rPr sz="2925" b="1" i="0">
                <a:solidFill>
                  <a:srgbClr val="08065C"/>
                </a:solidFill>
              </a:rPr>
              <a:t>The Bass Coast prototype makes the evidence explorable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8984C42-5BB2-4269-B992-CFE7778312F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D4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EE53CC-49E0-4508-BBB3-11BB525D0E8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1" i="0">
                <a:solidFill>
                  <a:srgbClr val="5E6B75"/>
                </a:solidFill>
              </a:defRPr>
            </a:pPr>
            <a:r>
              <a:rPr sz="900" b="1" i="0">
                <a:solidFill>
                  <a:srgbClr val="5E6B75"/>
                </a:solidFill>
              </a:rPr>
              <a:t>07</a:t>
            </a:r>
          </a:p>
        </p:txBody>
      </p:sp>
      <p:pic>
        <p:nvPicPr>
          <p:cNvPr id="17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15500" y="1680311"/>
            <a:ext cx="2000250" cy="2000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2488FC-8F78-4B31-B3E4-669398D9C0F9}"/>
              </a:ext>
            </a:extLst>
          </p:cNvPr>
          <p:cNvSpPr>
            <a:spLocks noGrp="1"/>
          </p:cNvSpPr>
          <p:nvPr/>
        </p:nvSpPr>
        <p:spPr>
          <a:xfrm>
            <a:off x="9582150" y="3830311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 i="0">
                <a:solidFill>
                  <a:srgbClr val="147D70"/>
                </a:solidFill>
              </a:defRPr>
            </a:pPr>
            <a:r>
              <a:rPr sz="1050" b="1" i="0">
                <a:solidFill>
                  <a:srgbClr val="147D70"/>
                </a:solidFill>
              </a:rPr>
              <a:t>SCAN TO OPEN THE LIVE 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1F2BF-BB82-4FAF-B1DA-BDB232BED98C}"/>
              </a:ext>
            </a:extLst>
          </p:cNvPr>
          <p:cNvSpPr>
            <a:spLocks noGrp="1"/>
          </p:cNvSpPr>
          <p:nvPr/>
        </p:nvSpPr>
        <p:spPr>
          <a:xfrm>
            <a:off x="9515475" y="4343400"/>
            <a:ext cx="25336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Search a place or region</a:t>
            </a:r>
          </a:p>
          <a:p>
            <a:pPr algn="ctr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Filter change and low-change areas</a:t>
            </a:r>
          </a:p>
          <a:p>
            <a:pPr algn="ctr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Move through annual periods</a:t>
            </a:r>
          </a:p>
          <a:p>
            <a:pPr algn="ctr">
              <a:buNone/>
              <a:defRPr sz="1350" b="0" i="0">
                <a:solidFill>
                  <a:srgbClr val="18232B"/>
                </a:solidFill>
              </a:defRPr>
            </a:pPr>
            <a:r>
              <a:rPr sz="1350" b="0" i="0">
                <a:solidFill>
                  <a:srgbClr val="18232B"/>
                </a:solidFill>
              </a:rPr>
              <a:t>Inspect AI, land cover and NDVI together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F4498D-0601-4EE8-9861-7042FDD925CD}"/>
              </a:ext>
            </a:extLst>
          </p:cNvPr>
          <p:cNvSpPr>
            <a:spLocks noGrp="1"/>
          </p:cNvSpPr>
          <p:nvPr/>
        </p:nvSpPr>
        <p:spPr>
          <a:xfrm>
            <a:off x="9448800" y="5638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0" i="0">
                <a:solidFill>
                  <a:srgbClr val="234E8A"/>
                </a:solidFill>
              </a:defRPr>
            </a:pPr>
            <a:r>
              <a:rPr sz="900" b="0" i="0">
                <a:solidFill>
                  <a:srgbClr val="234E8A"/>
                </a:solidFill>
              </a:rPr>
              <a:t>thieulong.github.io/SatelliteEmbeddingV1-SpatialAnalysis/</a:t>
            </a:r>
          </a:p>
        </p:txBody>
      </p:sp>
      <p:pic>
        <p:nvPicPr>
          <p:cNvPr id="21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70" y="1541346"/>
            <a:ext cx="9195030" cy="455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774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2031</Words>
  <Application>Microsoft Macintosh PowerPoint</Application>
  <DocSecurity>0</DocSecurity>
  <PresentationFormat>Widescreen</PresentationFormat>
  <Paragraphs>187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Paul Phan</cp:lastModifiedBy>
  <cp:revision>1</cp:revision>
  <dcterms:created xsi:type="dcterms:W3CDTF">2026-08-12T17:48:32Z</dcterms:created>
  <dcterms:modified xsi:type="dcterms:W3CDTF">2026-08-13T10:51:42Z</dcterms:modified>
</cp:coreProperties>
</file>